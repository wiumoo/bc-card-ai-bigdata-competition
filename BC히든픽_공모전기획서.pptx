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0030d6df474d61" /><Relationship Type="http://schemas.openxmlformats.org/officeDocument/2006/relationships/extended-properties" Target="/docProps/app.xml" Id="R0089096a7fcd47e4" /><Relationship Type="http://schemas.openxmlformats.org/officeDocument/2006/relationships/officeDocument" Target="/ppt/presentation.xml" Id="R25946473ad684852" /></Relationships>
</file>

<file path=ppt/presentation.xml><?xml version="1.0" encoding="utf-8"?>
<p:presentation xmlns:p="http://schemas.openxmlformats.org/presentationml/2006/main">
  <p:sldMasterIdLst>
    <p:sldMasterId xmlns:r="http://schemas.openxmlformats.org/officeDocument/2006/relationships" id="2147483648" r:id="Redc00872f24a46c3"/>
  </p:sldMasterIdLst>
  <p:notesMasterIdLst>
    <p:notesMasterId xmlns:r="http://schemas.openxmlformats.org/officeDocument/2006/relationships" r:id="Rb801408ac35d43c1"/>
  </p:notesMasterIdLst>
  <p:sldIdLst>
    <p:sldId xmlns:r="http://schemas.openxmlformats.org/officeDocument/2006/relationships" id="256" r:id="R9bdda522dd114cc5"/>
    <p:sldId xmlns:r="http://schemas.openxmlformats.org/officeDocument/2006/relationships" id="257" r:id="R91deae281ebf4773"/>
    <p:sldId xmlns:r="http://schemas.openxmlformats.org/officeDocument/2006/relationships" id="258" r:id="Rb5f2af83b29446e6"/>
    <p:sldId xmlns:r="http://schemas.openxmlformats.org/officeDocument/2006/relationships" id="259" r:id="R5924459cea86494c"/>
    <p:sldId xmlns:r="http://schemas.openxmlformats.org/officeDocument/2006/relationships" id="260" r:id="R80bbf6d5f49b45f6"/>
    <p:sldId xmlns:r="http://schemas.openxmlformats.org/officeDocument/2006/relationships" id="261" r:id="Rcdb79630500f4456"/>
    <p:sldId xmlns:r="http://schemas.openxmlformats.org/officeDocument/2006/relationships" id="262" r:id="R4f123641245d487e"/>
    <p:sldId xmlns:r="http://schemas.openxmlformats.org/officeDocument/2006/relationships" id="263" r:id="R8446ed8fddcc4e1d"/>
    <p:sldId xmlns:r="http://schemas.openxmlformats.org/officeDocument/2006/relationships" id="264" r:id="Rd4e0d6f7e6f04ed0"/>
    <p:sldId xmlns:r="http://schemas.openxmlformats.org/officeDocument/2006/relationships" id="265" r:id="R0c3bb55c91c74d8e"/>
    <p:sldId xmlns:r="http://schemas.openxmlformats.org/officeDocument/2006/relationships" id="266" r:id="R820cc2948c404dfa"/>
    <p:sldId xmlns:r="http://schemas.openxmlformats.org/officeDocument/2006/relationships" id="267" r:id="R3231e96fcc6842a6"/>
    <p:sldId xmlns:r="http://schemas.openxmlformats.org/officeDocument/2006/relationships" id="268" r:id="Ref08824accbd4aad"/>
    <p:sldId xmlns:r="http://schemas.openxmlformats.org/officeDocument/2006/relationships" id="269" r:id="Rfc9e86416cf648d9"/>
    <p:sldId xmlns:r="http://schemas.openxmlformats.org/officeDocument/2006/relationships" id="270" r:id="R0da1aee2f17a4ffa"/>
    <p:sldId xmlns:r="http://schemas.openxmlformats.org/officeDocument/2006/relationships" id="271" r:id="R0e35caa338f846c6"/>
    <p:sldId xmlns:r="http://schemas.openxmlformats.org/officeDocument/2006/relationships" id="272" r:id="R6e78fcdaad724777"/>
    <p:sldId xmlns:r="http://schemas.openxmlformats.org/officeDocument/2006/relationships" id="273" r:id="R8dd7d2a178764adc"/>
    <p:sldId xmlns:r="http://schemas.openxmlformats.org/officeDocument/2006/relationships" id="274" r:id="Rf8953a49f28741ca"/>
    <p:sldId xmlns:r="http://schemas.openxmlformats.org/officeDocument/2006/relationships" id="275" r:id="Reee708a473eb45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5cc96c18154a77" /><Relationship Type="http://schemas.openxmlformats.org/officeDocument/2006/relationships/slideMaster" Target="/ppt/slideMasters/slideMaster1.xml" Id="Redc00872f24a46c3" /><Relationship Type="http://schemas.openxmlformats.org/officeDocument/2006/relationships/notesMaster" Target="/ppt/notesMasters/notesMaster1.xml" Id="Rb801408ac35d43c1" /><Relationship Type="http://schemas.openxmlformats.org/officeDocument/2006/relationships/presProps" Target="/ppt/presProps.xml" Id="R01e33beeae764ec0" /><Relationship Type="http://schemas.openxmlformats.org/officeDocument/2006/relationships/tableStyles" Target="/ppt/tableStyles.xml" Id="R6264f49c1f6a4f23" /><Relationship Type="http://schemas.openxmlformats.org/officeDocument/2006/relationships/slide" Target="/ppt/slides/slide1.xml" Id="R9bdda522dd114cc5" /><Relationship Type="http://schemas.openxmlformats.org/officeDocument/2006/relationships/slide" Target="/ppt/slides/slide2.xml" Id="R91deae281ebf4773" /><Relationship Type="http://schemas.openxmlformats.org/officeDocument/2006/relationships/slide" Target="/ppt/slides/slide3.xml" Id="Rb5f2af83b29446e6" /><Relationship Type="http://schemas.openxmlformats.org/officeDocument/2006/relationships/slide" Target="/ppt/slides/slide4.xml" Id="R5924459cea86494c" /><Relationship Type="http://schemas.openxmlformats.org/officeDocument/2006/relationships/slide" Target="/ppt/slides/slide5.xml" Id="R80bbf6d5f49b45f6" /><Relationship Type="http://schemas.openxmlformats.org/officeDocument/2006/relationships/slide" Target="/ppt/slides/slide6.xml" Id="Rcdb79630500f4456" /><Relationship Type="http://schemas.openxmlformats.org/officeDocument/2006/relationships/slide" Target="/ppt/slides/slide7.xml" Id="R4f123641245d487e" /><Relationship Type="http://schemas.openxmlformats.org/officeDocument/2006/relationships/slide" Target="/ppt/slides/slide8.xml" Id="R8446ed8fddcc4e1d" /><Relationship Type="http://schemas.openxmlformats.org/officeDocument/2006/relationships/slide" Target="/ppt/slides/slide9.xml" Id="Rd4e0d6f7e6f04ed0" /><Relationship Type="http://schemas.openxmlformats.org/officeDocument/2006/relationships/slide" Target="/ppt/slides/slide10.xml" Id="R0c3bb55c91c74d8e" /><Relationship Type="http://schemas.openxmlformats.org/officeDocument/2006/relationships/slide" Target="/ppt/slides/slide11.xml" Id="R820cc2948c404dfa" /><Relationship Type="http://schemas.openxmlformats.org/officeDocument/2006/relationships/slide" Target="/ppt/slides/slide12.xml" Id="R3231e96fcc6842a6" /><Relationship Type="http://schemas.openxmlformats.org/officeDocument/2006/relationships/slide" Target="/ppt/slides/slide13.xml" Id="Ref08824accbd4aad" /><Relationship Type="http://schemas.openxmlformats.org/officeDocument/2006/relationships/slide" Target="/ppt/slides/slide14.xml" Id="Rfc9e86416cf648d9" /><Relationship Type="http://schemas.openxmlformats.org/officeDocument/2006/relationships/slide" Target="/ppt/slides/slide15.xml" Id="R0da1aee2f17a4ffa" /><Relationship Type="http://schemas.openxmlformats.org/officeDocument/2006/relationships/slide" Target="/ppt/slides/slide16.xml" Id="R0e35caa338f846c6" /><Relationship Type="http://schemas.openxmlformats.org/officeDocument/2006/relationships/slide" Target="/ppt/slides/slide17.xml" Id="R6e78fcdaad724777" /><Relationship Type="http://schemas.openxmlformats.org/officeDocument/2006/relationships/slide" Target="/ppt/slides/slide18.xml" Id="R8dd7d2a178764adc" /><Relationship Type="http://schemas.openxmlformats.org/officeDocument/2006/relationships/slide" Target="/ppt/slides/slide19.xml" Id="Rf8953a49f28741ca" /><Relationship Type="http://schemas.openxmlformats.org/officeDocument/2006/relationships/slide" Target="/ppt/slides/slide20.xml" Id="Reee708a473eb45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a00e3781cd45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de8b34ea064c9b" /><Relationship Type="http://schemas.openxmlformats.org/officeDocument/2006/relationships/notesMaster" Target="/ppt/notesMasters/notesMaster1.xml" Id="Rc2e2d6957c5342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248e430af94fd6" /><Relationship Type="http://schemas.openxmlformats.org/officeDocument/2006/relationships/notesMaster" Target="/ppt/notesMasters/notesMaster1.xml" Id="R6f59bfd7d5524d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3462fe65804408" /><Relationship Type="http://schemas.openxmlformats.org/officeDocument/2006/relationships/notesMaster" Target="/ppt/notesMasters/notesMaster1.xml" Id="R21bf976e578745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b8dfdbb6fb4c63" /><Relationship Type="http://schemas.openxmlformats.org/officeDocument/2006/relationships/notesMaster" Target="/ppt/notesMasters/notesMaster1.xml" Id="R921af75dde1141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9b090ab6f04d29" /><Relationship Type="http://schemas.openxmlformats.org/officeDocument/2006/relationships/notesMaster" Target="/ppt/notesMasters/notesMaster1.xml" Id="Ra91632659b9f4a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922692acac4c06" /><Relationship Type="http://schemas.openxmlformats.org/officeDocument/2006/relationships/notesMaster" Target="/ppt/notesMasters/notesMaster1.xml" Id="Rb5b6fb062c674f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86e88893554e3d" /><Relationship Type="http://schemas.openxmlformats.org/officeDocument/2006/relationships/notesMaster" Target="/ppt/notesMasters/notesMaster1.xml" Id="Rd52581c7496e4f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cc5dbe69124914" /><Relationship Type="http://schemas.openxmlformats.org/officeDocument/2006/relationships/notesMaster" Target="/ppt/notesMasters/notesMaster1.xml" Id="R3e4344b51cec4e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bf32eaece24cff" /><Relationship Type="http://schemas.openxmlformats.org/officeDocument/2006/relationships/notesMaster" Target="/ppt/notesMasters/notesMaster1.xml" Id="Rc9c9d4d7b5384d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f9a8db99a046c4" /><Relationship Type="http://schemas.openxmlformats.org/officeDocument/2006/relationships/notesMaster" Target="/ppt/notesMasters/notesMaster1.xml" Id="Re1c6e54b1f9540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6f63d42cda45b9" /><Relationship Type="http://schemas.openxmlformats.org/officeDocument/2006/relationships/notesMaster" Target="/ppt/notesMasters/notesMaster1.xml" Id="R8bcfb6f23d3543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69b0814cd94091" /><Relationship Type="http://schemas.openxmlformats.org/officeDocument/2006/relationships/notesMaster" Target="/ppt/notesMasters/notesMaster1.xml" Id="R380df0793b8b43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9188d1960e41ec" /><Relationship Type="http://schemas.openxmlformats.org/officeDocument/2006/relationships/notesMaster" Target="/ppt/notesMasters/notesMaster1.xml" Id="R9190068d388a49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93306e03584895" /><Relationship Type="http://schemas.openxmlformats.org/officeDocument/2006/relationships/notesMaster" Target="/ppt/notesMasters/notesMaster1.xml" Id="Ra300fb18301348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de7676afeee4878" /><Relationship Type="http://schemas.openxmlformats.org/officeDocument/2006/relationships/notesMaster" Target="/ppt/notesMasters/notesMaster1.xml" Id="R3ed5d6e18eaf47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5bb5b88afd4e1c" /><Relationship Type="http://schemas.openxmlformats.org/officeDocument/2006/relationships/notesMaster" Target="/ppt/notesMasters/notesMaster1.xml" Id="R8935d18c242042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8c9a7952104710" /><Relationship Type="http://schemas.openxmlformats.org/officeDocument/2006/relationships/notesMaster" Target="/ppt/notesMasters/notesMaster1.xml" Id="Rfadf952b566442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26373e5e9944aa" /><Relationship Type="http://schemas.openxmlformats.org/officeDocument/2006/relationships/notesMaster" Target="/ppt/notesMasters/notesMaster1.xml" Id="R511924b3cd4443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ed524fec244ec9" /><Relationship Type="http://schemas.openxmlformats.org/officeDocument/2006/relationships/notesMaster" Target="/ppt/notesMasters/notesMaster1.xml" Id="R7a83644e956342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c07176e343411e" /><Relationship Type="http://schemas.openxmlformats.org/officeDocument/2006/relationships/notesMaster" Target="/ppt/notesMasters/notesMaster1.xml" Id="R346d4300caef45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일러스트는 가상의 이용 장면입니다.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Weng &amp; Moro (2026), Large language models create an uneven informational layer over cities. https://arxiv.org/html/2607.06260v1 미국 후보 제한 실험의 47.5%. 프리프린트. https://www.newswire.co.kr/newsRead.php?no=1015337 BC eat.pl 소개. 차별점은 제안자의 설계이며 경쟁 서비스 전체의 부재를 입증하지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성별1·2, 제공11업종. 월증가율=(May/Apr-1)×100. 일평균=((May/31)/(Apr/30)-1)×100. 전국 월9.3252%, 일평균5.7986%. 차트 소수 첫째 자리 반올림.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일반한식8001만 포함.20대여성 GENDER2,AGE2.60대이상 AGE6,GENDER1·2. 점유율 분모는 동일고객군의 강원합계. Q1 1–3월, Q2 4–6월. 금액·건수의 원자료 계산은 독립 csv 정수합과 pandas 결과가 일치했습니다.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최대 원시추천 슬롯300. 추천비중 분자는 검증된 고유 가게 언급수,분모는 전체지역의 검증된 언급수. 앱0/15는 수집계획 결과가 아닌 별도 가상 UI. 점포확인에는 공모전 미제공 BC 내부자료·권한·동의 필요.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소비19.5673%는 재계산. 두 웹 화면은 실제 제작앱의 원본 캡처이며 진단 수치 중 점포/AI 정보는 시연가정.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건당300원은 BC현행요율이 아닌 협의대상 가정. 제안서는 실제구축한 앱의 책장1/2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실제계약체결이나 메시지발송 없음. 월할인예산은100000원이며 할인비용 한도. 발급약속과 신규발급중단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가정민감도. gross1920000*q*0.4-discounts-18000.3%=57600,5%=96000,10%=min(32000*.1,2000)*60=120000. q10/20 이익 및 break-even 독립검증완료. 10% 비용120000은 월예산100000 초과하는 수요가정이므로 이 표는 예산내 실제실행건수 예측아님.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실제구축앱24종캡처 중3. 지도·음식은 가상이미지. 실제지도서비스 연결없음.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소비자책장1/2와근거모달실캡처. 책장모션 전체동작이 검증완료되었다는 성과주장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동일시연거래16k-800=15200,최소1만원,5%,상한2천원.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paid pipeline 실제앱1건과16k. owner수령14900=16000-800-300. 수령액과공헌이익구분.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실제로 시연에서 pause후기존혜택사용 및 전액환불 UI확인. 실서비스 결제원장·부분취소·만료 미연동.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사업화 제안. React단일HTML 프론트엔드. BC채널탑재확정아님. 수익18k=300*60 가정. 원가차감 필요. 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향후 검증안.8주=4주사전+4주실행 시작안. ITT기본검토,점포간이동/간섭과노출배정추적. 표본30가정과기초전환율기반표본재산정. 신규고객≠추가고객. 개인단위는적정권한/정보최소화아래.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roadmap제안,실배포/BC승인완료아님. 외국인코드≠관광객·카드국적. 다국어/외국발급카드혜택은현재미구현.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BC 제공 ABP_CONTEST_DATA.csv(2026.01–06), 팀 재계산. 성별1·2 표본(외국인3·미상x 제외). 출처: https://abp.bccard.com/dataContest/dataContestDetailPage?contestNo=9000001 서비스 설계용 가상 시나리오. 가게, 인물, 위치, 모든 가맹점별 수치와 UI 성과는 가상 예시입니다. 실제 AI 응답 수집, 제휴 발송, 카드 결제는 수행하지 않았습니다. 사업화 기능은 BC 내부 데이터와 시스템 연계가 필요합니다. 가정과실측 구분은 사용자합의사항. 실제가맹점순위는제공집계자료로산출불가. 내부정책/권한/보존기간확인필요.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https://abp.bccard.com/dataContest/dataContestDetailPage?contestNo=9000001</a:t>
            </a:r>
          </a:p>
          <a:p xmlns:a="http://schemas.openxmlformats.org/drawingml/2006/main">
            <a:r>
              <a:t>https://arxiv.org/html/2607.06260v1</a:t>
            </a:r>
          </a:p>
          <a:p xmlns:a="http://schemas.openxmlformats.org/drawingml/2006/main">
            <a:r>
              <a:t>https://www.newswire.co.kr/newsRead.php?no=1015337</a:t>
            </a:r>
          </a:p>
          <a:p xmlns:a="http://schemas.openxmlformats.org/drawingml/2006/main">
            <a:r>
              <a:t>참고 수상작: 똑부리, 너 머니 / 외국인어서오세용 / 디지털안전지킴이 다크디펜더 / 소주UP. 구조참고이며수상실적/디자인을히든픽것으로표시안함. Windows실기기미검증. HTML로컬실행확인.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61785760bb46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f015fd56374eda" /><Relationship Type="http://schemas.openxmlformats.org/officeDocument/2006/relationships/slideLayout" Target="/ppt/slideLayouts/slideLayout1.xml" Id="R98000a06ed9749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000a06ed9749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be48765f574ca5" /><Relationship Type="http://schemas.openxmlformats.org/officeDocument/2006/relationships/image" Target="/ppt/media/image.png" Id="R9870fc34f8c64f97" /><Relationship Type="http://schemas.openxmlformats.org/officeDocument/2006/relationships/notesSlide" Target="/ppt/notesSlides/notesSlide1.xml" Id="R1f08ebc7cfba46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3d1f59218d47a7" /><Relationship Type="http://schemas.openxmlformats.org/officeDocument/2006/relationships/image" Target="/ppt/media/image2.png" Id="R5cb727f318a7415f" /><Relationship Type="http://schemas.openxmlformats.org/officeDocument/2006/relationships/image" Target="/ppt/media/image3.png" Id="R139ae489f9114039" /><Relationship Type="http://schemas.openxmlformats.org/officeDocument/2006/relationships/notesSlide" Target="/ppt/notesSlides/notesSlide2.xml" Id="R6c3d0536e1f443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915b01d8c24392" /><Relationship Type="http://schemas.openxmlformats.org/officeDocument/2006/relationships/notesSlide" Target="/ppt/notesSlides/notesSlide3.xml" Id="Rd1b84b577f2d46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e63fbdacf94388" /><Relationship Type="http://schemas.openxmlformats.org/officeDocument/2006/relationships/chart" Target="/ppt/slides/charts/chart1.xml" Id="Rebe1677985c24057" /><Relationship Type="http://schemas.openxmlformats.org/officeDocument/2006/relationships/notesSlide" Target="/ppt/notesSlides/notesSlide4.xml" Id="R6b702916139a4e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4619b35a9a4fd3" /><Relationship Type="http://schemas.openxmlformats.org/officeDocument/2006/relationships/chart" Target="/ppt/slides/charts/chart2.xml" Id="Rfe067537cd794c63" /><Relationship Type="http://schemas.openxmlformats.org/officeDocument/2006/relationships/notesSlide" Target="/ppt/notesSlides/notesSlide5.xml" Id="Rb8155885b6c447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914f02a2d144ed" /><Relationship Type="http://schemas.openxmlformats.org/officeDocument/2006/relationships/notesSlide" Target="/ppt/notesSlides/notesSlide6.xml" Id="R4c1750adf9cf4e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cc51f4597e44cb" /><Relationship Type="http://schemas.openxmlformats.org/officeDocument/2006/relationships/image" Target="/ppt/media/image4.png" Id="Rcd32464fc12f48d0" /><Relationship Type="http://schemas.openxmlformats.org/officeDocument/2006/relationships/image" Target="/ppt/media/image5.png" Id="R98ca370e996f4430" /><Relationship Type="http://schemas.openxmlformats.org/officeDocument/2006/relationships/notesSlide" Target="/ppt/notesSlides/notesSlide7.xml" Id="R07d92da3153f4f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727163a89b41e7" /><Relationship Type="http://schemas.openxmlformats.org/officeDocument/2006/relationships/image" Target="/ppt/media/image6.png" Id="R6f76a4336be64d2a" /><Relationship Type="http://schemas.openxmlformats.org/officeDocument/2006/relationships/image" Target="/ppt/media/image7.png" Id="R1671de7e22f94c7a" /><Relationship Type="http://schemas.openxmlformats.org/officeDocument/2006/relationships/image" Target="/ppt/media/image8.png" Id="R4573b12cb0f24824" /><Relationship Type="http://schemas.openxmlformats.org/officeDocument/2006/relationships/notesSlide" Target="/ppt/notesSlides/notesSlide8.xml" Id="R2f7e1c49e18d4d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c8f73116084f24" /><Relationship Type="http://schemas.openxmlformats.org/officeDocument/2006/relationships/image" Target="/ppt/media/image9.png" Id="Rd8323e0802fe4b8c" /><Relationship Type="http://schemas.openxmlformats.org/officeDocument/2006/relationships/image" Target="/ppt/media/image10.png" Id="R35c12c6a106e4820" /><Relationship Type="http://schemas.openxmlformats.org/officeDocument/2006/relationships/image" Target="/ppt/media/image11.png" Id="R4346bd26068e43b7" /><Relationship Type="http://schemas.openxmlformats.org/officeDocument/2006/relationships/notesSlide" Target="/ppt/notesSlides/notesSlide9.xml" Id="Re981ab3afb3e40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cef5d9b830475e" /><Relationship Type="http://schemas.openxmlformats.org/officeDocument/2006/relationships/image" Target="/ppt/media/image12.png" Id="Ra8fc20a3f2e34727" /><Relationship Type="http://schemas.openxmlformats.org/officeDocument/2006/relationships/image" Target="/ppt/media/image13.png" Id="Rc6645898f197490b" /><Relationship Type="http://schemas.openxmlformats.org/officeDocument/2006/relationships/notesSlide" Target="/ppt/notesSlides/notesSlide10.xml" Id="R0eae397c61c341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cf771c9b8d4d01" /><Relationship Type="http://schemas.openxmlformats.org/officeDocument/2006/relationships/image" Target="/ppt/media/image14.png" Id="Rcd0e16184c854175" /><Relationship Type="http://schemas.openxmlformats.org/officeDocument/2006/relationships/image" Target="/ppt/media/image15.png" Id="Ref253577774b4be9" /><Relationship Type="http://schemas.openxmlformats.org/officeDocument/2006/relationships/image" Target="/ppt/media/image16.png" Id="R6397ba492f6e4b0c" /><Relationship Type="http://schemas.openxmlformats.org/officeDocument/2006/relationships/notesSlide" Target="/ppt/notesSlides/notesSlide11.xml" Id="Reca83e2b772f47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a467b9edff43ea" /><Relationship Type="http://schemas.openxmlformats.org/officeDocument/2006/relationships/image" Target="/ppt/media/image17.png" Id="Rb3cb6569e6704805" /><Relationship Type="http://schemas.openxmlformats.org/officeDocument/2006/relationships/image" Target="/ppt/media/image18.png" Id="Rab7b71b7ad1a4618" /><Relationship Type="http://schemas.openxmlformats.org/officeDocument/2006/relationships/image" Target="/ppt/media/image19.png" Id="R72f0a03f65464d24" /><Relationship Type="http://schemas.openxmlformats.org/officeDocument/2006/relationships/notesSlide" Target="/ppt/notesSlides/notesSlide12.xml" Id="Rb5431a5d9c8f44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629113096f45e7" /><Relationship Type="http://schemas.openxmlformats.org/officeDocument/2006/relationships/image" Target="/ppt/media/image20.png" Id="R61a6ac27dc97416a" /><Relationship Type="http://schemas.openxmlformats.org/officeDocument/2006/relationships/image" Target="/ppt/media/image21.png" Id="R05f247c4b7404cbd" /><Relationship Type="http://schemas.openxmlformats.org/officeDocument/2006/relationships/image" Target="/ppt/media/image22.png" Id="R50a0d798a3184ab2" /><Relationship Type="http://schemas.openxmlformats.org/officeDocument/2006/relationships/notesSlide" Target="/ppt/notesSlides/notesSlide13.xml" Id="R08a4ac87de1d4f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209628a2bd4f5d" /><Relationship Type="http://schemas.openxmlformats.org/officeDocument/2006/relationships/image" Target="/ppt/media/image23.png" Id="Rbb1b4ee4b3ff48e2" /><Relationship Type="http://schemas.openxmlformats.org/officeDocument/2006/relationships/image" Target="/ppt/media/image24.png" Id="Rf94fc63ef4c64311" /><Relationship Type="http://schemas.openxmlformats.org/officeDocument/2006/relationships/notesSlide" Target="/ppt/notesSlides/notesSlide14.xml" Id="R77d145e49b1242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61a8eeb00f4338" /><Relationship Type="http://schemas.openxmlformats.org/officeDocument/2006/relationships/image" Target="/ppt/media/image25.png" Id="Rfa3d4a7d8cff4e00" /><Relationship Type="http://schemas.openxmlformats.org/officeDocument/2006/relationships/image" Target="/ppt/media/image26.png" Id="R5edbb496cb824348" /><Relationship Type="http://schemas.openxmlformats.org/officeDocument/2006/relationships/notesSlide" Target="/ppt/notesSlides/notesSlide15.xml" Id="Rce16e36a13c840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79ee8a24304ae4" /><Relationship Type="http://schemas.openxmlformats.org/officeDocument/2006/relationships/notesSlide" Target="/ppt/notesSlides/notesSlide16.xml" Id="Rc05cd11a84c440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eaf91fc832e43a0" /><Relationship Type="http://schemas.openxmlformats.org/officeDocument/2006/relationships/notesSlide" Target="/ppt/notesSlides/notesSlide17.xml" Id="Rdd176c28bc1342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0589ed8387b46d9" /><Relationship Type="http://schemas.openxmlformats.org/officeDocument/2006/relationships/image" Target="/ppt/media/image27.png" Id="Rb4190c6439be40c4" /><Relationship Type="http://schemas.openxmlformats.org/officeDocument/2006/relationships/notesSlide" Target="/ppt/notesSlides/notesSlide18.xml" Id="Ree6f6673b15b42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bd7fd94b5c4581" /><Relationship Type="http://schemas.openxmlformats.org/officeDocument/2006/relationships/notesSlide" Target="/ppt/notesSlides/notesSlide19.xml" Id="Rec24597157ce49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52b03777064d99" /><Relationship Type="http://schemas.openxmlformats.org/officeDocument/2006/relationships/notesSlide" Target="/ppt/notesSlides/notesSlide20.xml" Id="R9b6f6adcdadc44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월 총액</c:v>
          </c:tx>
          <c:spPr>
            <a:solidFill xmlns:a="http://schemas.openxmlformats.org/drawingml/2006/main">
              <a:srgbClr val="ED334C"/>
            </a:solidFill>
          </c:spPr>
          <c:cat>
            <c:strRef>
              <c:f>'Chart Data'!$A$2:$A$6</c:f>
              <c:strCache>
                <c:ptCount val="5"/>
                <c:pt idx="0">
                  <c:v>인천</c:v>
                </c:pt>
                <c:pt idx="1">
                  <c:v>서울</c:v>
                </c:pt>
                <c:pt idx="2">
                  <c:v>전북</c:v>
                </c:pt>
                <c:pt idx="3">
                  <c:v>대구</c:v>
                </c:pt>
                <c:pt idx="4">
                  <c:v>강원</c:v>
                </c:pt>
              </c:strCache>
            </c:strRef>
          </c:cat>
          <c:val>
            <c:numRef>
              <c:f>'Chart Data'!$B$2:$B$6</c:f>
              <c:numCache>
                <c:formatCode>0.0"%"</c:formatCode>
                <c:ptCount val="5"/>
                <c:pt idx="0">
                  <c:v>4.3</c:v>
                </c:pt>
                <c:pt idx="1">
                  <c:v>4.7</c:v>
                </c:pt>
                <c:pt idx="2">
                  <c:v>12.3</c:v>
                </c:pt>
                <c:pt idx="3">
                  <c:v>13.5</c:v>
                </c:pt>
                <c:pt idx="4">
                  <c:v>19.8</c:v>
                </c:pt>
              </c:numCache>
            </c:numRef>
          </c:val>
        </c:ser>
        <c:ser>
          <c:idx val="1"/>
          <c:order val="1"/>
          <c:tx>
            <c:v>일평균</c:v>
          </c:tx>
          <c:spPr>
            <a:solidFill xmlns:a="http://schemas.openxmlformats.org/drawingml/2006/main">
              <a:srgbClr val="AAC8BC"/>
            </a:solidFill>
          </c:spPr>
          <c:cat>
            <c:strRef>
              <c:f>'Chart Data'!$C$2:$C$6</c:f>
              <c:strCache>
                <c:ptCount val="5"/>
                <c:pt idx="0">
                  <c:v>인천</c:v>
                </c:pt>
                <c:pt idx="1">
                  <c:v>서울</c:v>
                </c:pt>
                <c:pt idx="2">
                  <c:v>전북</c:v>
                </c:pt>
                <c:pt idx="3">
                  <c:v>대구</c:v>
                </c:pt>
                <c:pt idx="4">
                  <c:v>강원</c:v>
                </c:pt>
              </c:strCache>
            </c:strRef>
          </c:cat>
          <c:val>
            <c:numRef>
              <c:f>'Chart Data'!$D$2:$D$6</c:f>
              <c:numCache>
                <c:formatCode>0.0"%"</c:formatCode>
                <c:ptCount val="5"/>
                <c:pt idx="0">
                  <c:v>1</c:v>
                </c:pt>
                <c:pt idx="1">
                  <c:v>1.4</c:v>
                </c:pt>
                <c:pt idx="2">
                  <c:v>8.7</c:v>
                </c:pt>
                <c:pt idx="3">
                  <c:v>9.8</c:v>
                </c:pt>
                <c:pt idx="4">
                  <c:v>16</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26282D"/>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26282D"/>
                </a:solidFill>
                <a:latin typeface="Apple SD Gothic Neo"/>
                <a:ea typeface="Apple SD Gothic Neo"/>
                <a:cs typeface="Apple SD Gothic Neo"/>
              </a:defRPr>
            </a:pPr>
          </a:p>
        </c:txPr>
        <c:crossAx val="48672768"/>
      </c:catAx>
      <c:valAx>
        <c:axId val="48672768"/>
        <c:scaling>
          <c:orientation val="minMax"/>
          <c:max val="25"/>
          <c:min val="0"/>
        </c:scaling>
        <c:delete val="0"/>
        <c:axPos val="b"/>
        <c:majorGridlines>
          <c:spPr>
            <a:ln xmlns:a="http://schemas.openxmlformats.org/drawingml/2006/main" w="5715">
              <a:solidFill>
                <a:srgbClr val="DDE2D8"/>
              </a:solidFill>
            </a:ln>
          </c:spPr>
        </c:majorGridlines>
        <c:numFmt formatCode="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6F7B73"/>
                </a:solidFill>
                <a:latin typeface="Apple SD Gothic Neo"/>
                <a:ea typeface="Apple SD Gothic Neo"/>
                <a:cs typeface="Apple SD Gothic Neo"/>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F7B73"/>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20대 여성</c:v>
          </c:tx>
          <c:spPr>
            <a:solidFill xmlns:a="http://schemas.openxmlformats.org/drawingml/2006/main">
              <a:srgbClr val="ED334C"/>
            </a:solidFill>
          </c:spPr>
          <c:cat>
            <c:strRef>
              <c:f>'Chart Data'!$A$2:$A$4</c:f>
              <c:strCache>
                <c:ptCount val="3"/>
                <c:pt idx="0">
                  <c:v>춘천</c:v>
                </c:pt>
                <c:pt idx="1">
                  <c:v>원주</c:v>
                </c:pt>
                <c:pt idx="2">
                  <c:v>강릉</c:v>
                </c:pt>
              </c:strCache>
            </c:strRef>
          </c:cat>
          <c:val>
            <c:numRef>
              <c:f>'Chart Data'!$B$2:$B$4</c:f>
              <c:numCache>
                <c:formatCode>0.0"%"</c:formatCode>
                <c:ptCount val="3"/>
                <c:pt idx="0">
                  <c:v>18.2</c:v>
                </c:pt>
                <c:pt idx="1">
                  <c:v>19.6</c:v>
                </c:pt>
                <c:pt idx="2">
                  <c:v>25.5</c:v>
                </c:pt>
              </c:numCache>
            </c:numRef>
          </c:val>
        </c:ser>
        <c:ser>
          <c:idx val="1"/>
          <c:order val="1"/>
          <c:tx>
            <c:v>성별1·2 전 연령</c:v>
          </c:tx>
          <c:spPr>
            <a:solidFill xmlns:a="http://schemas.openxmlformats.org/drawingml/2006/main">
              <a:srgbClr val="8B9EAB"/>
            </a:solidFill>
          </c:spPr>
          <c:cat>
            <c:strRef>
              <c:f>'Chart Data'!$C$2:$C$4</c:f>
              <c:strCache>
                <c:ptCount val="3"/>
                <c:pt idx="0">
                  <c:v>춘천</c:v>
                </c:pt>
                <c:pt idx="1">
                  <c:v>원주</c:v>
                </c:pt>
                <c:pt idx="2">
                  <c:v>강릉</c:v>
                </c:pt>
              </c:strCache>
            </c:strRef>
          </c:cat>
          <c:val>
            <c:numRef>
              <c:f>'Chart Data'!$D$2:$D$4</c:f>
              <c:numCache>
                <c:formatCode>0.0"%"</c:formatCode>
                <c:ptCount val="3"/>
                <c:pt idx="0">
                  <c:v>15.1</c:v>
                </c:pt>
                <c:pt idx="1">
                  <c:v>19</c:v>
                </c:pt>
                <c:pt idx="2">
                  <c:v>16.1</c:v>
                </c:pt>
              </c:numCache>
            </c:numRef>
          </c:val>
        </c:ser>
        <c:ser>
          <c:idx val="2"/>
          <c:order val="2"/>
          <c:tx>
            <c:v>성별1·2 60대 이상</c:v>
          </c:tx>
          <c:spPr>
            <a:solidFill xmlns:a="http://schemas.openxmlformats.org/drawingml/2006/main">
              <a:srgbClr val="A7C5B6"/>
            </a:solidFill>
          </c:spPr>
          <c:cat>
            <c:strRef>
              <c:f>'Chart Data'!$E$2:$E$4</c:f>
              <c:strCache>
                <c:ptCount val="3"/>
                <c:pt idx="0">
                  <c:v>춘천</c:v>
                </c:pt>
                <c:pt idx="1">
                  <c:v>원주</c:v>
                </c:pt>
                <c:pt idx="2">
                  <c:v>강릉</c:v>
                </c:pt>
              </c:strCache>
            </c:strRef>
          </c:cat>
          <c:val>
            <c:numRef>
              <c:f>'Chart Data'!$F$2:$F$4</c:f>
              <c:numCache>
                <c:formatCode>0.0"%"</c:formatCode>
                <c:ptCount val="3"/>
                <c:pt idx="0">
                  <c:v>15</c:v>
                </c:pt>
                <c:pt idx="1">
                  <c:v>17.2</c:v>
                </c:pt>
                <c:pt idx="2">
                  <c:v>14.8</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26282D"/>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26282D"/>
                </a:solidFill>
                <a:latin typeface="Apple SD Gothic Neo"/>
                <a:ea typeface="Apple SD Gothic Neo"/>
                <a:cs typeface="Apple SD Gothic Neo"/>
              </a:defRPr>
            </a:pPr>
          </a:p>
        </c:txPr>
        <c:crossAx val="48672768"/>
      </c:catAx>
      <c:valAx>
        <c:axId val="48672768"/>
        <c:scaling>
          <c:orientation val="minMax"/>
          <c:max val="30"/>
          <c:min val="0"/>
        </c:scaling>
        <c:delete val="0"/>
        <c:axPos val="b"/>
        <c:majorGridlines>
          <c:spPr>
            <a:ln xmlns:a="http://schemas.openxmlformats.org/drawingml/2006/main" w="5715">
              <a:solidFill>
                <a:srgbClr val="DDE2D8"/>
              </a:solidFill>
            </a:ln>
          </c:spPr>
        </c:majorGridlines>
        <c:numFmt formatCode="0.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6F7B73"/>
                </a:solidFill>
                <a:latin typeface="Apple SD Gothic Neo"/>
                <a:ea typeface="Apple SD Gothic Neo"/>
                <a:cs typeface="Apple SD Gothic Neo"/>
              </a:defRPr>
            </a:pPr>
          </a:p>
        </c:txPr>
        <c:crossAx val="48650112"/>
        <c:crossBetween val="between"/>
        <c:majorUnit val="1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F7B73"/>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870fc34f8c64f97"/>
          <a:srcRect xmlns:a="http://schemas.openxmlformats.org/drawingml/2006/main" l="13889" t="0" r="13889" b="0"/>
          <a:stretch xmlns:a="http://schemas.openxmlformats.org/drawingml/2006/main">
            <a:fillRect l="0" t="0" r="0" b="0"/>
          </a:stretch>
        </p:blipFill>
        <p:spPr>
          <a:xfrm xmlns:a="http://schemas.openxmlformats.org/drawingml/2006/main">
            <a:off x="4762500" y="0"/>
            <a:ext cx="7429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6CAE69-9105-4644-A6FD-71B3FC3D8A26}"/>
              </a:ext>
            </a:extLst>
          </p:cNvPr>
          <p:cNvSpPr>
            <a:spLocks xmlns:a="http://schemas.openxmlformats.org/drawingml/2006/main" noGrp="1"/>
          </p:cNvSpPr>
          <p:nvPr/>
        </p:nvSpPr>
        <p:spPr>
          <a:xfrm xmlns:a="http://schemas.openxmlformats.org/drawingml/2006/main">
            <a:off x="0" y="0"/>
            <a:ext cx="4857750" cy="6858000"/>
          </a:xfrm>
          <a:prstGeom xmlns:a="http://schemas.openxmlformats.org/drawingml/2006/main" prst="rect">
            <a:avLst/>
          </a:prstGeom>
          <a:solidFill xmlns:a="http://schemas.openxmlformats.org/drawingml/2006/main">
            <a:srgbClr val="F6F7F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7B1496-A7EE-42DE-8831-8178FB652898}"/>
              </a:ext>
            </a:extLst>
          </p:cNvPr>
          <p:cNvSpPr>
            <a:spLocks xmlns:a="http://schemas.openxmlformats.org/drawingml/2006/main" noGrp="1"/>
          </p:cNvSpPr>
          <p:nvPr/>
        </p:nvSpPr>
        <p:spPr>
          <a:xfrm xmlns:a="http://schemas.openxmlformats.org/drawingml/2006/main">
            <a:off x="552450" y="6477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26282D"/>
                </a:solidFill>
                <a:latin typeface="Apple SD Gothic Neo"/>
                <a:ea typeface="Apple SD Gothic Neo"/>
                <a:cs typeface="Apple SD Gothic Neo"/>
              </a:defRPr>
            </a:pPr>
            <a:r>
              <a:rPr sz="4275" b="1">
                <a:solidFill>
                  <a:srgbClr val="26282D"/>
                </a:solidFill>
                <a:latin typeface="Apple SD Gothic Neo"/>
                <a:ea typeface="Apple SD Gothic Neo"/>
                <a:cs typeface="Apple SD Gothic Neo"/>
              </a:rPr>
              <a:t>히든픽</a:t>
            </a:r>
          </a:p>
        </p:txBody>
      </p:sp>
      <p:sp>
        <p:nvSpPr>
          <p:cNvPr id="4" name="">
            <a:extLst xmlns:a="http://schemas.openxmlformats.org/drawingml/2006/main">
              <a:ext uri="{FF2B5EF4-FFF2-40B4-BE49-F238E27FC236}">
                <a16:creationId xmlns:a16="http://schemas.microsoft.com/office/drawing/2014/main" id="{CC1CF38C-6936-4AAF-9907-C78C3FD1B75E}"/>
              </a:ext>
            </a:extLst>
          </p:cNvPr>
          <p:cNvSpPr>
            <a:spLocks xmlns:a="http://schemas.openxmlformats.org/drawingml/2006/main" noGrp="1"/>
          </p:cNvSpPr>
          <p:nvPr/>
        </p:nvSpPr>
        <p:spPr>
          <a:xfrm xmlns:a="http://schemas.openxmlformats.org/drawingml/2006/main">
            <a:off x="552450" y="2343150"/>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6282D"/>
                </a:solidFill>
                <a:latin typeface="Apple SD Gothic Neo"/>
                <a:ea typeface="Apple SD Gothic Neo"/>
                <a:cs typeface="Apple SD Gothic Neo"/>
              </a:defRPr>
            </a:pPr>
            <a:r>
              <a:rPr sz="3375" b="1">
                <a:solidFill>
                  <a:srgbClr val="26282D"/>
                </a:solidFill>
                <a:latin typeface="Apple SD Gothic Neo"/>
                <a:ea typeface="Apple SD Gothic Neo"/>
                <a:cs typeface="Apple SD Gothic Neo"/>
              </a:rPr>
              <a:t>AI가 놓친 한 끼를,</a:t>
            </a:r>
          </a:p>
          <a:p xmlns:a="http://schemas.openxmlformats.org/drawingml/2006/main">
            <a:pPr algn="l">
              <a:defRPr sz="3375" b="1">
                <a:solidFill>
                  <a:srgbClr val="26282D"/>
                </a:solidFill>
                <a:latin typeface="Apple SD Gothic Neo"/>
                <a:ea typeface="Apple SD Gothic Neo"/>
                <a:cs typeface="Apple SD Gothic Neo"/>
              </a:defRPr>
            </a:pPr>
            <a:r>
              <a:rPr sz="3375" b="1">
                <a:solidFill>
                  <a:srgbClr val="26282D"/>
                </a:solidFill>
                <a:latin typeface="Apple SD Gothic Neo"/>
                <a:ea typeface="Apple SD Gothic Neo"/>
                <a:cs typeface="Apple SD Gothic Neo"/>
              </a:rPr>
              <a:t>BC가 다음 방문으로.</a:t>
            </a:r>
          </a:p>
        </p:txBody>
      </p:sp>
      <p:sp>
        <p:nvSpPr>
          <p:cNvPr id="5" name="">
            <a:extLst xmlns:a="http://schemas.openxmlformats.org/drawingml/2006/main">
              <a:ext uri="{FF2B5EF4-FFF2-40B4-BE49-F238E27FC236}">
                <a16:creationId xmlns:a16="http://schemas.microsoft.com/office/drawing/2014/main" id="{8DE154C9-26EE-49B6-BEBE-DAECF7338FA2}"/>
              </a:ext>
            </a:extLst>
          </p:cNvPr>
          <p:cNvSpPr>
            <a:spLocks xmlns:a="http://schemas.openxmlformats.org/drawingml/2006/main" noGrp="1"/>
          </p:cNvSpPr>
          <p:nvPr/>
        </p:nvSpPr>
        <p:spPr>
          <a:xfrm xmlns:a="http://schemas.openxmlformats.org/drawingml/2006/main">
            <a:off x="571500" y="4238625"/>
            <a:ext cx="400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F7B73"/>
                </a:solidFill>
                <a:latin typeface="Apple SD Gothic Neo"/>
                <a:ea typeface="Apple SD Gothic Neo"/>
                <a:cs typeface="Apple SD Gothic Neo"/>
              </a:defRPr>
            </a:pPr>
            <a:r>
              <a:rPr sz="1725" b="0">
                <a:solidFill>
                  <a:srgbClr val="6F7B73"/>
                </a:solidFill>
                <a:latin typeface="Apple SD Gothic Neo"/>
                <a:ea typeface="Apple SD Gothic Neo"/>
                <a:cs typeface="Apple SD Gothic Neo"/>
              </a:rPr>
              <a:t>소비데이터와 AI 노출의 차이에서 출발하는</a:t>
            </a:r>
          </a:p>
          <a:p xmlns:a="http://schemas.openxmlformats.org/drawingml/2006/main">
            <a:pPr algn="l">
              <a:defRPr sz="1725" b="0">
                <a:solidFill>
                  <a:srgbClr val="6F7B73"/>
                </a:solidFill>
                <a:latin typeface="Apple SD Gothic Neo"/>
                <a:ea typeface="Apple SD Gothic Neo"/>
                <a:cs typeface="Apple SD Gothic Neo"/>
              </a:defRPr>
            </a:pPr>
            <a:r>
              <a:rPr sz="1725" b="0">
                <a:solidFill>
                  <a:srgbClr val="6F7B73"/>
                </a:solidFill>
                <a:latin typeface="Apple SD Gothic Neo"/>
                <a:ea typeface="Apple SD Gothic Neo"/>
                <a:cs typeface="Apple SD Gothic Neo"/>
              </a:rPr>
              <a:t>가맹점 발굴·제휴·방문 전환 서비스</a:t>
            </a:r>
          </a:p>
        </p:txBody>
      </p:sp>
      <p:sp>
        <p:nvSpPr>
          <p:cNvPr id="6" name="">
            <a:extLst xmlns:a="http://schemas.openxmlformats.org/drawingml/2006/main">
              <a:ext uri="{FF2B5EF4-FFF2-40B4-BE49-F238E27FC236}">
                <a16:creationId xmlns:a16="http://schemas.microsoft.com/office/drawing/2014/main" id="{DFD5A2B2-21DF-4EE0-8D99-52001D8E9B58}"/>
              </a:ext>
            </a:extLst>
          </p:cNvPr>
          <p:cNvSpPr>
            <a:spLocks xmlns:a="http://schemas.openxmlformats.org/drawingml/2006/main" noGrp="1"/>
          </p:cNvSpPr>
          <p:nvPr/>
        </p:nvSpPr>
        <p:spPr>
          <a:xfrm xmlns:a="http://schemas.openxmlformats.org/drawingml/2006/main">
            <a:off x="571500" y="58864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제1회 AI금융빅데이터플랫폼</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소비데이터 활용 분석·아이디어 공모전</a:t>
            </a:r>
          </a:p>
        </p:txBody>
      </p:sp>
    </p:spTree>
    <p:extLst>
      <p:ext uri="{BB962C8B-B14F-4D97-AF65-F5344CB8AC3E}">
        <p14:creationId xmlns:p14="http://schemas.microsoft.com/office/powerpoint/2010/main" val="814453455"/>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F523FE1-9DF8-4A33-869A-D8EE84E06FF3}"/>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좋은 가게의 다음 손님을, 데이터로 연결합니다.</a:t>
            </a:r>
          </a:p>
        </p:txBody>
      </p:sp>
      <p:sp>
        <p:nvSpPr>
          <p:cNvPr id="2" name="">
            <a:extLst xmlns:a="http://schemas.openxmlformats.org/drawingml/2006/main">
              <a:ext uri="{FF2B5EF4-FFF2-40B4-BE49-F238E27FC236}">
                <a16:creationId xmlns:a16="http://schemas.microsoft.com/office/drawing/2014/main" id="{19CBA77B-5F44-4A33-8FC6-7B6EFB502DA6}"/>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히든픽은 소비와 AI 노출의 차이를 살피고, 점주가 선택한 혜택을 방문과 정산까지 연결합니다.</a:t>
            </a:r>
          </a:p>
        </p:txBody>
      </p:sp>
      <p:sp>
        <p:nvSpPr>
          <p:cNvPr id="3" name="">
            <a:extLst xmlns:a="http://schemas.openxmlformats.org/drawingml/2006/main">
              <a:ext uri="{FF2B5EF4-FFF2-40B4-BE49-F238E27FC236}">
                <a16:creationId xmlns:a16="http://schemas.microsoft.com/office/drawing/2014/main" id="{8366308C-A953-40C5-BC39-A5220E196050}"/>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05BE4-1389-4FE9-8C1E-8443DFAC8AC6}"/>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67C6F6D2-832C-4EA3-A95D-EBB3C2B7C632}"/>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02</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cb727f318a7415f"/>
          <a:stretch xmlns:a="http://schemas.openxmlformats.org/drawingml/2006/main"/>
        </p:blipFill>
        <p:spPr>
          <a:xfrm xmlns:a="http://schemas.openxmlformats.org/drawingml/2006/main">
            <a:off x="1533525" y="1314450"/>
            <a:ext cx="6286500" cy="2095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4F4379C-CE41-4688-970D-2FA69AA53433}"/>
              </a:ext>
            </a:extLst>
          </p:cNvPr>
          <p:cNvSpPr>
            <a:spLocks xmlns:a="http://schemas.openxmlformats.org/drawingml/2006/main" noGrp="1"/>
          </p:cNvSpPr>
          <p:nvPr/>
        </p:nvSpPr>
        <p:spPr>
          <a:xfrm xmlns:a="http://schemas.openxmlformats.org/drawingml/2006/main">
            <a:off x="457200" y="3524250"/>
            <a:ext cx="268605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여행자 민지</a:t>
            </a:r>
          </a:p>
        </p:txBody>
      </p:sp>
      <p:sp>
        <p:nvSpPr>
          <p:cNvPr id="8" name="">
            <a:extLst xmlns:a="http://schemas.openxmlformats.org/drawingml/2006/main">
              <a:ext uri="{FF2B5EF4-FFF2-40B4-BE49-F238E27FC236}">
                <a16:creationId xmlns:a16="http://schemas.microsoft.com/office/drawing/2014/main" id="{407E3C01-6F74-4E2A-AEDA-A61675CAD6DB}"/>
              </a:ext>
            </a:extLst>
          </p:cNvPr>
          <p:cNvSpPr>
            <a:spLocks xmlns:a="http://schemas.openxmlformats.org/drawingml/2006/main" noGrp="1"/>
          </p:cNvSpPr>
          <p:nvPr/>
        </p:nvSpPr>
        <p:spPr>
          <a:xfrm xmlns:a="http://schemas.openxmlformats.org/drawingml/2006/main">
            <a:off x="457200" y="3886200"/>
            <a:ext cx="2686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“오늘 편하게 먹을 곳을</a:t>
            </a:r>
          </a:p>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알고 싶어요.”</a:t>
            </a:r>
          </a:p>
        </p:txBody>
      </p:sp>
      <p:sp>
        <p:nvSpPr>
          <p:cNvPr id="9" name="">
            <a:extLst xmlns:a="http://schemas.openxmlformats.org/drawingml/2006/main">
              <a:ext uri="{FF2B5EF4-FFF2-40B4-BE49-F238E27FC236}">
                <a16:creationId xmlns:a16="http://schemas.microsoft.com/office/drawing/2014/main" id="{80440E95-3AF4-4434-81CD-B988B39E2E3E}"/>
              </a:ext>
            </a:extLst>
          </p:cNvPr>
          <p:cNvSpPr>
            <a:spLocks xmlns:a="http://schemas.openxmlformats.org/drawingml/2006/main" noGrp="1"/>
          </p:cNvSpPr>
          <p:nvPr/>
        </p:nvSpPr>
        <p:spPr>
          <a:xfrm xmlns:a="http://schemas.openxmlformats.org/drawingml/2006/main">
            <a:off x="457200" y="46196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메뉴·선정 이유·혜택을 확인</a:t>
            </a:r>
          </a:p>
        </p:txBody>
      </p:sp>
      <p:sp>
        <p:nvSpPr>
          <p:cNvPr id="10" name="">
            <a:extLst xmlns:a="http://schemas.openxmlformats.org/drawingml/2006/main">
              <a:ext uri="{FF2B5EF4-FFF2-40B4-BE49-F238E27FC236}">
                <a16:creationId xmlns:a16="http://schemas.microsoft.com/office/drawing/2014/main" id="{2C59B268-5643-4D2C-9397-16B0F93BD950}"/>
              </a:ext>
            </a:extLst>
          </p:cNvPr>
          <p:cNvSpPr>
            <a:spLocks xmlns:a="http://schemas.openxmlformats.org/drawingml/2006/main" noGrp="1"/>
          </p:cNvSpPr>
          <p:nvPr/>
        </p:nvSpPr>
        <p:spPr>
          <a:xfrm xmlns:a="http://schemas.openxmlformats.org/drawingml/2006/main">
            <a:off x="3324225" y="3524250"/>
            <a:ext cx="268605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골목식탁 사장님</a:t>
            </a:r>
          </a:p>
        </p:txBody>
      </p:sp>
      <p:sp>
        <p:nvSpPr>
          <p:cNvPr id="11" name="">
            <a:extLst xmlns:a="http://schemas.openxmlformats.org/drawingml/2006/main">
              <a:ext uri="{FF2B5EF4-FFF2-40B4-BE49-F238E27FC236}">
                <a16:creationId xmlns:a16="http://schemas.microsoft.com/office/drawing/2014/main" id="{170F00AF-C574-4B2F-8865-CB4417FBD53A}"/>
              </a:ext>
            </a:extLst>
          </p:cNvPr>
          <p:cNvSpPr>
            <a:spLocks xmlns:a="http://schemas.openxmlformats.org/drawingml/2006/main" noGrp="1"/>
          </p:cNvSpPr>
          <p:nvPr/>
        </p:nvSpPr>
        <p:spPr>
          <a:xfrm xmlns:a="http://schemas.openxmlformats.org/drawingml/2006/main">
            <a:off x="3324225" y="3886200"/>
            <a:ext cx="2686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“할인하고도 남는지</a:t>
            </a:r>
          </a:p>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먼저 볼게요.”</a:t>
            </a:r>
          </a:p>
        </p:txBody>
      </p:sp>
      <p:sp>
        <p:nvSpPr>
          <p:cNvPr id="12" name="">
            <a:extLst xmlns:a="http://schemas.openxmlformats.org/drawingml/2006/main">
              <a:ext uri="{FF2B5EF4-FFF2-40B4-BE49-F238E27FC236}">
                <a16:creationId xmlns:a16="http://schemas.microsoft.com/office/drawing/2014/main" id="{44F246E8-10E3-4CF8-8A7C-E7554E90AD30}"/>
              </a:ext>
            </a:extLst>
          </p:cNvPr>
          <p:cNvSpPr>
            <a:spLocks xmlns:a="http://schemas.openxmlformats.org/drawingml/2006/main" noGrp="1"/>
          </p:cNvSpPr>
          <p:nvPr/>
        </p:nvSpPr>
        <p:spPr>
          <a:xfrm xmlns:a="http://schemas.openxmlformats.org/drawingml/2006/main">
            <a:off x="3324225" y="46196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비용·예산·중단 조건을 선택</a:t>
            </a:r>
          </a:p>
        </p:txBody>
      </p:sp>
      <p:sp>
        <p:nvSpPr>
          <p:cNvPr id="13" name="">
            <a:extLst xmlns:a="http://schemas.openxmlformats.org/drawingml/2006/main">
              <a:ext uri="{FF2B5EF4-FFF2-40B4-BE49-F238E27FC236}">
                <a16:creationId xmlns:a16="http://schemas.microsoft.com/office/drawing/2014/main" id="{D293E039-39E7-4E7A-A641-EA506071C9A6}"/>
              </a:ext>
            </a:extLst>
          </p:cNvPr>
          <p:cNvSpPr>
            <a:spLocks xmlns:a="http://schemas.openxmlformats.org/drawingml/2006/main" noGrp="1"/>
          </p:cNvSpPr>
          <p:nvPr/>
        </p:nvSpPr>
        <p:spPr>
          <a:xfrm xmlns:a="http://schemas.openxmlformats.org/drawingml/2006/main">
            <a:off x="6191250" y="3524250"/>
            <a:ext cx="268605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BC 담당자 수진</a:t>
            </a:r>
          </a:p>
        </p:txBody>
      </p:sp>
      <p:sp>
        <p:nvSpPr>
          <p:cNvPr id="14" name="">
            <a:extLst xmlns:a="http://schemas.openxmlformats.org/drawingml/2006/main">
              <a:ext uri="{FF2B5EF4-FFF2-40B4-BE49-F238E27FC236}">
                <a16:creationId xmlns:a16="http://schemas.microsoft.com/office/drawing/2014/main" id="{424F12C4-2FB8-4C20-AE5F-D0FF228C7255}"/>
              </a:ext>
            </a:extLst>
          </p:cNvPr>
          <p:cNvSpPr>
            <a:spLocks xmlns:a="http://schemas.openxmlformats.org/drawingml/2006/main" noGrp="1"/>
          </p:cNvSpPr>
          <p:nvPr/>
        </p:nvSpPr>
        <p:spPr>
          <a:xfrm xmlns:a="http://schemas.openxmlformats.org/drawingml/2006/main">
            <a:off x="6191250" y="3886200"/>
            <a:ext cx="2686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“왜 제휴할지, 방문 이후까지</a:t>
            </a:r>
          </a:p>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설명하고 싶어요.”</a:t>
            </a:r>
          </a:p>
        </p:txBody>
      </p:sp>
      <p:sp>
        <p:nvSpPr>
          <p:cNvPr id="15" name="">
            <a:extLst xmlns:a="http://schemas.openxmlformats.org/drawingml/2006/main">
              <a:ext uri="{FF2B5EF4-FFF2-40B4-BE49-F238E27FC236}">
                <a16:creationId xmlns:a16="http://schemas.microsoft.com/office/drawing/2014/main" id="{373F6C54-BFBE-4967-8C3D-68CC94CE5D41}"/>
              </a:ext>
            </a:extLst>
          </p:cNvPr>
          <p:cNvSpPr>
            <a:spLocks xmlns:a="http://schemas.openxmlformats.org/drawingml/2006/main" noGrp="1"/>
          </p:cNvSpPr>
          <p:nvPr/>
        </p:nvSpPr>
        <p:spPr>
          <a:xfrm xmlns:a="http://schemas.openxmlformats.org/drawingml/2006/main">
            <a:off x="6191250" y="4619625"/>
            <a:ext cx="268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후보 근거·참여·성과를 연결</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39ae489f9114039"/>
          <ns0:srcRect xmlns:ns0="http://schemas.openxmlformats.org/drawingml/2006/main" l="16837" t="8317" r="44077" b="7518"/>
          <a:stretch xmlns:a="http://schemas.openxmlformats.org/drawingml/2006/main"/>
        </p:blipFill>
        <p:spPr>
          <a:xfrm xmlns:a="http://schemas.openxmlformats.org/drawingml/2006/main">
            <a:off x="9515475" y="1200150"/>
            <a:ext cx="1967496" cy="38290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3248F3A9-4A50-4852-B3EC-641463400E92}"/>
              </a:ext>
            </a:extLst>
          </p:cNvPr>
          <p:cNvSpPr>
            <a:spLocks xmlns:a="http://schemas.openxmlformats.org/drawingml/2006/main" noGrp="1"/>
          </p:cNvSpPr>
          <p:nvPr/>
        </p:nvSpPr>
        <p:spPr>
          <a:xfrm xmlns:a="http://schemas.openxmlformats.org/drawingml/2006/main">
            <a:off x="419100" y="5067300"/>
            <a:ext cx="113157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3544232-CFDD-4091-8F54-01C991C5F269}"/>
              </a:ext>
            </a:extLst>
          </p:cNvPr>
          <p:cNvSpPr>
            <a:spLocks xmlns:a="http://schemas.openxmlformats.org/drawingml/2006/main" noGrp="1"/>
          </p:cNvSpPr>
          <p:nvPr/>
        </p:nvSpPr>
        <p:spPr>
          <a:xfrm xmlns:a="http://schemas.openxmlformats.org/drawingml/2006/main">
            <a:off x="457200" y="5257800"/>
            <a:ext cx="2638425"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1. 소비로 탐색</a:t>
            </a:r>
          </a:p>
        </p:txBody>
      </p:sp>
      <p:sp>
        <p:nvSpPr>
          <p:cNvPr id="19" name="">
            <a:extLst xmlns:a="http://schemas.openxmlformats.org/drawingml/2006/main">
              <a:ext uri="{FF2B5EF4-FFF2-40B4-BE49-F238E27FC236}">
                <a16:creationId xmlns:a16="http://schemas.microsoft.com/office/drawing/2014/main" id="{C80E0F90-278A-4A94-8A8D-5D5377EAC4D0}"/>
              </a:ext>
            </a:extLst>
          </p:cNvPr>
          <p:cNvSpPr>
            <a:spLocks xmlns:a="http://schemas.openxmlformats.org/drawingml/2006/main" noGrp="1"/>
          </p:cNvSpPr>
          <p:nvPr/>
        </p:nvSpPr>
        <p:spPr>
          <a:xfrm xmlns:a="http://schemas.openxmlformats.org/drawingml/2006/main">
            <a:off x="457200" y="5600700"/>
            <a:ext cx="2638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지역·업종·고객군을 좁힙니다.</a:t>
            </a:r>
          </a:p>
        </p:txBody>
      </p:sp>
      <p:sp>
        <p:nvSpPr>
          <p:cNvPr id="20" name="">
            <a:extLst xmlns:a="http://schemas.openxmlformats.org/drawingml/2006/main">
              <a:ext uri="{FF2B5EF4-FFF2-40B4-BE49-F238E27FC236}">
                <a16:creationId xmlns:a16="http://schemas.microsoft.com/office/drawing/2014/main" id="{7341E5EB-9D21-4CA7-BD30-27BFD697A518}"/>
              </a:ext>
            </a:extLst>
          </p:cNvPr>
          <p:cNvSpPr>
            <a:spLocks xmlns:a="http://schemas.openxmlformats.org/drawingml/2006/main" noGrp="1"/>
          </p:cNvSpPr>
          <p:nvPr/>
        </p:nvSpPr>
        <p:spPr>
          <a:xfrm xmlns:a="http://schemas.openxmlformats.org/drawingml/2006/main">
            <a:off x="3305175" y="5257800"/>
            <a:ext cx="2638425"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2. 근거로 제안</a:t>
            </a:r>
          </a:p>
        </p:txBody>
      </p:sp>
      <p:sp>
        <p:nvSpPr>
          <p:cNvPr id="21" name="">
            <a:extLst xmlns:a="http://schemas.openxmlformats.org/drawingml/2006/main">
              <a:ext uri="{FF2B5EF4-FFF2-40B4-BE49-F238E27FC236}">
                <a16:creationId xmlns:a16="http://schemas.microsoft.com/office/drawing/2014/main" id="{58CC141C-F7D0-4D59-85AD-7DFB29E43F5A}"/>
              </a:ext>
            </a:extLst>
          </p:cNvPr>
          <p:cNvSpPr>
            <a:spLocks xmlns:a="http://schemas.openxmlformats.org/drawingml/2006/main" noGrp="1"/>
          </p:cNvSpPr>
          <p:nvPr/>
        </p:nvSpPr>
        <p:spPr>
          <a:xfrm xmlns:a="http://schemas.openxmlformats.org/drawingml/2006/main">
            <a:off x="3305175" y="5600700"/>
            <a:ext cx="2638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AI 노출·점포 적합성을 확인합니다.</a:t>
            </a:r>
          </a:p>
        </p:txBody>
      </p:sp>
      <p:sp>
        <p:nvSpPr>
          <p:cNvPr id="22" name="">
            <a:extLst xmlns:a="http://schemas.openxmlformats.org/drawingml/2006/main">
              <a:ext uri="{FF2B5EF4-FFF2-40B4-BE49-F238E27FC236}">
                <a16:creationId xmlns:a16="http://schemas.microsoft.com/office/drawing/2014/main" id="{62544993-5EF0-4136-99C9-920D830F799A}"/>
              </a:ext>
            </a:extLst>
          </p:cNvPr>
          <p:cNvSpPr>
            <a:spLocks xmlns:a="http://schemas.openxmlformats.org/drawingml/2006/main" noGrp="1"/>
          </p:cNvSpPr>
          <p:nvPr/>
        </p:nvSpPr>
        <p:spPr>
          <a:xfrm xmlns:a="http://schemas.openxmlformats.org/drawingml/2006/main">
            <a:off x="6153150" y="5257800"/>
            <a:ext cx="2638425"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3. 점주가 선택</a:t>
            </a:r>
          </a:p>
        </p:txBody>
      </p:sp>
      <p:sp>
        <p:nvSpPr>
          <p:cNvPr id="23" name="">
            <a:extLst xmlns:a="http://schemas.openxmlformats.org/drawingml/2006/main">
              <a:ext uri="{FF2B5EF4-FFF2-40B4-BE49-F238E27FC236}">
                <a16:creationId xmlns:a16="http://schemas.microsoft.com/office/drawing/2014/main" id="{1533D178-FAED-450A-BF43-C8CE27259F8E}"/>
              </a:ext>
            </a:extLst>
          </p:cNvPr>
          <p:cNvSpPr>
            <a:spLocks xmlns:a="http://schemas.openxmlformats.org/drawingml/2006/main" noGrp="1"/>
          </p:cNvSpPr>
          <p:nvPr/>
        </p:nvSpPr>
        <p:spPr>
          <a:xfrm xmlns:a="http://schemas.openxmlformats.org/drawingml/2006/main">
            <a:off x="6153150" y="5600700"/>
            <a:ext cx="2638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손익과 조건을 보고 참여합니다.</a:t>
            </a:r>
          </a:p>
        </p:txBody>
      </p:sp>
      <p:sp>
        <p:nvSpPr>
          <p:cNvPr id="24" name="">
            <a:extLst xmlns:a="http://schemas.openxmlformats.org/drawingml/2006/main">
              <a:ext uri="{FF2B5EF4-FFF2-40B4-BE49-F238E27FC236}">
                <a16:creationId xmlns:a16="http://schemas.microsoft.com/office/drawing/2014/main" id="{54464A83-9EC6-47C4-BA58-3BFC28F6DB23}"/>
              </a:ext>
            </a:extLst>
          </p:cNvPr>
          <p:cNvSpPr>
            <a:spLocks xmlns:a="http://schemas.openxmlformats.org/drawingml/2006/main" noGrp="1"/>
          </p:cNvSpPr>
          <p:nvPr/>
        </p:nvSpPr>
        <p:spPr>
          <a:xfrm xmlns:a="http://schemas.openxmlformats.org/drawingml/2006/main">
            <a:off x="9001125" y="5257800"/>
            <a:ext cx="2638425"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4. 방문 이후 확인</a:t>
            </a:r>
          </a:p>
        </p:txBody>
      </p:sp>
      <p:sp>
        <p:nvSpPr>
          <p:cNvPr id="25" name="">
            <a:extLst xmlns:a="http://schemas.openxmlformats.org/drawingml/2006/main">
              <a:ext uri="{FF2B5EF4-FFF2-40B4-BE49-F238E27FC236}">
                <a16:creationId xmlns:a16="http://schemas.microsoft.com/office/drawing/2014/main" id="{D7B92EA3-C2EE-40C4-9A10-4A952A5078BA}"/>
              </a:ext>
            </a:extLst>
          </p:cNvPr>
          <p:cNvSpPr>
            <a:spLocks xmlns:a="http://schemas.openxmlformats.org/drawingml/2006/main" noGrp="1"/>
          </p:cNvSpPr>
          <p:nvPr/>
        </p:nvSpPr>
        <p:spPr>
          <a:xfrm xmlns:a="http://schemas.openxmlformats.org/drawingml/2006/main">
            <a:off x="9001125" y="5600700"/>
            <a:ext cx="2638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혜택 사용·정산·효과를 잇습니다.</a:t>
            </a:r>
          </a:p>
        </p:txBody>
      </p:sp>
      <p:sp>
        <p:nvSpPr>
          <p:cNvPr id="26" name="">
            <a:extLst xmlns:a="http://schemas.openxmlformats.org/drawingml/2006/main">
              <a:ext uri="{FF2B5EF4-FFF2-40B4-BE49-F238E27FC236}">
                <a16:creationId xmlns:a16="http://schemas.microsoft.com/office/drawing/2014/main" id="{5438EA9A-D338-465B-AA69-57105F21EC49}"/>
              </a:ext>
            </a:extLst>
          </p:cNvPr>
          <p:cNvSpPr>
            <a:spLocks xmlns:a="http://schemas.openxmlformats.org/drawingml/2006/main" noGrp="1"/>
          </p:cNvSpPr>
          <p:nvPr/>
        </p:nvSpPr>
        <p:spPr>
          <a:xfrm xmlns:a="http://schemas.openxmlformats.org/drawingml/2006/main">
            <a:off x="457200" y="6172200"/>
            <a:ext cx="11239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F7B73"/>
                </a:solidFill>
                <a:latin typeface="Apple SD Gothic Neo"/>
                <a:ea typeface="Apple SD Gothic Neo"/>
                <a:cs typeface="Apple SD Gothic Neo"/>
              </a:defRPr>
            </a:pPr>
            <a:r>
              <a:rPr sz="1200" b="0">
                <a:solidFill>
                  <a:srgbClr val="6F7B73"/>
                </a:solidFill>
                <a:latin typeface="Apple SD Gothic Neo"/>
                <a:ea typeface="Apple SD Gothic Neo"/>
                <a:cs typeface="Apple SD Gothic Neo"/>
              </a:rPr>
              <a:t>화면은 완성된 앱을 조작해 촬영했습니다. 골목식탁·민지·수진, 제휴 및 결제는 가상 시연입니다.</a:t>
            </a:r>
          </a:p>
        </p:txBody>
      </p:sp>
    </p:spTree>
    <p:extLst>
      <p:ext uri="{BB962C8B-B14F-4D97-AF65-F5344CB8AC3E}">
        <p14:creationId xmlns:p14="http://schemas.microsoft.com/office/powerpoint/2010/main" val="808079873"/>
      </p:ext>
    </p:extLst>
  </p:cSld>
</p:sld>
</file>

<file path=ppt/slides/slide3.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17721A-6727-4EAE-9162-63614614DCCF}"/>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소비가 있는 곳과 AI가 보여주는 곳의 차이를 제휴 기회로</a:t>
            </a:r>
          </a:p>
        </p:txBody>
      </p:sp>
      <p:sp>
        <p:nvSpPr>
          <p:cNvPr id="2" name="">
            <a:extLst xmlns:a="http://schemas.openxmlformats.org/drawingml/2006/main">
              <a:ext uri="{FF2B5EF4-FFF2-40B4-BE49-F238E27FC236}">
                <a16:creationId xmlns:a16="http://schemas.microsoft.com/office/drawing/2014/main" id="{31676D7D-CD8B-4E11-A0EF-4F12C45594D7}"/>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추천의 공백을 진단하고, 가게가 조건을 선택하며, 방문 이후 효과를 확인하는 운영 서비스입니다.</a:t>
            </a:r>
          </a:p>
        </p:txBody>
      </p:sp>
      <p:sp>
        <p:nvSpPr>
          <p:cNvPr id="3" name="">
            <a:extLst xmlns:a="http://schemas.openxmlformats.org/drawingml/2006/main">
              <a:ext uri="{FF2B5EF4-FFF2-40B4-BE49-F238E27FC236}">
                <a16:creationId xmlns:a16="http://schemas.microsoft.com/office/drawing/2014/main" id="{0C826696-F959-4D63-AA10-9DE858EF741F}"/>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124EA3-1F2D-4DC8-904E-A3EE427C422E}"/>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99B8842A-8DAA-4438-A345-8D0C1FFA72D1}"/>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03</a:t>
            </a:r>
          </a:p>
        </p:txBody>
      </p:sp>
      <p:sp>
        <p:nvSpPr>
          <p:cNvPr id="6" name="">
            <a:extLst xmlns:a="http://schemas.openxmlformats.org/drawingml/2006/main">
              <a:ext uri="{FF2B5EF4-FFF2-40B4-BE49-F238E27FC236}">
                <a16:creationId xmlns:a16="http://schemas.microsoft.com/office/drawing/2014/main" id="{58FCA74F-5F0B-43C6-9892-EC11B04146DB}"/>
              </a:ext>
            </a:extLst>
          </p:cNvPr>
          <p:cNvSpPr>
            <a:spLocks xmlns:a="http://schemas.openxmlformats.org/drawingml/2006/main" noGrp="1"/>
          </p:cNvSpPr>
          <p:nvPr/>
        </p:nvSpPr>
        <p:spPr>
          <a:xfrm xmlns:a="http://schemas.openxmlformats.org/drawingml/2006/main">
            <a:off x="466725" y="1400175"/>
            <a:ext cx="2714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ED334C"/>
                </a:solidFill>
                <a:latin typeface="Apple SD Gothic Neo"/>
                <a:ea typeface="Apple SD Gothic Neo"/>
                <a:cs typeface="Apple SD Gothic Neo"/>
              </a:defRPr>
            </a:pPr>
            <a:r>
              <a:rPr sz="5025" b="1">
                <a:solidFill>
                  <a:srgbClr val="ED334C"/>
                </a:solidFill>
                <a:latin typeface="Apple SD Gothic Neo"/>
                <a:ea typeface="Apple SD Gothic Neo"/>
                <a:cs typeface="Apple SD Gothic Neo"/>
              </a:rPr>
              <a:t>47.5%</a:t>
            </a:r>
          </a:p>
        </p:txBody>
      </p:sp>
      <p:sp>
        <p:nvSpPr>
          <p:cNvPr id="7" name="">
            <a:extLst xmlns:a="http://schemas.openxmlformats.org/drawingml/2006/main">
              <a:ext uri="{FF2B5EF4-FFF2-40B4-BE49-F238E27FC236}">
                <a16:creationId xmlns:a16="http://schemas.microsoft.com/office/drawing/2014/main" id="{42D28142-C3D4-4C31-AA86-0D187BD2C53F}"/>
              </a:ext>
            </a:extLst>
          </p:cNvPr>
          <p:cNvSpPr>
            <a:spLocks xmlns:a="http://schemas.openxmlformats.org/drawingml/2006/main" noGrp="1"/>
          </p:cNvSpPr>
          <p:nvPr/>
        </p:nvSpPr>
        <p:spPr>
          <a:xfrm xmlns:a="http://schemas.openxmlformats.org/drawingml/2006/main">
            <a:off x="466725" y="2266950"/>
            <a:ext cx="3971925" cy="6686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6282D"/>
                </a:solidFill>
                <a:latin typeface="Apple SD Gothic Neo"/>
                <a:ea typeface="Apple SD Gothic Neo"/>
                <a:cs typeface="Apple SD Gothic Neo"/>
              </a:defRPr>
            </a:pPr>
            <a:r>
              <a:rPr sz="1950" b="1">
                <a:solidFill>
                  <a:srgbClr val="26282D"/>
                </a:solidFill>
                <a:latin typeface="Apple SD Gothic Neo"/>
                <a:ea typeface="Apple SD Gothic Neo"/>
                <a:cs typeface="Apple SD Gothic Neo"/>
              </a:rPr>
              <a:t>후보 목록을 줘도 추천되지 않은</a:t>
            </a:r>
          </a:p>
          <a:p xmlns:a="http://schemas.openxmlformats.org/drawingml/2006/main">
            <a:pPr algn="l">
              <a:defRPr sz="1950" b="1">
                <a:solidFill>
                  <a:srgbClr val="26282D"/>
                </a:solidFill>
                <a:latin typeface="Apple SD Gothic Neo"/>
                <a:ea typeface="Apple SD Gothic Neo"/>
                <a:cs typeface="Apple SD Gothic Neo"/>
              </a:defRPr>
            </a:pPr>
            <a:r>
              <a:rPr sz="1950" b="1">
                <a:solidFill>
                  <a:srgbClr val="26282D"/>
                </a:solidFill>
                <a:latin typeface="Apple SD Gothic Neo"/>
                <a:ea typeface="Apple SD Gothic Neo"/>
                <a:cs typeface="Apple SD Gothic Neo"/>
              </a:rPr>
              <a:t>식당 후보의 평균 비율</a:t>
            </a:r>
          </a:p>
        </p:txBody>
      </p:sp>
      <p:sp>
        <p:nvSpPr>
          <p:cNvPr id="8" name="">
            <a:extLst xmlns:a="http://schemas.openxmlformats.org/drawingml/2006/main">
              <a:ext uri="{FF2B5EF4-FFF2-40B4-BE49-F238E27FC236}">
                <a16:creationId xmlns:a16="http://schemas.microsoft.com/office/drawing/2014/main" id="{EEBC80A2-6A76-4E6D-A3DE-CAC32C8C636B}"/>
              </a:ext>
            </a:extLst>
          </p:cNvPr>
          <p:cNvSpPr>
            <a:spLocks xmlns:a="http://schemas.openxmlformats.org/drawingml/2006/main" noGrp="1"/>
          </p:cNvSpPr>
          <p:nvPr/>
        </p:nvSpPr>
        <p:spPr>
          <a:xfrm xmlns:a="http://schemas.openxmlformats.org/drawingml/2006/main">
            <a:off x="466725" y="3067050"/>
            <a:ext cx="4019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미국 5개 도시·304개 동네·LLM 3종을</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분석한 2026년 프리프린트의 제한된 결과.</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한국의 미노출 비율로 적용하지 않습니다.</a:t>
            </a:r>
          </a:p>
        </p:txBody>
      </p:sp>
      <p:sp>
        <p:nvSpPr>
          <p:cNvPr id="9" name="">
            <a:extLst xmlns:a="http://schemas.openxmlformats.org/drawingml/2006/main">
              <a:ext uri="{FF2B5EF4-FFF2-40B4-BE49-F238E27FC236}">
                <a16:creationId xmlns:a16="http://schemas.microsoft.com/office/drawing/2014/main" id="{C0006D77-2BBB-4529-AD63-ED1F8436B7EC}"/>
              </a:ext>
            </a:extLst>
          </p:cNvPr>
          <p:cNvSpPr>
            <a:spLocks xmlns:a="http://schemas.openxmlformats.org/drawingml/2006/main" noGrp="1"/>
          </p:cNvSpPr>
          <p:nvPr/>
        </p:nvSpPr>
        <p:spPr>
          <a:xfrm xmlns:a="http://schemas.openxmlformats.org/drawingml/2006/main">
            <a:off x="466725" y="4400550"/>
            <a:ext cx="407670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국내에서는 같은 조건으로 대조</a:t>
            </a:r>
          </a:p>
        </p:txBody>
      </p:sp>
      <p:sp>
        <p:nvSpPr>
          <p:cNvPr id="10" name="">
            <a:extLst xmlns:a="http://schemas.openxmlformats.org/drawingml/2006/main">
              <a:ext uri="{FF2B5EF4-FFF2-40B4-BE49-F238E27FC236}">
                <a16:creationId xmlns:a16="http://schemas.microsoft.com/office/drawing/2014/main" id="{D830D2F8-A77A-4746-9A35-A0067057D9AB}"/>
              </a:ext>
            </a:extLst>
          </p:cNvPr>
          <p:cNvSpPr>
            <a:spLocks xmlns:a="http://schemas.openxmlformats.org/drawingml/2006/main" noGrp="1"/>
          </p:cNvSpPr>
          <p:nvPr/>
        </p:nvSpPr>
        <p:spPr>
          <a:xfrm xmlns:a="http://schemas.openxmlformats.org/drawingml/2006/main">
            <a:off x="466725" y="4743450"/>
            <a:ext cx="40767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결제 지역과 AI 추천 지역을 고객군·업종·</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예산·시점·언어에 맞춰 비교합니다.</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노출이 적다는 사실만으로 맛을 보증하거나</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매출 증가를 확정하지 않습니다.</a:t>
            </a:r>
          </a:p>
        </p:txBody>
      </p:sp>
      <p:graphicFrame>
        <p:nvGraphicFramePr>
          <p:cNvPr id="26" name=""/>
          <p:cNvGraphicFramePr/>
          <p:nvPr/>
        </p:nvGraphicFramePr>
        <p:xfrm>
          <a:off xmlns:a="http://schemas.openxmlformats.org/drawingml/2006/main" x="4829175" y="1438275"/>
          <a:ext xmlns:a="http://schemas.openxmlformats.org/drawingml/2006/main" cx="6915150" cy="3343275"/>
        </p:xfrm>
        <a:graphic xmlns:a="http://schemas.openxmlformats.org/drawingml/2006/main">
          <a:graphicData uri="http://schemas.openxmlformats.org/drawingml/2006/table">
            <a:tbl>
              <a:tblPr/>
              <a:tblGrid>
                <a:gridCol w="1066800"/>
                <a:gridCol w="2333625"/>
                <a:gridCol w="3514725"/>
              </a:tblGrid>
              <a:tr h="668655">
                <a:tc>
                  <a:txBody>
                    <a:bodyPr lIns="104775" tIns="66675" rIns="95250" bIns="66675"/>
                    <a:lstStyle/>
                    <a:p>
                      <a:r>
                        <a:rPr sz="1425" b="1">
                          <a:solidFill>
                            <a:srgbClr val="FFFFFF"/>
                          </a:solidFill>
                          <a:latin typeface="Apple SD Gothic Neo"/>
                          <a:ea typeface="Apple SD Gothic Neo"/>
                          <a:cs typeface="Apple SD Gothic Neo"/>
                        </a:rPr>
                        <a:t>관점</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기존에 알려진 접근</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히든픽의 제안</a:t>
                      </a:r>
                    </a:p>
                  </a:txBody>
                  <a:tcPr marL="91440" marR="91440" marT="45720" marB="45720" anchor="ctr">
                    <a:solidFill>
                      <a:srgbClr val="26282D"/>
                    </a:solidFill>
                  </a:tcPr>
                </a:tc>
              </a:tr>
              <a:tr h="668655">
                <a:tc>
                  <a:txBody>
                    <a:bodyPr lIns="104775" tIns="66675" rIns="95250" bIns="66675"/>
                    <a:lstStyle/>
                    <a:p>
                      <a:r>
                        <a:rPr sz="1425" b="0">
                          <a:solidFill>
                            <a:srgbClr val="26282D"/>
                          </a:solidFill>
                          <a:latin typeface="Apple SD Gothic Neo"/>
                          <a:ea typeface="Apple SD Gothic Neo"/>
                          <a:cs typeface="Apple SD Gothic Neo"/>
                        </a:rPr>
                        <a:t>발견</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결제·리뷰 기반 추천</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소비 대비 AI 노출 공백을</a:t>
                      </a:r>
                    </a:p>
                    <a:p>
                      <a:r>
                        <a:rPr sz="1425" b="0">
                          <a:solidFill>
                            <a:srgbClr val="26282D"/>
                          </a:solidFill>
                          <a:latin typeface="Apple SD Gothic Neo"/>
                          <a:ea typeface="Apple SD Gothic Neo"/>
                          <a:cs typeface="Apple SD Gothic Neo"/>
                        </a:rPr>
                        <a:t>제휴 탐색 신호로</a:t>
                      </a:r>
                    </a:p>
                  </a:txBody>
                  <a:tcPr marL="91440" marR="91440" marT="45720" marB="45720" anchor="ctr">
                    <a:solidFill>
                      <a:srgbClr val="FFFFFF"/>
                    </a:solidFill>
                  </a:tcPr>
                </a:tc>
              </a:tr>
              <a:tr h="668655">
                <a:tc>
                  <a:txBody>
                    <a:bodyPr lIns="104775" tIns="66675" rIns="95250" bIns="66675"/>
                    <a:lstStyle/>
                    <a:p>
                      <a:r>
                        <a:rPr sz="1425" b="0">
                          <a:solidFill>
                            <a:srgbClr val="26282D"/>
                          </a:solidFill>
                          <a:latin typeface="Apple SD Gothic Neo"/>
                          <a:ea typeface="Apple SD Gothic Neo"/>
                          <a:cs typeface="Apple SD Gothic Neo"/>
                        </a:rPr>
                        <a:t>가게 참여</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프로모션·광고·할인</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선정 이유와 손익을 보고</a:t>
                      </a:r>
                    </a:p>
                    <a:p>
                      <a:r>
                        <a:rPr sz="1425" b="0">
                          <a:solidFill>
                            <a:srgbClr val="26282D"/>
                          </a:solidFill>
                          <a:latin typeface="Apple SD Gothic Neo"/>
                          <a:ea typeface="Apple SD Gothic Neo"/>
                          <a:cs typeface="Apple SD Gothic Neo"/>
                        </a:rPr>
                        <a:t>점주가 참여 조건 선택</a:t>
                      </a:r>
                    </a:p>
                  </a:txBody>
                  <a:tcPr marL="91440" marR="91440" marT="45720" marB="45720" anchor="ctr">
                    <a:solidFill>
                      <a:srgbClr val="EEF1EA"/>
                    </a:solidFill>
                  </a:tcPr>
                </a:tc>
              </a:tr>
              <a:tr h="668655">
                <a:tc>
                  <a:txBody>
                    <a:bodyPr lIns="104775" tIns="66675" rIns="95250" bIns="66675"/>
                    <a:lstStyle/>
                    <a:p>
                      <a:r>
                        <a:rPr sz="1425" b="0">
                          <a:solidFill>
                            <a:srgbClr val="26282D"/>
                          </a:solidFill>
                          <a:latin typeface="Apple SD Gothic Neo"/>
                          <a:ea typeface="Apple SD Gothic Neo"/>
                          <a:cs typeface="Apple SD Gothic Neo"/>
                        </a:rPr>
                        <a:t>전환</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추천 클릭·혜택 사용</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조건·예산·방문·환불을</a:t>
                      </a:r>
                    </a:p>
                    <a:p>
                      <a:r>
                        <a:rPr sz="1425" b="0">
                          <a:solidFill>
                            <a:srgbClr val="26282D"/>
                          </a:solidFill>
                          <a:latin typeface="Apple SD Gothic Neo"/>
                          <a:ea typeface="Apple SD Gothic Neo"/>
                          <a:cs typeface="Apple SD Gothic Neo"/>
                        </a:rPr>
                        <a:t>같은 흐름으로 연결</a:t>
                      </a:r>
                    </a:p>
                  </a:txBody>
                  <a:tcPr marL="91440" marR="91440" marT="45720" marB="45720" anchor="ctr">
                    <a:solidFill>
                      <a:srgbClr val="FFFFFF"/>
                    </a:solidFill>
                  </a:tcPr>
                </a:tc>
              </a:tr>
              <a:tr h="668655">
                <a:tc>
                  <a:txBody>
                    <a:bodyPr lIns="104775" tIns="66675" rIns="95250" bIns="66675"/>
                    <a:lstStyle/>
                    <a:p>
                      <a:r>
                        <a:rPr sz="1425" b="0">
                          <a:solidFill>
                            <a:srgbClr val="26282D"/>
                          </a:solidFill>
                          <a:latin typeface="Apple SD Gothic Neo"/>
                          <a:ea typeface="Apple SD Gothic Neo"/>
                          <a:cs typeface="Apple SD Gothic Neo"/>
                        </a:rPr>
                        <a:t>평가</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거래액·노출량</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비교군 대비 추가 이익과</a:t>
                      </a:r>
                    </a:p>
                    <a:p>
                      <a:r>
                        <a:rPr sz="1425" b="0">
                          <a:solidFill>
                            <a:srgbClr val="26282D"/>
                          </a:solidFill>
                          <a:latin typeface="Apple SD Gothic Neo"/>
                          <a:ea typeface="Apple SD Gothic Neo"/>
                          <a:cs typeface="Apple SD Gothic Neo"/>
                        </a:rPr>
                        <a:t>소비자 경험 확인</a:t>
                      </a:r>
                    </a:p>
                  </a:txBody>
                  <a:tcPr marL="91440" marR="91440" marT="45720" marB="45720" anchor="ctr">
                    <a:solidFill>
                      <a:srgbClr val="EEF1EA"/>
                    </a:solidFill>
                  </a:tcPr>
                </a:tc>
              </a:tr>
            </a:tbl>
          </a:graphicData>
        </a:graphic>
      </p:graphicFrame>
      <p:sp>
        <p:nvSpPr>
          <p:cNvPr id="12" name="">
            <a:extLst xmlns:a="http://schemas.openxmlformats.org/drawingml/2006/main">
              <a:ext uri="{FF2B5EF4-FFF2-40B4-BE49-F238E27FC236}">
                <a16:creationId xmlns:a16="http://schemas.microsoft.com/office/drawing/2014/main" id="{56F08763-690B-42DC-8EC6-BBBD24E0C69E}"/>
              </a:ext>
            </a:extLst>
          </p:cNvPr>
          <p:cNvSpPr>
            <a:spLocks xmlns:a="http://schemas.openxmlformats.org/drawingml/2006/main" noGrp="1"/>
          </p:cNvSpPr>
          <p:nvPr/>
        </p:nvSpPr>
        <p:spPr>
          <a:xfrm xmlns:a="http://schemas.openxmlformats.org/drawingml/2006/main">
            <a:off x="4829175" y="5000625"/>
            <a:ext cx="6915150" cy="609600"/>
          </a:xfrm>
          <a:prstGeom xmlns:a="http://schemas.openxmlformats.org/drawingml/2006/main" prst="rect">
            <a:avLst/>
          </a:prstGeom>
          <a:solidFill xmlns:a="http://schemas.openxmlformats.org/drawingml/2006/main">
            <a:srgbClr val="EEF1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29B93F-2EC1-4363-BCE6-05A192E1BA78}"/>
              </a:ext>
            </a:extLst>
          </p:cNvPr>
          <p:cNvSpPr>
            <a:spLocks xmlns:a="http://schemas.openxmlformats.org/drawingml/2006/main" noGrp="1"/>
          </p:cNvSpPr>
          <p:nvPr/>
        </p:nvSpPr>
        <p:spPr>
          <a:xfrm xmlns:a="http://schemas.openxmlformats.org/drawingml/2006/main">
            <a:off x="4972050" y="5124450"/>
            <a:ext cx="6629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282D"/>
                </a:solidFill>
                <a:latin typeface="Apple SD Gothic Neo"/>
                <a:ea typeface="Apple SD Gothic Neo"/>
                <a:cs typeface="Apple SD Gothic Neo"/>
              </a:defRPr>
            </a:pPr>
            <a:r>
              <a:rPr sz="1500" b="1">
                <a:solidFill>
                  <a:srgbClr val="26282D"/>
                </a:solidFill>
                <a:latin typeface="Apple SD Gothic Neo"/>
                <a:ea typeface="Apple SD Gothic Neo"/>
                <a:cs typeface="Apple SD Gothic Neo"/>
              </a:rPr>
              <a:t>BC의 기존 결제 기반 맛집 서비스 eat.pl과 연결할 수 있는 확장 제안</a:t>
            </a:r>
          </a:p>
        </p:txBody>
      </p:sp>
      <p:sp>
        <p:nvSpPr>
          <p:cNvPr id="14" name="">
            <a:extLst xmlns:a="http://schemas.openxmlformats.org/drawingml/2006/main">
              <a:ext uri="{FF2B5EF4-FFF2-40B4-BE49-F238E27FC236}">
                <a16:creationId xmlns:a16="http://schemas.microsoft.com/office/drawing/2014/main" id="{5178DD7D-3D67-4E35-B21D-FD5674C5A0AD}"/>
              </a:ext>
            </a:extLst>
          </p:cNvPr>
          <p:cNvSpPr>
            <a:spLocks xmlns:a="http://schemas.openxmlformats.org/drawingml/2006/main" noGrp="1"/>
          </p:cNvSpPr>
          <p:nvPr/>
        </p:nvSpPr>
        <p:spPr>
          <a:xfrm xmlns:a="http://schemas.openxmlformats.org/drawingml/2006/main">
            <a:off x="4857750" y="5743575"/>
            <a:ext cx="681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6282D"/>
                </a:solidFill>
                <a:latin typeface="Apple SD Gothic Neo"/>
                <a:ea typeface="Apple SD Gothic Neo"/>
                <a:cs typeface="Apple SD Gothic Neo"/>
              </a:defRPr>
            </a:pPr>
            <a:r>
              <a:rPr sz="1500" b="0">
                <a:solidFill>
                  <a:srgbClr val="26282D"/>
                </a:solidFill>
                <a:latin typeface="Apple SD Gothic Neo"/>
                <a:ea typeface="Apple SD Gothic Neo"/>
                <a:cs typeface="Apple SD Gothic Neo"/>
              </a:rPr>
              <a:t>AI 순위 상승을 보장하기보다 BC 채널 안에서 새로운 발견 경로를 제안합니다.</a:t>
            </a:r>
          </a:p>
        </p:txBody>
      </p:sp>
      <p:sp>
        <p:nvSpPr>
          <p:cNvPr id="15" name="">
            <a:extLst xmlns:a="http://schemas.openxmlformats.org/drawingml/2006/main">
              <a:ext uri="{FF2B5EF4-FFF2-40B4-BE49-F238E27FC236}">
                <a16:creationId xmlns:a16="http://schemas.microsoft.com/office/drawing/2014/main" id="{3F7FD793-D668-4CDE-9286-559242C903E3}"/>
              </a:ext>
            </a:extLst>
          </p:cNvPr>
          <p:cNvSpPr>
            <a:spLocks xmlns:a="http://schemas.openxmlformats.org/drawingml/2006/main" noGrp="1"/>
          </p:cNvSpPr>
          <p:nvPr/>
        </p:nvSpPr>
        <p:spPr>
          <a:xfrm xmlns:a="http://schemas.openxmlformats.org/drawingml/2006/main">
            <a:off x="457200" y="6248400"/>
            <a:ext cx="1123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6F7B73"/>
                </a:solidFill>
                <a:latin typeface="Apple SD Gothic Neo"/>
                <a:ea typeface="Apple SD Gothic Neo"/>
                <a:cs typeface="Apple SD Gothic Neo"/>
              </a:defRPr>
            </a:pPr>
            <a:r>
              <a:rPr sz="1050" b="0">
                <a:solidFill>
                  <a:srgbClr val="6F7B73"/>
                </a:solidFill>
                <a:latin typeface="Apple SD Gothic Neo"/>
                <a:ea typeface="Apple SD Gothic Neo"/>
                <a:cs typeface="Apple SD Gothic Neo"/>
              </a:rPr>
              <a:t>출처: Chen·Weng·Moro (2026), arXiv:2607.06260v1 / BC카드 라이너 협약 보도자료 (2025.07.22)</a:t>
            </a:r>
          </a:p>
        </p:txBody>
      </p:sp>
    </p:spTree>
    <p:extLst>
      <p:ext uri="{BB962C8B-B14F-4D97-AF65-F5344CB8AC3E}">
        <p14:creationId xmlns:p14="http://schemas.microsoft.com/office/powerpoint/2010/main" val="1072258430"/>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926C5D6-995E-44E5-8D00-4F02779C96C5}"/>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242,574행의 BC 소비 기록에서, 강원을 먼저 살펴봅니다.</a:t>
            </a:r>
          </a:p>
        </p:txBody>
      </p:sp>
      <p:sp>
        <p:nvSpPr>
          <p:cNvPr id="2" name="">
            <a:extLst xmlns:a="http://schemas.openxmlformats.org/drawingml/2006/main">
              <a:ext uri="{FF2B5EF4-FFF2-40B4-BE49-F238E27FC236}">
                <a16:creationId xmlns:a16="http://schemas.microsoft.com/office/drawing/2014/main" id="{C2B2456B-B04B-4C72-ADEA-F6BB0CA02970}"/>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2026년 1–6월 · 17개 시도 · 255개 관측 시도–시군구 조합 · 제공 11개 업종</a:t>
            </a:r>
          </a:p>
        </p:txBody>
      </p:sp>
      <p:sp>
        <p:nvSpPr>
          <p:cNvPr id="3" name="">
            <a:extLst xmlns:a="http://schemas.openxmlformats.org/drawingml/2006/main">
              <a:ext uri="{FF2B5EF4-FFF2-40B4-BE49-F238E27FC236}">
                <a16:creationId xmlns:a16="http://schemas.microsoft.com/office/drawing/2014/main" id="{29533655-F0F1-4B86-907D-6BD29BA637F4}"/>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7A8B0E-0002-44AE-811E-565F9AE75D58}"/>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원자료 재계산 · 집계 범위와 산식은 본문 및 부록 참조</a:t>
            </a:r>
          </a:p>
        </p:txBody>
      </p:sp>
      <p:sp>
        <p:nvSpPr>
          <p:cNvPr id="5" name="">
            <a:extLst xmlns:a="http://schemas.openxmlformats.org/drawingml/2006/main">
              <a:ext uri="{FF2B5EF4-FFF2-40B4-BE49-F238E27FC236}">
                <a16:creationId xmlns:a16="http://schemas.microsoft.com/office/drawing/2014/main" id="{567F6DEB-D74A-4605-85A1-699F477D29B2}"/>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04</a:t>
            </a:r>
          </a:p>
        </p:txBody>
      </p:sp>
      <p:sp>
        <p:nvSpPr>
          <p:cNvPr id="6" name="">
            <a:extLst xmlns:a="http://schemas.openxmlformats.org/drawingml/2006/main">
              <a:ext uri="{FF2B5EF4-FFF2-40B4-BE49-F238E27FC236}">
                <a16:creationId xmlns:a16="http://schemas.microsoft.com/office/drawing/2014/main" id="{F8FF6E87-10F8-47A7-A2E9-A3DB2DADD30C}"/>
              </a:ext>
            </a:extLst>
          </p:cNvPr>
          <p:cNvSpPr>
            <a:spLocks xmlns:a="http://schemas.openxmlformats.org/drawingml/2006/main" noGrp="1"/>
          </p:cNvSpPr>
          <p:nvPr/>
        </p:nvSpPr>
        <p:spPr>
          <a:xfrm xmlns:a="http://schemas.openxmlformats.org/drawingml/2006/main">
            <a:off x="438150" y="1343025"/>
            <a:ext cx="523875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원자료가 알려주는 범위</a:t>
            </a:r>
          </a:p>
        </p:txBody>
      </p:sp>
      <p:graphicFrame>
        <p:nvGraphicFramePr>
          <p:cNvPr id="20" name=""/>
          <p:cNvGraphicFramePr/>
          <p:nvPr/>
        </p:nvGraphicFramePr>
        <p:xfrm>
          <a:off xmlns:a="http://schemas.openxmlformats.org/drawingml/2006/main" x="438150" y="1752600"/>
          <a:ext xmlns:a="http://schemas.openxmlformats.org/drawingml/2006/main" cx="5124450" cy="2790825"/>
        </p:xfrm>
        <a:graphic xmlns:a="http://schemas.openxmlformats.org/drawingml/2006/main">
          <a:graphicData uri="http://schemas.openxmlformats.org/drawingml/2006/table">
            <a:tbl>
              <a:tblPr/>
              <a:tblGrid>
                <a:gridCol w="2066925"/>
                <a:gridCol w="3057525"/>
              </a:tblGrid>
              <a:tr h="558165">
                <a:tc>
                  <a:txBody>
                    <a:bodyPr lIns="104775" tIns="66675" rIns="95250" bIns="66675"/>
                    <a:lstStyle/>
                    <a:p>
                      <a:r>
                        <a:rPr sz="1425" b="1">
                          <a:solidFill>
                            <a:srgbClr val="FFFFFF"/>
                          </a:solidFill>
                          <a:latin typeface="Apple SD Gothic Neo"/>
                          <a:ea typeface="Apple SD Gothic Neo"/>
                          <a:cs typeface="Apple SD Gothic Neo"/>
                        </a:rPr>
                        <a:t>분석 단위</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읽을 수 있는 정보</a:t>
                      </a:r>
                    </a:p>
                  </a:txBody>
                  <a:tcPr marL="91440" marR="91440" marT="45720" marB="45720" anchor="ctr">
                    <a:solidFill>
                      <a:srgbClr val="26282D"/>
                    </a:solidFill>
                  </a:tcPr>
                </a:tc>
              </a:tr>
              <a:tr h="558165">
                <a:tc>
                  <a:txBody>
                    <a:bodyPr lIns="104775" tIns="66675" rIns="95250" bIns="66675"/>
                    <a:lstStyle/>
                    <a:p>
                      <a:r>
                        <a:rPr sz="1425" b="0">
                          <a:solidFill>
                            <a:srgbClr val="26282D"/>
                          </a:solidFill>
                          <a:latin typeface="Apple SD Gothic Neo"/>
                          <a:ea typeface="Apple SD Gothic Neo"/>
                          <a:cs typeface="Apple SD Gothic Neo"/>
                        </a:rPr>
                        <a:t>월 × 시군구 × 업종</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시기별 소비 변화와 탐색 지역</a:t>
                      </a:r>
                    </a:p>
                  </a:txBody>
                  <a:tcPr marL="91440" marR="91440" marT="45720" marB="45720" anchor="ctr">
                    <a:solidFill>
                      <a:srgbClr val="FFFFFF"/>
                    </a:solidFill>
                  </a:tcPr>
                </a:tc>
              </a:tr>
              <a:tr h="558165">
                <a:tc>
                  <a:txBody>
                    <a:bodyPr lIns="104775" tIns="66675" rIns="95250" bIns="66675"/>
                    <a:lstStyle/>
                    <a:p>
                      <a:r>
                        <a:rPr sz="1425" b="0">
                          <a:solidFill>
                            <a:srgbClr val="26282D"/>
                          </a:solidFill>
                          <a:latin typeface="Apple SD Gothic Neo"/>
                          <a:ea typeface="Apple SD Gothic Neo"/>
                          <a:cs typeface="Apple SD Gothic Neo"/>
                        </a:rPr>
                        <a:t>성별 × 연령대</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같은 지역의 고객군별 소비 분포</a:t>
                      </a:r>
                    </a:p>
                  </a:txBody>
                  <a:tcPr marL="91440" marR="91440" marT="45720" marB="45720" anchor="ctr">
                    <a:solidFill>
                      <a:srgbClr val="EEF1EA"/>
                    </a:solidFill>
                  </a:tcPr>
                </a:tc>
              </a:tr>
              <a:tr h="558165">
                <a:tc>
                  <a:txBody>
                    <a:bodyPr lIns="104775" tIns="66675" rIns="95250" bIns="66675"/>
                    <a:lstStyle/>
                    <a:p>
                      <a:r>
                        <a:rPr sz="1425" b="0">
                          <a:solidFill>
                            <a:srgbClr val="26282D"/>
                          </a:solidFill>
                          <a:latin typeface="Apple SD Gothic Neo"/>
                          <a:ea typeface="Apple SD Gothic Neo"/>
                          <a:cs typeface="Apple SD Gothic Neo"/>
                        </a:rPr>
                        <a:t>금액(원) × 건수(건)</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금액 집중도와 건수의 일관성</a:t>
                      </a:r>
                    </a:p>
                  </a:txBody>
                  <a:tcPr marL="91440" marR="91440" marT="45720" marB="45720" anchor="ctr">
                    <a:solidFill>
                      <a:srgbClr val="FFFFFF"/>
                    </a:solidFill>
                  </a:tcPr>
                </a:tc>
              </a:tr>
              <a:tr h="558165">
                <a:tc>
                  <a:txBody>
                    <a:bodyPr lIns="104775" tIns="66675" rIns="95250" bIns="66675"/>
                    <a:lstStyle/>
                    <a:p>
                      <a:r>
                        <a:rPr sz="1425" b="0">
                          <a:solidFill>
                            <a:srgbClr val="26282D"/>
                          </a:solidFill>
                          <a:latin typeface="Apple SD Gothic Neo"/>
                          <a:ea typeface="Apple SD Gothic Neo"/>
                          <a:cs typeface="Apple SD Gothic Neo"/>
                        </a:rPr>
                        <a:t>없는 정보</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개별 점포 ID·거주지·관광 목적</a:t>
                      </a:r>
                    </a:p>
                    <a:p>
                      <a:r>
                        <a:rPr sz="1425" b="0">
                          <a:solidFill>
                            <a:srgbClr val="26282D"/>
                          </a:solidFill>
                          <a:latin typeface="Apple SD Gothic Neo"/>
                          <a:ea typeface="Apple SD Gothic Neo"/>
                          <a:cs typeface="Apple SD Gothic Neo"/>
                        </a:rPr>
                        <a:t>AI 추천 로그</a:t>
                      </a:r>
                    </a:p>
                  </a:txBody>
                  <a:tcPr marL="91440" marR="91440" marT="45720" marB="45720" anchor="ctr">
                    <a:solidFill>
                      <a:srgbClr val="EEF1EA"/>
                    </a:solidFill>
                  </a:tcPr>
                </a:tc>
              </a:tr>
            </a:tbl>
          </a:graphicData>
        </a:graphic>
      </p:graphicFrame>
      <p:sp>
        <p:nvSpPr>
          <p:cNvPr id="8" name="">
            <a:extLst xmlns:a="http://schemas.openxmlformats.org/drawingml/2006/main">
              <a:ext uri="{FF2B5EF4-FFF2-40B4-BE49-F238E27FC236}">
                <a16:creationId xmlns:a16="http://schemas.microsoft.com/office/drawing/2014/main" id="{D0516881-21D7-4534-B921-DDDE1A450CA0}"/>
              </a:ext>
            </a:extLst>
          </p:cNvPr>
          <p:cNvSpPr>
            <a:spLocks xmlns:a="http://schemas.openxmlformats.org/drawingml/2006/main" noGrp="1"/>
          </p:cNvSpPr>
          <p:nvPr/>
        </p:nvSpPr>
        <p:spPr>
          <a:xfrm xmlns:a="http://schemas.openxmlformats.org/drawingml/2006/main">
            <a:off x="466725" y="4762500"/>
            <a:ext cx="49815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성별 1·2 표본을 합산</a:t>
            </a:r>
          </a:p>
        </p:txBody>
      </p:sp>
      <p:sp>
        <p:nvSpPr>
          <p:cNvPr id="9" name="">
            <a:extLst xmlns:a="http://schemas.openxmlformats.org/drawingml/2006/main">
              <a:ext uri="{FF2B5EF4-FFF2-40B4-BE49-F238E27FC236}">
                <a16:creationId xmlns:a16="http://schemas.microsoft.com/office/drawing/2014/main" id="{D8306057-9F13-4AEB-A47A-874A2048E260}"/>
              </a:ext>
            </a:extLst>
          </p:cNvPr>
          <p:cNvSpPr>
            <a:spLocks xmlns:a="http://schemas.openxmlformats.org/drawingml/2006/main" noGrp="1"/>
          </p:cNvSpPr>
          <p:nvPr/>
        </p:nvSpPr>
        <p:spPr>
          <a:xfrm xmlns:a="http://schemas.openxmlformats.org/drawingml/2006/main">
            <a:off x="466725" y="515302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외국인 3과 미상 x는 분리합니다.</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x는 13,161행이며 법인으로 해석하지 않습니다.</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BC 표본은 전체 시장이나 점포별 매출이 아닙니다.</a:t>
            </a:r>
          </a:p>
        </p:txBody>
      </p:sp>
      <p:sp>
        <p:nvSpPr>
          <p:cNvPr id="10" name="">
            <a:extLst xmlns:a="http://schemas.openxmlformats.org/drawingml/2006/main">
              <a:ext uri="{FF2B5EF4-FFF2-40B4-BE49-F238E27FC236}">
                <a16:creationId xmlns:a16="http://schemas.microsoft.com/office/drawing/2014/main" id="{A61F3954-6443-4EF2-8AF1-67C76D0144EC}"/>
              </a:ext>
            </a:extLst>
          </p:cNvPr>
          <p:cNvSpPr>
            <a:spLocks xmlns:a="http://schemas.openxmlformats.org/drawingml/2006/main" noGrp="1"/>
          </p:cNvSpPr>
          <p:nvPr/>
        </p:nvSpPr>
        <p:spPr>
          <a:xfrm xmlns:a="http://schemas.openxmlformats.org/drawingml/2006/main">
            <a:off x="5905500" y="1343025"/>
            <a:ext cx="563880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4월 대비 5월 금액 증가율</a:t>
            </a:r>
          </a:p>
        </p:txBody>
      </p:sp>
      <p:graphicFrame>
        <p:nvGraphicFramePr>
          <p:cNvPr id="24" name="Chart"/>
          <p:cNvGraphicFramePr/>
          <p:nvPr/>
        </p:nvGraphicFramePr>
        <p:xfrm>
          <a:off xmlns:a="http://schemas.openxmlformats.org/drawingml/2006/main" x="5772150" y="1743075"/>
          <a:ext xmlns:a="http://schemas.openxmlformats.org/drawingml/2006/main" cx="6000750" cy="2933700"/>
        </p:xfrm>
        <a:graphic xmlns:a="http://schemas.openxmlformats.org/drawingml/2006/main">
          <a:graphicData uri="http://schemas.openxmlformats.org/drawingml/2006/chart">
            <c:chart xmlns:r="http://schemas.openxmlformats.org/officeDocument/2006/relationships" xmlns:c="http://schemas.openxmlformats.org/drawingml/2006/chart" r:id="Rebe1677985c24057"/>
          </a:graphicData>
        </a:graphic>
      </p:graphicFrame>
      <p:sp>
        <p:nvSpPr>
          <p:cNvPr id="12" name="">
            <a:extLst xmlns:a="http://schemas.openxmlformats.org/drawingml/2006/main">
              <a:ext uri="{FF2B5EF4-FFF2-40B4-BE49-F238E27FC236}">
                <a16:creationId xmlns:a16="http://schemas.microsoft.com/office/drawing/2014/main" id="{9C753D35-021A-4C51-98A4-E3D86D464257}"/>
              </a:ext>
            </a:extLst>
          </p:cNvPr>
          <p:cNvSpPr>
            <a:spLocks xmlns:a="http://schemas.openxmlformats.org/drawingml/2006/main" noGrp="1"/>
          </p:cNvSpPr>
          <p:nvPr/>
        </p:nvSpPr>
        <p:spPr>
          <a:xfrm xmlns:a="http://schemas.openxmlformats.org/drawingml/2006/main">
            <a:off x="5953125" y="4829175"/>
            <a:ext cx="5505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ED334C"/>
                </a:solidFill>
                <a:latin typeface="Apple SD Gothic Neo"/>
                <a:ea typeface="Apple SD Gothic Neo"/>
                <a:cs typeface="Apple SD Gothic Neo"/>
              </a:defRPr>
            </a:pPr>
            <a:r>
              <a:rPr sz="2775" b="1">
                <a:solidFill>
                  <a:srgbClr val="ED334C"/>
                </a:solidFill>
                <a:latin typeface="Apple SD Gothic Neo"/>
                <a:ea typeface="Apple SD Gothic Neo"/>
                <a:cs typeface="Apple SD Gothic Neo"/>
              </a:rPr>
              <a:t>강원 +15.95%</a:t>
            </a:r>
          </a:p>
        </p:txBody>
      </p:sp>
      <p:sp>
        <p:nvSpPr>
          <p:cNvPr id="13" name="">
            <a:extLst xmlns:a="http://schemas.openxmlformats.org/drawingml/2006/main">
              <a:ext uri="{FF2B5EF4-FFF2-40B4-BE49-F238E27FC236}">
                <a16:creationId xmlns:a16="http://schemas.microsoft.com/office/drawing/2014/main" id="{0D557FB9-1F14-4FF8-826D-D8056362207D}"/>
              </a:ext>
            </a:extLst>
          </p:cNvPr>
          <p:cNvSpPr>
            <a:spLocks xmlns:a="http://schemas.openxmlformats.org/drawingml/2006/main" noGrp="1"/>
          </p:cNvSpPr>
          <p:nvPr/>
        </p:nvSpPr>
        <p:spPr>
          <a:xfrm xmlns:a="http://schemas.openxmlformats.org/drawingml/2006/main">
            <a:off x="5953125" y="5381625"/>
            <a:ext cx="55149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일평균 증가율은 17개 시도 중 최고, 전국은 +5.80%.</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4월 30일·5월 31일로 보정한 값입니다.</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계절·연휴·물가를 통제한 장기 성장률은 아닙니다.</a:t>
            </a:r>
          </a:p>
        </p:txBody>
      </p:sp>
    </p:spTree>
    <p:extLst>
      <p:ext uri="{BB962C8B-B14F-4D97-AF65-F5344CB8AC3E}">
        <p14:creationId xmlns:p14="http://schemas.microsoft.com/office/powerpoint/2010/main" val="379435826"/>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E8A8C3-9907-4E69-BB2D-D2E373AC1F27}"/>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원주의 소비 기반은 고객군과 분기를 나눠도 확인됩니다.</a:t>
            </a:r>
          </a:p>
        </p:txBody>
      </p:sp>
      <p:sp>
        <p:nvSpPr>
          <p:cNvPr id="2" name="">
            <a:extLst xmlns:a="http://schemas.openxmlformats.org/drawingml/2006/main">
              <a:ext uri="{FF2B5EF4-FFF2-40B4-BE49-F238E27FC236}">
                <a16:creationId xmlns:a16="http://schemas.microsoft.com/office/drawing/2014/main" id="{18B699B8-EF93-4F74-AD3A-0E98E2CC2138}"/>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강원 일반한식(8001) · 각 고객군의 강원 18개 시군구 금액 합계 대비 지역 비중</a:t>
            </a:r>
          </a:p>
        </p:txBody>
      </p:sp>
      <p:sp>
        <p:nvSpPr>
          <p:cNvPr id="3" name="">
            <a:extLst xmlns:a="http://schemas.openxmlformats.org/drawingml/2006/main">
              <a:ext uri="{FF2B5EF4-FFF2-40B4-BE49-F238E27FC236}">
                <a16:creationId xmlns:a16="http://schemas.microsoft.com/office/drawing/2014/main" id="{C613BF1C-50DA-4427-BD9A-9DBB95D1E959}"/>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620094-1AE4-4F47-92E5-FCF2E03559BB}"/>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원자료 재계산 · 집계 범위와 산식은 본문 및 부록 참조</a:t>
            </a:r>
          </a:p>
        </p:txBody>
      </p:sp>
      <p:sp>
        <p:nvSpPr>
          <p:cNvPr id="5" name="">
            <a:extLst xmlns:a="http://schemas.openxmlformats.org/drawingml/2006/main">
              <a:ext uri="{FF2B5EF4-FFF2-40B4-BE49-F238E27FC236}">
                <a16:creationId xmlns:a16="http://schemas.microsoft.com/office/drawing/2014/main" id="{A8A2542D-B64A-4FAF-A2DC-4D3FD53DD6EC}"/>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05</a:t>
            </a:r>
          </a:p>
        </p:txBody>
      </p:sp>
      <p:sp>
        <p:nvSpPr>
          <p:cNvPr id="6" name="">
            <a:extLst xmlns:a="http://schemas.openxmlformats.org/drawingml/2006/main">
              <a:ext uri="{FF2B5EF4-FFF2-40B4-BE49-F238E27FC236}">
                <a16:creationId xmlns:a16="http://schemas.microsoft.com/office/drawing/2014/main" id="{DF49858D-8F63-4F00-A015-5724B644C60B}"/>
              </a:ext>
            </a:extLst>
          </p:cNvPr>
          <p:cNvSpPr>
            <a:spLocks xmlns:a="http://schemas.openxmlformats.org/drawingml/2006/main" noGrp="1"/>
          </p:cNvSpPr>
          <p:nvPr/>
        </p:nvSpPr>
        <p:spPr>
          <a:xfrm xmlns:a="http://schemas.openxmlformats.org/drawingml/2006/main">
            <a:off x="447675" y="1343025"/>
            <a:ext cx="60483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상반기 고객군별 금액점유율</a:t>
            </a:r>
          </a:p>
        </p:txBody>
      </p:sp>
      <p:graphicFrame>
        <p:nvGraphicFramePr>
          <p:cNvPr id="20" name="Chart"/>
          <p:cNvGraphicFramePr/>
          <p:nvPr/>
        </p:nvGraphicFramePr>
        <p:xfrm>
          <a:off xmlns:a="http://schemas.openxmlformats.org/drawingml/2006/main" x="314325" y="1819275"/>
          <a:ext xmlns:a="http://schemas.openxmlformats.org/drawingml/2006/main" cx="6172200" cy="3409950"/>
        </p:xfrm>
        <a:graphic xmlns:a="http://schemas.openxmlformats.org/drawingml/2006/main">
          <a:graphicData uri="http://schemas.openxmlformats.org/drawingml/2006/chart">
            <c:chart xmlns:r="http://schemas.openxmlformats.org/officeDocument/2006/relationships" xmlns:c="http://schemas.openxmlformats.org/drawingml/2006/chart" r:id="Rfe067537cd794c63"/>
          </a:graphicData>
        </a:graphic>
      </p:graphicFrame>
      <p:sp>
        <p:nvSpPr>
          <p:cNvPr id="8" name="">
            <a:extLst xmlns:a="http://schemas.openxmlformats.org/drawingml/2006/main">
              <a:ext uri="{FF2B5EF4-FFF2-40B4-BE49-F238E27FC236}">
                <a16:creationId xmlns:a16="http://schemas.microsoft.com/office/drawing/2014/main" id="{95F786E2-6051-4DEB-AA02-B9A168A748AC}"/>
              </a:ext>
            </a:extLst>
          </p:cNvPr>
          <p:cNvSpPr>
            <a:spLocks xmlns:a="http://schemas.openxmlformats.org/drawingml/2006/main" noGrp="1"/>
          </p:cNvSpPr>
          <p:nvPr/>
        </p:nvSpPr>
        <p:spPr>
          <a:xfrm xmlns:a="http://schemas.openxmlformats.org/drawingml/2006/main">
            <a:off x="466725" y="5524500"/>
            <a:ext cx="6029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원주는 20대 여성 일반한식 소비에서 강릉 다음이며,</a:t>
            </a:r>
          </a:p>
          <a:p xmlns:a="http://schemas.openxmlformats.org/drawingml/2006/main">
            <a:pPr algn="l">
              <a:defRPr sz="1650" b="0">
                <a:solidFill>
                  <a:srgbClr val="26282D"/>
                </a:solidFill>
                <a:latin typeface="Apple SD Gothic Neo"/>
                <a:ea typeface="Apple SD Gothic Neo"/>
                <a:cs typeface="Apple SD Gothic Neo"/>
              </a:defRPr>
            </a:pPr>
            <a:r>
              <a:rPr sz="1650" b="0">
                <a:solidFill>
                  <a:srgbClr val="26282D"/>
                </a:solidFill>
                <a:latin typeface="Apple SD Gothic Neo"/>
                <a:ea typeface="Apple SD Gothic Neo"/>
                <a:cs typeface="Apple SD Gothic Neo"/>
              </a:rPr>
              <a:t>성별1·2 전 연령에서는 금액점유율 1위입니다.</a:t>
            </a:r>
          </a:p>
        </p:txBody>
      </p:sp>
      <p:sp>
        <p:nvSpPr>
          <p:cNvPr id="9" name="">
            <a:extLst xmlns:a="http://schemas.openxmlformats.org/drawingml/2006/main">
              <a:ext uri="{FF2B5EF4-FFF2-40B4-BE49-F238E27FC236}">
                <a16:creationId xmlns:a16="http://schemas.microsoft.com/office/drawing/2014/main" id="{4B45F4C6-49F4-47DA-A92A-0C4724138FD3}"/>
              </a:ext>
            </a:extLst>
          </p:cNvPr>
          <p:cNvSpPr>
            <a:spLocks xmlns:a="http://schemas.openxmlformats.org/drawingml/2006/main" noGrp="1"/>
          </p:cNvSpPr>
          <p:nvPr/>
        </p:nvSpPr>
        <p:spPr>
          <a:xfrm xmlns:a="http://schemas.openxmlformats.org/drawingml/2006/main">
            <a:off x="6819900" y="1343025"/>
            <a:ext cx="481965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20대 여성의 분기별 금액점유율</a:t>
            </a:r>
          </a:p>
        </p:txBody>
      </p:sp>
      <p:graphicFrame>
        <p:nvGraphicFramePr>
          <p:cNvPr id="23" name=""/>
          <p:cNvGraphicFramePr/>
          <p:nvPr/>
        </p:nvGraphicFramePr>
        <p:xfrm>
          <a:off xmlns:a="http://schemas.openxmlformats.org/drawingml/2006/main" x="6800850" y="1790700"/>
          <a:ext xmlns:a="http://schemas.openxmlformats.org/drawingml/2006/main" cx="4924425" cy="2257425"/>
        </p:xfrm>
        <a:graphic xmlns:a="http://schemas.openxmlformats.org/drawingml/2006/main">
          <a:graphicData uri="http://schemas.openxmlformats.org/drawingml/2006/table">
            <a:tbl>
              <a:tblPr/>
              <a:tblGrid>
                <a:gridCol w="1266825"/>
                <a:gridCol w="1219200"/>
                <a:gridCol w="1219200"/>
                <a:gridCol w="1219200"/>
              </a:tblGrid>
              <a:tr h="564356">
                <a:tc>
                  <a:txBody>
                    <a:bodyPr lIns="104775" tIns="66675" rIns="95250" bIns="66675"/>
                    <a:lstStyle/>
                    <a:p>
                      <a:r>
                        <a:rPr sz="1500" b="1">
                          <a:solidFill>
                            <a:srgbClr val="FFFFFF"/>
                          </a:solidFill>
                          <a:latin typeface="Apple SD Gothic Neo"/>
                          <a:ea typeface="Apple SD Gothic Neo"/>
                          <a:cs typeface="Apple SD Gothic Neo"/>
                        </a:rPr>
                        <a:t>지역</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1분기</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2분기</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순위 유지</a:t>
                      </a:r>
                    </a:p>
                  </a:txBody>
                  <a:tcPr marL="91440" marR="91440" marT="45720" marB="45720" anchor="ctr">
                    <a:solidFill>
                      <a:srgbClr val="26282D"/>
                    </a:solidFill>
                  </a:tcPr>
                </a:tc>
              </a:tr>
              <a:tr h="564356">
                <a:tc>
                  <a:txBody>
                    <a:bodyPr lIns="104775" tIns="66675" rIns="95250" bIns="66675"/>
                    <a:lstStyle/>
                    <a:p>
                      <a:r>
                        <a:rPr sz="1500" b="0">
                          <a:solidFill>
                            <a:srgbClr val="26282D"/>
                          </a:solidFill>
                          <a:latin typeface="Apple SD Gothic Neo"/>
                          <a:ea typeface="Apple SD Gothic Neo"/>
                          <a:cs typeface="Apple SD Gothic Neo"/>
                        </a:rPr>
                        <a:t>강릉</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26.47%</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24.46%</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1위</a:t>
                      </a:r>
                    </a:p>
                  </a:txBody>
                  <a:tcPr marL="91440" marR="91440" marT="45720" marB="45720" anchor="ctr">
                    <a:solidFill>
                      <a:srgbClr val="FFFFFF"/>
                    </a:solidFill>
                  </a:tcPr>
                </a:tc>
              </a:tr>
              <a:tr h="564356">
                <a:tc>
                  <a:txBody>
                    <a:bodyPr lIns="104775" tIns="66675" rIns="95250" bIns="66675"/>
                    <a:lstStyle/>
                    <a:p>
                      <a:r>
                        <a:rPr sz="1500" b="0">
                          <a:solidFill>
                            <a:srgbClr val="26282D"/>
                          </a:solidFill>
                          <a:latin typeface="Apple SD Gothic Neo"/>
                          <a:ea typeface="Apple SD Gothic Neo"/>
                          <a:cs typeface="Apple SD Gothic Neo"/>
                        </a:rPr>
                        <a:t>원주</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18.89%</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20.26%</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2위</a:t>
                      </a:r>
                    </a:p>
                  </a:txBody>
                  <a:tcPr marL="91440" marR="91440" marT="45720" marB="45720" anchor="ctr">
                    <a:solidFill>
                      <a:srgbClr val="EEF1EA"/>
                    </a:solidFill>
                  </a:tcPr>
                </a:tc>
              </a:tr>
              <a:tr h="564356">
                <a:tc>
                  <a:txBody>
                    <a:bodyPr lIns="104775" tIns="66675" rIns="95250" bIns="66675"/>
                    <a:lstStyle/>
                    <a:p>
                      <a:r>
                        <a:rPr sz="1500" b="0">
                          <a:solidFill>
                            <a:srgbClr val="26282D"/>
                          </a:solidFill>
                          <a:latin typeface="Apple SD Gothic Neo"/>
                          <a:ea typeface="Apple SD Gothic Neo"/>
                          <a:cs typeface="Apple SD Gothic Neo"/>
                        </a:rPr>
                        <a:t>춘천</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17.43%</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18.98%</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3위</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C85D6C22-E0F7-42C9-BCD1-D464CBD6FCE9}"/>
              </a:ext>
            </a:extLst>
          </p:cNvPr>
          <p:cNvSpPr>
            <a:spLocks xmlns:a="http://schemas.openxmlformats.org/drawingml/2006/main" noGrp="1"/>
          </p:cNvSpPr>
          <p:nvPr/>
        </p:nvSpPr>
        <p:spPr>
          <a:xfrm xmlns:a="http://schemas.openxmlformats.org/drawingml/2006/main">
            <a:off x="6838950" y="4295775"/>
            <a:ext cx="4867275"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건수로 봐도 같은 방향</a:t>
            </a:r>
          </a:p>
        </p:txBody>
      </p:sp>
      <p:sp>
        <p:nvSpPr>
          <p:cNvPr id="12" name="">
            <a:extLst xmlns:a="http://schemas.openxmlformats.org/drawingml/2006/main">
              <a:ext uri="{FF2B5EF4-FFF2-40B4-BE49-F238E27FC236}">
                <a16:creationId xmlns:a16="http://schemas.microsoft.com/office/drawing/2014/main" id="{ADCF8766-A3F9-4761-AB31-32A1EC0ACDA4}"/>
              </a:ext>
            </a:extLst>
          </p:cNvPr>
          <p:cNvSpPr>
            <a:spLocks xmlns:a="http://schemas.openxmlformats.org/drawingml/2006/main" noGrp="1"/>
          </p:cNvSpPr>
          <p:nvPr/>
        </p:nvSpPr>
        <p:spPr>
          <a:xfrm xmlns:a="http://schemas.openxmlformats.org/drawingml/2006/main">
            <a:off x="6838950" y="4638675"/>
            <a:ext cx="48672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원주 건수점유율도 19.66%에서 21.66%로</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늘었습니다. 18개 시군구 모두 6개월 기록이</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존재해 한 달의 금액 급증만으로 고르지 않았습니다.</a:t>
            </a:r>
          </a:p>
        </p:txBody>
      </p:sp>
      <p:sp>
        <p:nvSpPr>
          <p:cNvPr id="13" name="">
            <a:extLst xmlns:a="http://schemas.openxmlformats.org/drawingml/2006/main">
              <a:ext uri="{FF2B5EF4-FFF2-40B4-BE49-F238E27FC236}">
                <a16:creationId xmlns:a16="http://schemas.microsoft.com/office/drawing/2014/main" id="{A58E2FD0-306C-4DEE-86E3-DA8A5BA5415A}"/>
              </a:ext>
            </a:extLst>
          </p:cNvPr>
          <p:cNvSpPr>
            <a:spLocks xmlns:a="http://schemas.openxmlformats.org/drawingml/2006/main" noGrp="1"/>
          </p:cNvSpPr>
          <p:nvPr/>
        </p:nvSpPr>
        <p:spPr>
          <a:xfrm xmlns:a="http://schemas.openxmlformats.org/drawingml/2006/main">
            <a:off x="6838950" y="5734050"/>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거주민·관광객과 방문 목적은 식별되지 않습니다.</a:t>
            </a:r>
          </a:p>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관찰 범위는 2026년 상반기입니다.</a:t>
            </a:r>
          </a:p>
        </p:txBody>
      </p:sp>
    </p:spTree>
    <p:extLst>
      <p:ext uri="{BB962C8B-B14F-4D97-AF65-F5344CB8AC3E}">
        <p14:creationId xmlns:p14="http://schemas.microsoft.com/office/powerpoint/2010/main" val="976287526"/>
      </p:ext>
    </p:extLst>
  </p:cSld>
</p:sld>
</file>

<file path=ppt/slides/slide6.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715BE1-3644-403A-AEB6-9335AC5E98E9}"/>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AI 노출은 같은 조건으로 측정하고, 점포 단계에서 다시 확인합니다.</a:t>
            </a:r>
          </a:p>
        </p:txBody>
      </p:sp>
      <p:sp>
        <p:nvSpPr>
          <p:cNvPr id="2" name="">
            <a:extLst xmlns:a="http://schemas.openxmlformats.org/drawingml/2006/main">
              <a:ext uri="{FF2B5EF4-FFF2-40B4-BE49-F238E27FC236}">
                <a16:creationId xmlns:a16="http://schemas.microsoft.com/office/drawing/2014/main" id="{C2352F38-F1C8-43CF-98C9-3918C8888285}"/>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AI 답변 원문은 아직 수집하지 않았습니다. 아래 비교 수치는 측정 방법을 설명하는 가정입니다.</a:t>
            </a:r>
          </a:p>
        </p:txBody>
      </p:sp>
      <p:sp>
        <p:nvSpPr>
          <p:cNvPr id="3" name="">
            <a:extLst xmlns:a="http://schemas.openxmlformats.org/drawingml/2006/main">
              <a:ext uri="{FF2B5EF4-FFF2-40B4-BE49-F238E27FC236}">
                <a16:creationId xmlns:a16="http://schemas.microsoft.com/office/drawing/2014/main" id="{0C4E2D93-C346-432C-BC97-7BCFFAA9A71D}"/>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B28F01-AB80-426A-9EBB-6EC66640A78D}"/>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72CA3853-2F31-4521-9D9B-B4BA0798B252}"/>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06</a:t>
            </a:r>
          </a:p>
        </p:txBody>
      </p:sp>
      <p:sp>
        <p:nvSpPr>
          <p:cNvPr id="6" name="">
            <a:extLst xmlns:a="http://schemas.openxmlformats.org/drawingml/2006/main">
              <a:ext uri="{FF2B5EF4-FFF2-40B4-BE49-F238E27FC236}">
                <a16:creationId xmlns:a16="http://schemas.microsoft.com/office/drawing/2014/main" id="{113511CB-091B-493A-B8C9-C1585E8EFE0E}"/>
              </a:ext>
            </a:extLst>
          </p:cNvPr>
          <p:cNvSpPr>
            <a:spLocks xmlns:a="http://schemas.openxmlformats.org/drawingml/2006/main" noGrp="1"/>
          </p:cNvSpPr>
          <p:nvPr/>
        </p:nvSpPr>
        <p:spPr>
          <a:xfrm xmlns:a="http://schemas.openxmlformats.org/drawingml/2006/main">
            <a:off x="457200" y="1371600"/>
            <a:ext cx="360045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ED334C"/>
                </a:solidFill>
                <a:latin typeface="Apple SD Gothic Neo"/>
                <a:ea typeface="Apple SD Gothic Neo"/>
                <a:cs typeface="Apple SD Gothic Neo"/>
              </a:defRPr>
            </a:pPr>
            <a:r>
              <a:rPr sz="2325" b="1">
                <a:solidFill>
                  <a:srgbClr val="ED334C"/>
                </a:solidFill>
                <a:latin typeface="Apple SD Gothic Neo"/>
                <a:ea typeface="Apple SD Gothic Neo"/>
                <a:cs typeface="Apple SD Gothic Neo"/>
              </a:rPr>
              <a:t>BC 소비 19.6%</a:t>
            </a:r>
          </a:p>
        </p:txBody>
      </p:sp>
      <p:sp>
        <p:nvSpPr>
          <p:cNvPr id="7" name="">
            <a:extLst xmlns:a="http://schemas.openxmlformats.org/drawingml/2006/main">
              <a:ext uri="{FF2B5EF4-FFF2-40B4-BE49-F238E27FC236}">
                <a16:creationId xmlns:a16="http://schemas.microsoft.com/office/drawing/2014/main" id="{F48C8BC8-70D9-4798-8CBD-EA393DC86BA8}"/>
              </a:ext>
            </a:extLst>
          </p:cNvPr>
          <p:cNvSpPr>
            <a:spLocks xmlns:a="http://schemas.openxmlformats.org/drawingml/2006/main" noGrp="1"/>
          </p:cNvSpPr>
          <p:nvPr/>
        </p:nvSpPr>
        <p:spPr>
          <a:xfrm xmlns:a="http://schemas.openxmlformats.org/drawingml/2006/main">
            <a:off x="457200" y="1847850"/>
            <a:ext cx="3590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원주 · 20대 여성 일반한식</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원자료 재계산</a:t>
            </a:r>
          </a:p>
        </p:txBody>
      </p:sp>
      <p:sp>
        <p:nvSpPr>
          <p:cNvPr id="8" name="">
            <a:extLst xmlns:a="http://schemas.openxmlformats.org/drawingml/2006/main">
              <a:ext uri="{FF2B5EF4-FFF2-40B4-BE49-F238E27FC236}">
                <a16:creationId xmlns:a16="http://schemas.microsoft.com/office/drawing/2014/main" id="{535C6108-396B-4268-8FC1-B0190B1F7286}"/>
              </a:ext>
            </a:extLst>
          </p:cNvPr>
          <p:cNvSpPr>
            <a:spLocks xmlns:a="http://schemas.openxmlformats.org/drawingml/2006/main" noGrp="1"/>
          </p:cNvSpPr>
          <p:nvPr/>
        </p:nvSpPr>
        <p:spPr>
          <a:xfrm xmlns:a="http://schemas.openxmlformats.org/drawingml/2006/main">
            <a:off x="4267200" y="1371600"/>
            <a:ext cx="360045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7B8796"/>
                </a:solidFill>
                <a:latin typeface="Apple SD Gothic Neo"/>
                <a:ea typeface="Apple SD Gothic Neo"/>
                <a:cs typeface="Apple SD Gothic Neo"/>
              </a:defRPr>
            </a:pPr>
            <a:r>
              <a:rPr sz="2325" b="1">
                <a:solidFill>
                  <a:srgbClr val="7B8796"/>
                </a:solidFill>
                <a:latin typeface="Apple SD Gothic Neo"/>
                <a:ea typeface="Apple SD Gothic Neo"/>
                <a:cs typeface="Apple SD Gothic Neo"/>
              </a:rPr>
              <a:t>AI 언급 5.0%</a:t>
            </a:r>
          </a:p>
        </p:txBody>
      </p:sp>
      <p:sp>
        <p:nvSpPr>
          <p:cNvPr id="9" name="">
            <a:extLst xmlns:a="http://schemas.openxmlformats.org/drawingml/2006/main">
              <a:ext uri="{FF2B5EF4-FFF2-40B4-BE49-F238E27FC236}">
                <a16:creationId xmlns:a16="http://schemas.microsoft.com/office/drawing/2014/main" id="{985E5B5D-0CCD-4BA4-A48B-44F75561363D}"/>
              </a:ext>
            </a:extLst>
          </p:cNvPr>
          <p:cNvSpPr>
            <a:spLocks xmlns:a="http://schemas.openxmlformats.org/drawingml/2006/main" noGrp="1"/>
          </p:cNvSpPr>
          <p:nvPr/>
        </p:nvSpPr>
        <p:spPr>
          <a:xfrm xmlns:a="http://schemas.openxmlformats.org/drawingml/2006/main">
            <a:off x="4267200" y="1847850"/>
            <a:ext cx="3590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같은 조건의 언급점유율을</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가정한 예시</a:t>
            </a:r>
          </a:p>
        </p:txBody>
      </p:sp>
      <p:sp>
        <p:nvSpPr>
          <p:cNvPr id="10" name="">
            <a:extLst xmlns:a="http://schemas.openxmlformats.org/drawingml/2006/main">
              <a:ext uri="{FF2B5EF4-FFF2-40B4-BE49-F238E27FC236}">
                <a16:creationId xmlns:a16="http://schemas.microsoft.com/office/drawing/2014/main" id="{01F365C0-8BD6-4994-93B7-C15C58232375}"/>
              </a:ext>
            </a:extLst>
          </p:cNvPr>
          <p:cNvSpPr>
            <a:spLocks xmlns:a="http://schemas.openxmlformats.org/drawingml/2006/main" noGrp="1"/>
          </p:cNvSpPr>
          <p:nvPr/>
        </p:nvSpPr>
        <p:spPr>
          <a:xfrm xmlns:a="http://schemas.openxmlformats.org/drawingml/2006/main">
            <a:off x="8077200" y="1371600"/>
            <a:ext cx="360045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282D"/>
                </a:solidFill>
                <a:latin typeface="Apple SD Gothic Neo"/>
                <a:ea typeface="Apple SD Gothic Neo"/>
                <a:cs typeface="Apple SD Gothic Neo"/>
              </a:defRPr>
            </a:pPr>
            <a:r>
              <a:rPr sz="2325" b="1">
                <a:solidFill>
                  <a:srgbClr val="26282D"/>
                </a:solidFill>
                <a:latin typeface="Apple SD Gothic Neo"/>
                <a:ea typeface="Apple SD Gothic Neo"/>
                <a:cs typeface="Apple SD Gothic Neo"/>
              </a:rPr>
              <a:t>비교 비율 0.26배</a:t>
            </a:r>
          </a:p>
        </p:txBody>
      </p:sp>
      <p:sp>
        <p:nvSpPr>
          <p:cNvPr id="11" name="">
            <a:extLst xmlns:a="http://schemas.openxmlformats.org/drawingml/2006/main">
              <a:ext uri="{FF2B5EF4-FFF2-40B4-BE49-F238E27FC236}">
                <a16:creationId xmlns:a16="http://schemas.microsoft.com/office/drawing/2014/main" id="{806FA4ED-4D20-4927-AD99-5D50C4D22A1F}"/>
              </a:ext>
            </a:extLst>
          </p:cNvPr>
          <p:cNvSpPr>
            <a:spLocks xmlns:a="http://schemas.openxmlformats.org/drawingml/2006/main" noGrp="1"/>
          </p:cNvSpPr>
          <p:nvPr/>
        </p:nvSpPr>
        <p:spPr>
          <a:xfrm xmlns:a="http://schemas.openxmlformats.org/drawingml/2006/main">
            <a:off x="8077200" y="1847850"/>
            <a:ext cx="3590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5.0 ÷ 19.5673 ≈ 0.26</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원주를 우선 조사할 신호</a:t>
            </a:r>
          </a:p>
        </p:txBody>
      </p:sp>
      <p:sp>
        <p:nvSpPr>
          <p:cNvPr id="12" name="">
            <a:extLst xmlns:a="http://schemas.openxmlformats.org/drawingml/2006/main">
              <a:ext uri="{FF2B5EF4-FFF2-40B4-BE49-F238E27FC236}">
                <a16:creationId xmlns:a16="http://schemas.microsoft.com/office/drawing/2014/main" id="{9A9ABA4E-25CF-4486-980D-26BD8327E87B}"/>
              </a:ext>
            </a:extLst>
          </p:cNvPr>
          <p:cNvSpPr>
            <a:spLocks xmlns:a="http://schemas.openxmlformats.org/drawingml/2006/main" noGrp="1"/>
          </p:cNvSpPr>
          <p:nvPr/>
        </p:nvSpPr>
        <p:spPr>
          <a:xfrm xmlns:a="http://schemas.openxmlformats.org/drawingml/2006/main">
            <a:off x="457200" y="2590800"/>
            <a:ext cx="112680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소비점유율이 AI 추천의 정답 비율이라는 뜻은 아닙니다. 질문과 시장 구조가 달라지면 격차도 달라집니다.</a:t>
            </a:r>
          </a:p>
        </p:txBody>
      </p:sp>
      <p:sp>
        <p:nvSpPr>
          <p:cNvPr id="13" name="">
            <a:extLst xmlns:a="http://schemas.openxmlformats.org/drawingml/2006/main">
              <a:ext uri="{FF2B5EF4-FFF2-40B4-BE49-F238E27FC236}">
                <a16:creationId xmlns:a16="http://schemas.microsoft.com/office/drawing/2014/main" id="{2ED7618A-8E56-4662-861C-8416E89896FC}"/>
              </a:ext>
            </a:extLst>
          </p:cNvPr>
          <p:cNvSpPr>
            <a:spLocks xmlns:a="http://schemas.openxmlformats.org/drawingml/2006/main" noGrp="1"/>
          </p:cNvSpPr>
          <p:nvPr/>
        </p:nvSpPr>
        <p:spPr>
          <a:xfrm xmlns:a="http://schemas.openxmlformats.org/drawingml/2006/main">
            <a:off x="457200" y="3009900"/>
            <a:ext cx="112395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282D"/>
                </a:solidFill>
                <a:latin typeface="Apple SD Gothic Neo"/>
                <a:ea typeface="Apple SD Gothic Neo"/>
                <a:cs typeface="Apple SD Gothic Neo"/>
              </a:defRPr>
            </a:pPr>
            <a:r>
              <a:rPr sz="1875" b="1">
                <a:solidFill>
                  <a:srgbClr val="26282D"/>
                </a:solidFill>
                <a:latin typeface="Apple SD Gothic Neo"/>
                <a:ea typeface="Apple SD Gothic Neo"/>
                <a:cs typeface="Apple SD Gothic Neo"/>
              </a:rPr>
              <a:t>최초 수집안: 모델 2종 × 상황 3종 × 반복 5회 × 수집일 2회 = 60개 답변</a:t>
            </a:r>
          </a:p>
        </p:txBody>
      </p:sp>
      <p:graphicFrame>
        <p:nvGraphicFramePr>
          <p:cNvPr id="34" name=""/>
          <p:cNvGraphicFramePr/>
          <p:nvPr/>
        </p:nvGraphicFramePr>
        <p:xfrm>
          <a:off xmlns:a="http://schemas.openxmlformats.org/drawingml/2006/main" x="447675" y="3438525"/>
          <a:ext xmlns:a="http://schemas.openxmlformats.org/drawingml/2006/main" cx="11287125" cy="1704975"/>
        </p:xfrm>
        <a:graphic xmlns:a="http://schemas.openxmlformats.org/drawingml/2006/main">
          <a:graphicData uri="http://schemas.openxmlformats.org/drawingml/2006/table">
            <a:tbl>
              <a:tblPr/>
              <a:tblGrid>
                <a:gridCol w="3676650"/>
                <a:gridCol w="3848100"/>
                <a:gridCol w="3762375"/>
              </a:tblGrid>
              <a:tr h="568325">
                <a:tc>
                  <a:txBody>
                    <a:bodyPr lIns="104775" tIns="66675" rIns="95250" bIns="66675"/>
                    <a:lstStyle/>
                    <a:p>
                      <a:r>
                        <a:rPr sz="1425" b="1">
                          <a:solidFill>
                            <a:srgbClr val="FFFFFF"/>
                          </a:solidFill>
                          <a:latin typeface="Apple SD Gothic Neo"/>
                          <a:ea typeface="Apple SD Gothic Neo"/>
                          <a:cs typeface="Apple SD Gothic Neo"/>
                        </a:rPr>
                        <a:t>고정할 조건</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남길 기록</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검토할 기준</a:t>
                      </a:r>
                    </a:p>
                  </a:txBody>
                  <a:tcPr marL="91440" marR="91440" marT="45720" marB="45720" anchor="ctr">
                    <a:solidFill>
                      <a:srgbClr val="26282D"/>
                    </a:solidFill>
                  </a:tcPr>
                </a:tc>
              </a:tr>
              <a:tr h="568325">
                <a:tc>
                  <a:txBody>
                    <a:bodyPr lIns="104775" tIns="66675" rIns="95250" bIns="66675"/>
                    <a:lstStyle/>
                    <a:p>
                      <a:r>
                        <a:rPr sz="1425" b="0">
                          <a:solidFill>
                            <a:srgbClr val="26282D"/>
                          </a:solidFill>
                          <a:latin typeface="Apple SD Gothic Neo"/>
                          <a:ea typeface="Apple SD Gothic Neo"/>
                          <a:cs typeface="Apple SD Gothic Neo"/>
                        </a:rPr>
                        <a:t>강원·일반한식·예산·언어</a:t>
                      </a:r>
                    </a:p>
                    <a:p>
                      <a:r>
                        <a:rPr sz="1425" b="0">
                          <a:solidFill>
                            <a:srgbClr val="26282D"/>
                          </a:solidFill>
                          <a:latin typeface="Apple SD Gothic Neo"/>
                          <a:ea typeface="Apple SD Gothic Neo"/>
                          <a:cs typeface="Apple SD Gothic Neo"/>
                        </a:rPr>
                        <a:t>추천 수 5곳·독립된 새 대화</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모델·버전·일시·검색 여부</a:t>
                      </a:r>
                    </a:p>
                    <a:p>
                      <a:r>
                        <a:rPr sz="1425" b="0">
                          <a:solidFill>
                            <a:srgbClr val="26282D"/>
                          </a:solidFill>
                          <a:latin typeface="Apple SD Gothic Neo"/>
                          <a:ea typeface="Apple SD Gothic Neo"/>
                          <a:cs typeface="Apple SD Gothic Neo"/>
                        </a:rPr>
                        <a:t>원문·오류·빈 답변 모두 보존</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실존·주소·지점·시군구·업종</a:t>
                      </a:r>
                    </a:p>
                    <a:p>
                      <a:r>
                        <a:rPr sz="1425" b="0">
                          <a:solidFill>
                            <a:srgbClr val="26282D"/>
                          </a:solidFill>
                          <a:latin typeface="Apple SD Gothic Neo"/>
                          <a:ea typeface="Apple SD Gothic Neo"/>
                          <a:cs typeface="Apple SD Gothic Neo"/>
                        </a:rPr>
                        <a:t>모호한 매칭은 사람 검토</a:t>
                      </a:r>
                    </a:p>
                  </a:txBody>
                  <a:tcPr marL="91440" marR="91440" marT="45720" marB="45720" anchor="ctr">
                    <a:solidFill>
                      <a:srgbClr val="FFFFFF"/>
                    </a:solidFill>
                  </a:tcPr>
                </a:tc>
              </a:tr>
              <a:tr h="568325">
                <a:tc>
                  <a:txBody>
                    <a:bodyPr lIns="104775" tIns="66675" rIns="95250" bIns="66675"/>
                    <a:lstStyle/>
                    <a:p>
                      <a:r>
                        <a:rPr sz="1425" b="0">
                          <a:solidFill>
                            <a:srgbClr val="26282D"/>
                          </a:solidFill>
                          <a:latin typeface="Apple SD Gothic Neo"/>
                          <a:ea typeface="Apple SD Gothic Neo"/>
                          <a:cs typeface="Apple SD Gothic Neo"/>
                        </a:rPr>
                        <a:t>20대 여성 / 가족 식사</a:t>
                      </a:r>
                    </a:p>
                    <a:p>
                      <a:r>
                        <a:rPr sz="1425" b="0">
                          <a:solidFill>
                            <a:srgbClr val="26282D"/>
                          </a:solidFill>
                          <a:latin typeface="Apple SD Gothic Neo"/>
                          <a:ea typeface="Apple SD Gothic Neo"/>
                          <a:cs typeface="Apple SD Gothic Neo"/>
                        </a:rPr>
                        <a:t>60대 부부의 고객 상황</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모델·날짜별 편차</a:t>
                      </a:r>
                    </a:p>
                    <a:p>
                      <a:r>
                        <a:rPr sz="1425" b="0">
                          <a:solidFill>
                            <a:srgbClr val="26282D"/>
                          </a:solidFill>
                          <a:latin typeface="Apple SD Gothic Neo"/>
                          <a:ea typeface="Apple SD Gothic Neo"/>
                          <a:cs typeface="Apple SD Gothic Neo"/>
                        </a:rPr>
                        <a:t>오류 답변·매칭 제외율</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동일 가게는 답변당 1회</a:t>
                      </a:r>
                    </a:p>
                    <a:p>
                      <a:r>
                        <a:rPr sz="1425" b="0">
                          <a:solidFill>
                            <a:srgbClr val="26282D"/>
                          </a:solidFill>
                          <a:latin typeface="Apple SD Gothic Neo"/>
                          <a:ea typeface="Apple SD Gothic Neo"/>
                          <a:cs typeface="Apple SD Gothic Neo"/>
                        </a:rPr>
                        <a:t>검증된 지역 언급 ÷ 전체 검증 언급</a:t>
                      </a:r>
                    </a:p>
                  </a:txBody>
                  <a:tcPr marL="91440" marR="91440" marT="45720" marB="45720" anchor="ctr">
                    <a:solidFill>
                      <a:srgbClr val="EEF1EA"/>
                    </a:solidFill>
                  </a:tcPr>
                </a:tc>
              </a:tr>
            </a:tbl>
          </a:graphicData>
        </a:graphic>
      </p:graphicFrame>
      <p:sp>
        <p:nvSpPr>
          <p:cNvPr id="15" name="">
            <a:extLst xmlns:a="http://schemas.openxmlformats.org/drawingml/2006/main">
              <a:ext uri="{FF2B5EF4-FFF2-40B4-BE49-F238E27FC236}">
                <a16:creationId xmlns:a16="http://schemas.microsoft.com/office/drawing/2014/main" id="{A38436A1-C5B0-4042-9595-FAFCEECFD0C2}"/>
              </a:ext>
            </a:extLst>
          </p:cNvPr>
          <p:cNvSpPr>
            <a:spLocks xmlns:a="http://schemas.openxmlformats.org/drawingml/2006/main" noGrp="1"/>
          </p:cNvSpPr>
          <p:nvPr/>
        </p:nvSpPr>
        <p:spPr>
          <a:xfrm xmlns:a="http://schemas.openxmlformats.org/drawingml/2006/main">
            <a:off x="457200" y="5391150"/>
            <a:ext cx="3600450"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1차 · 지역 탐색</a:t>
            </a:r>
          </a:p>
        </p:txBody>
      </p:sp>
      <p:sp>
        <p:nvSpPr>
          <p:cNvPr id="16" name="">
            <a:extLst xmlns:a="http://schemas.openxmlformats.org/drawingml/2006/main">
              <a:ext uri="{FF2B5EF4-FFF2-40B4-BE49-F238E27FC236}">
                <a16:creationId xmlns:a16="http://schemas.microsoft.com/office/drawing/2014/main" id="{F07125EC-664B-45E7-83DB-AC5C70553015}"/>
              </a:ext>
            </a:extLst>
          </p:cNvPr>
          <p:cNvSpPr>
            <a:spLocks xmlns:a="http://schemas.openxmlformats.org/drawingml/2006/main" noGrp="1"/>
          </p:cNvSpPr>
          <p:nvPr/>
        </p:nvSpPr>
        <p:spPr>
          <a:xfrm xmlns:a="http://schemas.openxmlformats.org/drawingml/2006/main">
            <a:off x="457200" y="5743575"/>
            <a:ext cx="360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집계자료로 소비 규모·시기·고객군 압축</a:t>
            </a:r>
          </a:p>
        </p:txBody>
      </p:sp>
      <p:sp>
        <p:nvSpPr>
          <p:cNvPr id="17" name="">
            <a:extLst xmlns:a="http://schemas.openxmlformats.org/drawingml/2006/main">
              <a:ext uri="{FF2B5EF4-FFF2-40B4-BE49-F238E27FC236}">
                <a16:creationId xmlns:a16="http://schemas.microsoft.com/office/drawing/2014/main" id="{E5C7FCBE-6788-4FF5-A6BE-86BB4C7EACF5}"/>
              </a:ext>
            </a:extLst>
          </p:cNvPr>
          <p:cNvSpPr>
            <a:spLocks xmlns:a="http://schemas.openxmlformats.org/drawingml/2006/main" noGrp="1"/>
          </p:cNvSpPr>
          <p:nvPr/>
        </p:nvSpPr>
        <p:spPr>
          <a:xfrm xmlns:a="http://schemas.openxmlformats.org/drawingml/2006/main">
            <a:off x="4267200" y="5391150"/>
            <a:ext cx="3600450"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2차 · 점포 적합성</a:t>
            </a:r>
          </a:p>
        </p:txBody>
      </p:sp>
      <p:sp>
        <p:nvSpPr>
          <p:cNvPr id="18" name="">
            <a:extLst xmlns:a="http://schemas.openxmlformats.org/drawingml/2006/main">
              <a:ext uri="{FF2B5EF4-FFF2-40B4-BE49-F238E27FC236}">
                <a16:creationId xmlns:a16="http://schemas.microsoft.com/office/drawing/2014/main" id="{55AAB65F-79CC-4F28-9662-C123E0C5B3B3}"/>
              </a:ext>
            </a:extLst>
          </p:cNvPr>
          <p:cNvSpPr>
            <a:spLocks xmlns:a="http://schemas.openxmlformats.org/drawingml/2006/main" noGrp="1"/>
          </p:cNvSpPr>
          <p:nvPr/>
        </p:nvSpPr>
        <p:spPr>
          <a:xfrm xmlns:a="http://schemas.openxmlformats.org/drawingml/2006/main">
            <a:off x="4267200" y="5743575"/>
            <a:ext cx="360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내부 가맹점 자료로 영업·수용능력 확인</a:t>
            </a:r>
          </a:p>
        </p:txBody>
      </p:sp>
      <p:sp>
        <p:nvSpPr>
          <p:cNvPr id="19" name="">
            <a:extLst xmlns:a="http://schemas.openxmlformats.org/drawingml/2006/main">
              <a:ext uri="{FF2B5EF4-FFF2-40B4-BE49-F238E27FC236}">
                <a16:creationId xmlns:a16="http://schemas.microsoft.com/office/drawing/2014/main" id="{7D8999E5-2B17-464B-B27B-96453681BB55}"/>
              </a:ext>
            </a:extLst>
          </p:cNvPr>
          <p:cNvSpPr>
            <a:spLocks xmlns:a="http://schemas.openxmlformats.org/drawingml/2006/main" noGrp="1"/>
          </p:cNvSpPr>
          <p:nvPr/>
        </p:nvSpPr>
        <p:spPr>
          <a:xfrm xmlns:a="http://schemas.openxmlformats.org/drawingml/2006/main">
            <a:off x="8077200" y="5391150"/>
            <a:ext cx="3600450" cy="2828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ED334C"/>
                </a:solidFill>
                <a:latin typeface="Apple SD Gothic Neo"/>
                <a:ea typeface="Apple SD Gothic Neo"/>
                <a:cs typeface="Apple SD Gothic Neo"/>
              </a:defRPr>
            </a:pPr>
            <a:r>
              <a:rPr sz="1650" b="1">
                <a:solidFill>
                  <a:srgbClr val="ED334C"/>
                </a:solidFill>
                <a:latin typeface="Apple SD Gothic Neo"/>
                <a:ea typeface="Apple SD Gothic Neo"/>
                <a:cs typeface="Apple SD Gothic Neo"/>
              </a:rPr>
              <a:t>제휴 · 점주 선택</a:t>
            </a:r>
          </a:p>
        </p:txBody>
      </p:sp>
      <p:sp>
        <p:nvSpPr>
          <p:cNvPr id="20" name="">
            <a:extLst xmlns:a="http://schemas.openxmlformats.org/drawingml/2006/main">
              <a:ext uri="{FF2B5EF4-FFF2-40B4-BE49-F238E27FC236}">
                <a16:creationId xmlns:a16="http://schemas.microsoft.com/office/drawing/2014/main" id="{D0E1CE61-7CBC-4902-9022-4F3BFE4A1661}"/>
              </a:ext>
            </a:extLst>
          </p:cNvPr>
          <p:cNvSpPr>
            <a:spLocks xmlns:a="http://schemas.openxmlformats.org/drawingml/2006/main" noGrp="1"/>
          </p:cNvSpPr>
          <p:nvPr/>
        </p:nvSpPr>
        <p:spPr>
          <a:xfrm xmlns:a="http://schemas.openxmlformats.org/drawingml/2006/main">
            <a:off x="8077200" y="5743575"/>
            <a:ext cx="3600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담당자 제안과 점주의 비용 조건 동의</a:t>
            </a:r>
          </a:p>
        </p:txBody>
      </p:sp>
    </p:spTree>
    <p:extLst>
      <p:ext uri="{BB962C8B-B14F-4D97-AF65-F5344CB8AC3E}">
        <p14:creationId xmlns:p14="http://schemas.microsoft.com/office/powerpoint/2010/main" val="1094558170"/>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796F29-9A0A-4283-B523-D75940A805BA}"/>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수진은 지역의 소비와 AI 노출을 비교하고, 가게의 근거를 엽니다.</a:t>
            </a:r>
          </a:p>
        </p:txBody>
      </p:sp>
      <p:sp>
        <p:nvSpPr>
          <p:cNvPr id="2" name="">
            <a:extLst xmlns:a="http://schemas.openxmlformats.org/drawingml/2006/main">
              <a:ext uri="{FF2B5EF4-FFF2-40B4-BE49-F238E27FC236}">
                <a16:creationId xmlns:a16="http://schemas.microsoft.com/office/drawing/2014/main" id="{474E45C3-5C64-41E6-A38E-47D12F0F982F}"/>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BC 담당자 웹 · 지역 후보 탐색과 개별 가게 검토를 연결합니다.</a:t>
            </a:r>
          </a:p>
        </p:txBody>
      </p:sp>
      <p:sp>
        <p:nvSpPr>
          <p:cNvPr id="3" name="">
            <a:extLst xmlns:a="http://schemas.openxmlformats.org/drawingml/2006/main">
              <a:ext uri="{FF2B5EF4-FFF2-40B4-BE49-F238E27FC236}">
                <a16:creationId xmlns:a16="http://schemas.microsoft.com/office/drawing/2014/main" id="{B1026594-55ED-4AEE-A09E-3A98A16E2B84}"/>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C29998-941E-4184-BAB6-8EB1CC9EEBFB}"/>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DB6AA605-150B-4F6E-8C68-377C0328B532}"/>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07</a:t>
            </a:r>
          </a:p>
        </p:txBody>
      </p:sp>
      <p:sp>
        <p:nvSpPr>
          <p:cNvPr id="6" name="">
            <a:extLst xmlns:a="http://schemas.openxmlformats.org/drawingml/2006/main">
              <a:ext uri="{FF2B5EF4-FFF2-40B4-BE49-F238E27FC236}">
                <a16:creationId xmlns:a16="http://schemas.microsoft.com/office/drawing/2014/main" id="{B49829BE-7F3F-4FE3-8F9C-39FA5652B390}"/>
              </a:ext>
            </a:extLst>
          </p:cNvPr>
          <p:cNvSpPr>
            <a:spLocks xmlns:a="http://schemas.openxmlformats.org/drawingml/2006/main" noGrp="1"/>
          </p:cNvSpPr>
          <p:nvPr/>
        </p:nvSpPr>
        <p:spPr>
          <a:xfrm xmlns:a="http://schemas.openxmlformats.org/drawingml/2006/main">
            <a:off x="447675" y="1343025"/>
            <a:ext cx="544830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지역부터 좁히기</a:t>
            </a:r>
          </a:p>
        </p:txBody>
      </p:sp>
      <p:sp>
        <p:nvSpPr>
          <p:cNvPr id="7" name="">
            <a:extLst xmlns:a="http://schemas.openxmlformats.org/drawingml/2006/main">
              <a:ext uri="{FF2B5EF4-FFF2-40B4-BE49-F238E27FC236}">
                <a16:creationId xmlns:a16="http://schemas.microsoft.com/office/drawing/2014/main" id="{01900C9B-EC90-4213-9E3E-2D9EC432C578}"/>
              </a:ext>
            </a:extLst>
          </p:cNvPr>
          <p:cNvSpPr>
            <a:spLocks xmlns:a="http://schemas.openxmlformats.org/drawingml/2006/main" noGrp="1"/>
          </p:cNvSpPr>
          <p:nvPr/>
        </p:nvSpPr>
        <p:spPr>
          <a:xfrm xmlns:a="http://schemas.openxmlformats.org/drawingml/2006/main">
            <a:off x="6362700" y="1343025"/>
            <a:ext cx="53816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가게를 살펴볼 근거 확인</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d32464fc12f48d0"/>
          <a:stretch xmlns:a="http://schemas.openxmlformats.org/drawingml/2006/main"/>
        </p:blipFill>
        <p:spPr>
          <a:xfrm xmlns:a="http://schemas.openxmlformats.org/drawingml/2006/main">
            <a:off x="733425" y="1695450"/>
            <a:ext cx="4876800" cy="36576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8ca370e996f4430"/>
          <a:stretch xmlns:a="http://schemas.openxmlformats.org/drawingml/2006/main"/>
        </p:blipFill>
        <p:spPr>
          <a:xfrm xmlns:a="http://schemas.openxmlformats.org/drawingml/2006/main">
            <a:off x="6581775" y="1695450"/>
            <a:ext cx="4876800" cy="36576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12C8DD8-1535-4212-8736-C00F0A69F40D}"/>
              </a:ext>
            </a:extLst>
          </p:cNvPr>
          <p:cNvSpPr>
            <a:spLocks xmlns:a="http://schemas.openxmlformats.org/drawingml/2006/main" noGrp="1"/>
          </p:cNvSpPr>
          <p:nvPr/>
        </p:nvSpPr>
        <p:spPr>
          <a:xfrm xmlns:a="http://schemas.openxmlformats.org/drawingml/2006/main">
            <a:off x="457200" y="5534025"/>
            <a:ext cx="544830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원주 소비 19.6%는 원자료와 일치</a:t>
            </a:r>
          </a:p>
        </p:txBody>
      </p:sp>
      <p:sp>
        <p:nvSpPr>
          <p:cNvPr id="11" name="">
            <a:extLst xmlns:a="http://schemas.openxmlformats.org/drawingml/2006/main">
              <a:ext uri="{FF2B5EF4-FFF2-40B4-BE49-F238E27FC236}">
                <a16:creationId xmlns:a16="http://schemas.microsoft.com/office/drawing/2014/main" id="{7DE3597F-86EA-4318-93B4-00087EA0CA03}"/>
              </a:ext>
            </a:extLst>
          </p:cNvPr>
          <p:cNvSpPr>
            <a:spLocks xmlns:a="http://schemas.openxmlformats.org/drawingml/2006/main" noGrp="1"/>
          </p:cNvSpPr>
          <p:nvPr/>
        </p:nvSpPr>
        <p:spPr>
          <a:xfrm xmlns:a="http://schemas.openxmlformats.org/drawingml/2006/main">
            <a:off x="457200" y="5838825"/>
            <a:ext cx="5448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AI 비중 5%는 가정입니다. 실제 운영에서는 수집 조건과</a:t>
            </a:r>
          </a:p>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답변 원문을 연결해 담당자가 차이를 확인합니다.</a:t>
            </a:r>
          </a:p>
        </p:txBody>
      </p:sp>
      <p:sp>
        <p:nvSpPr>
          <p:cNvPr id="12" name="">
            <a:extLst xmlns:a="http://schemas.openxmlformats.org/drawingml/2006/main">
              <a:ext uri="{FF2B5EF4-FFF2-40B4-BE49-F238E27FC236}">
                <a16:creationId xmlns:a16="http://schemas.microsoft.com/office/drawing/2014/main" id="{EF1FE192-2E5D-4519-87AE-9D9BF1C0BE2E}"/>
              </a:ext>
            </a:extLst>
          </p:cNvPr>
          <p:cNvSpPr>
            <a:spLocks xmlns:a="http://schemas.openxmlformats.org/drawingml/2006/main" noGrp="1"/>
          </p:cNvSpPr>
          <p:nvPr/>
        </p:nvSpPr>
        <p:spPr>
          <a:xfrm xmlns:a="http://schemas.openxmlformats.org/drawingml/2006/main">
            <a:off x="6334125" y="5534025"/>
            <a:ext cx="541020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상위 18%와 0/15회는 가상 점포 진단</a:t>
            </a:r>
          </a:p>
        </p:txBody>
      </p:sp>
      <p:sp>
        <p:nvSpPr>
          <p:cNvPr id="13" name="">
            <a:extLst xmlns:a="http://schemas.openxmlformats.org/drawingml/2006/main">
              <a:ext uri="{FF2B5EF4-FFF2-40B4-BE49-F238E27FC236}">
                <a16:creationId xmlns:a16="http://schemas.microsoft.com/office/drawing/2014/main" id="{745389AE-4EA1-4A80-B741-F707B8FE6B2B}"/>
              </a:ext>
            </a:extLst>
          </p:cNvPr>
          <p:cNvSpPr>
            <a:spLocks xmlns:a="http://schemas.openxmlformats.org/drawingml/2006/main" noGrp="1"/>
          </p:cNvSpPr>
          <p:nvPr/>
        </p:nvSpPr>
        <p:spPr>
          <a:xfrm xmlns:a="http://schemas.openxmlformats.org/drawingml/2006/main">
            <a:off x="6334125" y="5838825"/>
            <a:ext cx="5410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영업 여부·주소·메뉴·수용 가능 시간·점주 의사를 확인합니다.</a:t>
            </a:r>
          </a:p>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높은 결제금액이나 적은 AI 노출만으로 맛을 보증하지 않습니다.</a:t>
            </a:r>
          </a:p>
        </p:txBody>
      </p:sp>
    </p:spTree>
    <p:extLst>
      <p:ext uri="{BB962C8B-B14F-4D97-AF65-F5344CB8AC3E}">
        <p14:creationId xmlns:p14="http://schemas.microsoft.com/office/powerpoint/2010/main" val="408239046"/>
      </p:ext>
    </p:extLst>
  </p:cSld>
</p:sld>
</file>

<file path=ppt/slides/slide8.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300DD5-5BBD-4842-B177-0B50FF298328}"/>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담당자의 제안은 사장님 손안의 작은 제안서가 됩니다.</a:t>
            </a:r>
          </a:p>
        </p:txBody>
      </p:sp>
      <p:sp>
        <p:nvSpPr>
          <p:cNvPr id="2" name="">
            <a:extLst xmlns:a="http://schemas.openxmlformats.org/drawingml/2006/main">
              <a:ext uri="{FF2B5EF4-FFF2-40B4-BE49-F238E27FC236}">
                <a16:creationId xmlns:a16="http://schemas.microsoft.com/office/drawing/2014/main" id="{BA4BC6B9-E8D1-47DA-A972-F15EA0E73FD3}"/>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할인율·예산을 정한 제안이 사장님 앱으로 이어지고, 책장을 넘기듯 이유를 읽습니다.</a:t>
            </a:r>
          </a:p>
        </p:txBody>
      </p:sp>
      <p:sp>
        <p:nvSpPr>
          <p:cNvPr id="3" name="">
            <a:extLst xmlns:a="http://schemas.openxmlformats.org/drawingml/2006/main">
              <a:ext uri="{FF2B5EF4-FFF2-40B4-BE49-F238E27FC236}">
                <a16:creationId xmlns:a16="http://schemas.microsoft.com/office/drawing/2014/main" id="{ED3572BE-825D-4D45-A319-7B399EEBA334}"/>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CC2B74-9F37-4662-A135-F4A5F0E224C3}"/>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351C9B5B-714D-4BFF-A0AA-F2469FD4D181}"/>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08</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f76a4336be64d2a"/>
          <a:stretch xmlns:a="http://schemas.openxmlformats.org/drawingml/2006/main"/>
        </p:blipFill>
        <p:spPr>
          <a:xfrm xmlns:a="http://schemas.openxmlformats.org/drawingml/2006/main">
            <a:off x="914400" y="1247775"/>
            <a:ext cx="5638800" cy="42291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671de7e22f94c7a"/>
          <a:stretch xmlns:a="http://schemas.openxmlformats.org/drawingml/2006/main"/>
        </p:blipFill>
        <p:spPr>
          <a:xfrm xmlns:a="http://schemas.openxmlformats.org/drawingml/2006/main">
            <a:off x="7284601" y="1262777"/>
            <a:ext cx="2085261" cy="4170521"/>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573b12cb0f24824"/>
          <a:stretch xmlns:a="http://schemas.openxmlformats.org/drawingml/2006/main"/>
        </p:blipFill>
        <p:spPr>
          <a:xfrm xmlns:a="http://schemas.openxmlformats.org/drawingml/2006/main">
            <a:off x="9535038" y="1262777"/>
            <a:ext cx="2080187" cy="417052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0C5582-FAEC-4612-AAA2-0B83B63A9FFF}"/>
              </a:ext>
            </a:extLst>
          </p:cNvPr>
          <p:cNvSpPr>
            <a:spLocks xmlns:a="http://schemas.openxmlformats.org/drawingml/2006/main" noGrp="1"/>
          </p:cNvSpPr>
          <p:nvPr/>
        </p:nvSpPr>
        <p:spPr>
          <a:xfrm xmlns:a="http://schemas.openxmlformats.org/drawingml/2006/main">
            <a:off x="447675" y="5648325"/>
            <a:ext cx="666750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5% 할인 · 월 예산 10만 원 · 건당 이용료 300원</a:t>
            </a:r>
          </a:p>
        </p:txBody>
      </p:sp>
      <p:sp>
        <p:nvSpPr>
          <p:cNvPr id="10" name="">
            <a:extLst xmlns:a="http://schemas.openxmlformats.org/drawingml/2006/main">
              <a:ext uri="{FF2B5EF4-FFF2-40B4-BE49-F238E27FC236}">
                <a16:creationId xmlns:a16="http://schemas.microsoft.com/office/drawing/2014/main" id="{A28C0FAC-A681-4889-9596-6600857CDEBB}"/>
              </a:ext>
            </a:extLst>
          </p:cNvPr>
          <p:cNvSpPr>
            <a:spLocks xmlns:a="http://schemas.openxmlformats.org/drawingml/2006/main" noGrp="1"/>
          </p:cNvSpPr>
          <p:nvPr/>
        </p:nvSpPr>
        <p:spPr>
          <a:xfrm xmlns:a="http://schemas.openxmlformats.org/drawingml/2006/main">
            <a:off x="447675" y="5953125"/>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3%·5%·10%와 예산을 바꿔 제안합니다. 점주 확인 전에는</a:t>
            </a:r>
          </a:p>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혜택을 발급하지 않으며, ‘제안 등록’은 실제 발송 없는 로컬 시연입니다.</a:t>
            </a:r>
          </a:p>
        </p:txBody>
      </p:sp>
      <p:sp>
        <p:nvSpPr>
          <p:cNvPr id="11" name="">
            <a:extLst xmlns:a="http://schemas.openxmlformats.org/drawingml/2006/main">
              <a:ext uri="{FF2B5EF4-FFF2-40B4-BE49-F238E27FC236}">
                <a16:creationId xmlns:a16="http://schemas.microsoft.com/office/drawing/2014/main" id="{02E97CCB-6205-45F7-9346-53AF4C4B74F7}"/>
              </a:ext>
            </a:extLst>
          </p:cNvPr>
          <p:cNvSpPr>
            <a:spLocks xmlns:a="http://schemas.openxmlformats.org/drawingml/2006/main" noGrp="1"/>
          </p:cNvSpPr>
          <p:nvPr/>
        </p:nvSpPr>
        <p:spPr>
          <a:xfrm xmlns:a="http://schemas.openxmlformats.org/drawingml/2006/main">
            <a:off x="7372350" y="5648325"/>
            <a:ext cx="433387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“새로운 손님을 맞는 일, 함께 시작해 볼까요?”</a:t>
            </a:r>
          </a:p>
        </p:txBody>
      </p:sp>
      <p:sp>
        <p:nvSpPr>
          <p:cNvPr id="12" name="">
            <a:extLst xmlns:a="http://schemas.openxmlformats.org/drawingml/2006/main">
              <a:ext uri="{FF2B5EF4-FFF2-40B4-BE49-F238E27FC236}">
                <a16:creationId xmlns:a16="http://schemas.microsoft.com/office/drawing/2014/main" id="{60B89C31-4E0A-43D1-A4C9-A143BFA225D6}"/>
              </a:ext>
            </a:extLst>
          </p:cNvPr>
          <p:cNvSpPr>
            <a:spLocks xmlns:a="http://schemas.openxmlformats.org/drawingml/2006/main" noGrp="1"/>
          </p:cNvSpPr>
          <p:nvPr/>
        </p:nvSpPr>
        <p:spPr>
          <a:xfrm xmlns:a="http://schemas.openxmlformats.org/drawingml/2006/main">
            <a:off x="7372350" y="5953125"/>
            <a:ext cx="4333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사장님이 왜 우리 가게인지 읽고 비용을 확인합니다.</a:t>
            </a:r>
          </a:p>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넘김 효과는 긴 설명을 한 장씩 읽도록 돕습니다.</a:t>
            </a:r>
          </a:p>
        </p:txBody>
      </p:sp>
    </p:spTree>
    <p:extLst>
      <p:ext uri="{BB962C8B-B14F-4D97-AF65-F5344CB8AC3E}">
        <p14:creationId xmlns:p14="http://schemas.microsoft.com/office/powerpoint/2010/main" val="1416556825"/>
      </p:ext>
    </p:extLst>
  </p:cSld>
</p:sld>
</file>

<file path=ppt/slides/slide9.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375AC00-A48A-4BFE-9DD7-674B51E24025}"/>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사장님은 비용과 약속을 확인한 뒤 참여합니다.</a:t>
            </a:r>
          </a:p>
        </p:txBody>
      </p:sp>
      <p:sp>
        <p:nvSpPr>
          <p:cNvPr id="2" name="">
            <a:extLst xmlns:a="http://schemas.openxmlformats.org/drawingml/2006/main">
              <a:ext uri="{FF2B5EF4-FFF2-40B4-BE49-F238E27FC236}">
                <a16:creationId xmlns:a16="http://schemas.microsoft.com/office/drawing/2014/main" id="{22B0F83C-8B0A-484B-BD73-6A45FCCE998F}"/>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설명과 동의를 마쳐야 혜택이 열립니다. 선택한 조건은 소비자 앱까지 이어집니다.</a:t>
            </a:r>
          </a:p>
        </p:txBody>
      </p:sp>
      <p:sp>
        <p:nvSpPr>
          <p:cNvPr id="3" name="">
            <a:extLst xmlns:a="http://schemas.openxmlformats.org/drawingml/2006/main">
              <a:ext uri="{FF2B5EF4-FFF2-40B4-BE49-F238E27FC236}">
                <a16:creationId xmlns:a16="http://schemas.microsoft.com/office/drawing/2014/main" id="{97BD7F04-F83D-4F18-8F8E-4F846A4A7F6E}"/>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6DFB0E-DB9E-4139-9CAB-987264A20F16}"/>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94C5A6F4-783B-4EAB-A553-536E183CCA8D}"/>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09</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8323e0802fe4b8c"/>
          <a:stretch xmlns:a="http://schemas.openxmlformats.org/drawingml/2006/main"/>
        </p:blipFill>
        <p:spPr>
          <a:xfrm xmlns:a="http://schemas.openxmlformats.org/drawingml/2006/main">
            <a:off x="370406" y="1288018"/>
            <a:ext cx="2150025" cy="4310539"/>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5c12c6a106e4820"/>
          <a:stretch xmlns:a="http://schemas.openxmlformats.org/drawingml/2006/main"/>
        </p:blipFill>
        <p:spPr>
          <a:xfrm xmlns:a="http://schemas.openxmlformats.org/drawingml/2006/main">
            <a:off x="2637356" y="1288018"/>
            <a:ext cx="2150025" cy="4310539"/>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346bd26068e43b7"/>
          <a:stretch xmlns:a="http://schemas.openxmlformats.org/drawingml/2006/main"/>
        </p:blipFill>
        <p:spPr>
          <a:xfrm xmlns:a="http://schemas.openxmlformats.org/drawingml/2006/main">
            <a:off x="4904306" y="1288018"/>
            <a:ext cx="2150025" cy="4310539"/>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DEB0C38-676F-49F8-88BE-628AD69FCFE1}"/>
              </a:ext>
            </a:extLst>
          </p:cNvPr>
          <p:cNvSpPr>
            <a:spLocks xmlns:a="http://schemas.openxmlformats.org/drawingml/2006/main" noGrp="1"/>
          </p:cNvSpPr>
          <p:nvPr/>
        </p:nvSpPr>
        <p:spPr>
          <a:xfrm xmlns:a="http://schemas.openxmlformats.org/drawingml/2006/main">
            <a:off x="7458075" y="1381125"/>
            <a:ext cx="42481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6282D"/>
                </a:solidFill>
                <a:latin typeface="Apple SD Gothic Neo"/>
                <a:ea typeface="Apple SD Gothic Neo"/>
                <a:cs typeface="Apple SD Gothic Neo"/>
              </a:defRPr>
            </a:pPr>
            <a:r>
              <a:rPr sz="1950" b="1">
                <a:solidFill>
                  <a:srgbClr val="26282D"/>
                </a:solidFill>
                <a:latin typeface="Apple SD Gothic Neo"/>
                <a:ea typeface="Apple SD Gothic Neo"/>
                <a:cs typeface="Apple SD Gothic Neo"/>
              </a:rPr>
              <a:t>참여 조건</a:t>
            </a:r>
          </a:p>
        </p:txBody>
      </p:sp>
      <p:graphicFrame>
        <p:nvGraphicFramePr>
          <p:cNvPr id="27" name=""/>
          <p:cNvGraphicFramePr/>
          <p:nvPr/>
        </p:nvGraphicFramePr>
        <p:xfrm>
          <a:off xmlns:a="http://schemas.openxmlformats.org/drawingml/2006/main" x="7458075" y="1838325"/>
          <a:ext xmlns:a="http://schemas.openxmlformats.org/drawingml/2006/main" cx="4276725" cy="2657475"/>
        </p:xfrm>
        <a:graphic xmlns:a="http://schemas.openxmlformats.org/drawingml/2006/main">
          <a:graphicData uri="http://schemas.openxmlformats.org/drawingml/2006/table">
            <a:tbl>
              <a:tblPr/>
              <a:tblGrid>
                <a:gridCol w="2000250"/>
                <a:gridCol w="2276475"/>
              </a:tblGrid>
              <a:tr h="442913">
                <a:tc>
                  <a:txBody>
                    <a:bodyPr lIns="104775" tIns="66675" rIns="95250" bIns="66675"/>
                    <a:lstStyle/>
                    <a:p>
                      <a:r>
                        <a:rPr sz="1500" b="1">
                          <a:solidFill>
                            <a:srgbClr val="FFFFFF"/>
                          </a:solidFill>
                          <a:latin typeface="Apple SD Gothic Neo"/>
                          <a:ea typeface="Apple SD Gothic Neo"/>
                          <a:cs typeface="Apple SD Gothic Neo"/>
                        </a:rPr>
                        <a:t>할인율</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5%</a:t>
                      </a:r>
                    </a:p>
                  </a:txBody>
                  <a:tcPr marL="91440" marR="91440" marT="45720" marB="45720" anchor="ctr">
                    <a:solidFill>
                      <a:srgbClr val="26282D"/>
                    </a:solidFill>
                  </a:tcPr>
                </a:tc>
              </a:tr>
              <a:tr h="442913">
                <a:tc>
                  <a:txBody>
                    <a:bodyPr lIns="104775" tIns="66675" rIns="95250" bIns="66675"/>
                    <a:lstStyle/>
                    <a:p>
                      <a:r>
                        <a:rPr sz="1500" b="0">
                          <a:solidFill>
                            <a:srgbClr val="26282D"/>
                          </a:solidFill>
                          <a:latin typeface="Apple SD Gothic Neo"/>
                          <a:ea typeface="Apple SD Gothic Neo"/>
                          <a:cs typeface="Apple SD Gothic Neo"/>
                        </a:rPr>
                        <a:t>최소 결제</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10,000원</a:t>
                      </a:r>
                    </a:p>
                  </a:txBody>
                  <a:tcPr marL="91440" marR="91440" marT="45720" marB="45720" anchor="ctr">
                    <a:solidFill>
                      <a:srgbClr val="FFFFFF"/>
                    </a:solidFill>
                  </a:tcPr>
                </a:tc>
              </a:tr>
              <a:tr h="442913">
                <a:tc>
                  <a:txBody>
                    <a:bodyPr lIns="104775" tIns="66675" rIns="95250" bIns="66675"/>
                    <a:lstStyle/>
                    <a:p>
                      <a:r>
                        <a:rPr sz="1500" b="0">
                          <a:solidFill>
                            <a:srgbClr val="26282D"/>
                          </a:solidFill>
                          <a:latin typeface="Apple SD Gothic Neo"/>
                          <a:ea typeface="Apple SD Gothic Neo"/>
                          <a:cs typeface="Apple SD Gothic Neo"/>
                        </a:rPr>
                        <a:t>1회 할인 한도</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2,000원</a:t>
                      </a:r>
                    </a:p>
                  </a:txBody>
                  <a:tcPr marL="91440" marR="91440" marT="45720" marB="45720" anchor="ctr">
                    <a:solidFill>
                      <a:srgbClr val="EEF1EA"/>
                    </a:solidFill>
                  </a:tcPr>
                </a:tc>
              </a:tr>
              <a:tr h="442913">
                <a:tc>
                  <a:txBody>
                    <a:bodyPr lIns="104775" tIns="66675" rIns="95250" bIns="66675"/>
                    <a:lstStyle/>
                    <a:p>
                      <a:r>
                        <a:rPr sz="1500" b="0">
                          <a:solidFill>
                            <a:srgbClr val="26282D"/>
                          </a:solidFill>
                          <a:latin typeface="Apple SD Gothic Neo"/>
                          <a:ea typeface="Apple SD Gothic Neo"/>
                          <a:cs typeface="Apple SD Gothic Neo"/>
                        </a:rPr>
                        <a:t>월 할인 예산</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100,000원</a:t>
                      </a:r>
                    </a:p>
                  </a:txBody>
                  <a:tcPr marL="91440" marR="91440" marT="45720" marB="45720" anchor="ctr">
                    <a:solidFill>
                      <a:srgbClr val="FFFFFF"/>
                    </a:solidFill>
                  </a:tcPr>
                </a:tc>
              </a:tr>
              <a:tr h="442913">
                <a:tc>
                  <a:txBody>
                    <a:bodyPr lIns="104775" tIns="66675" rIns="95250" bIns="66675"/>
                    <a:lstStyle/>
                    <a:p>
                      <a:r>
                        <a:rPr sz="1500" b="0">
                          <a:solidFill>
                            <a:srgbClr val="26282D"/>
                          </a:solidFill>
                          <a:latin typeface="Apple SD Gothic Neo"/>
                          <a:ea typeface="Apple SD Gothic Neo"/>
                          <a:cs typeface="Apple SD Gothic Neo"/>
                        </a:rPr>
                        <a:t>서비스 이용료</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건당 300원 · 가정</a:t>
                      </a:r>
                    </a:p>
                  </a:txBody>
                  <a:tcPr marL="91440" marR="91440" marT="45720" marB="45720" anchor="ctr">
                    <a:solidFill>
                      <a:srgbClr val="EEF1EA"/>
                    </a:solidFill>
                  </a:tcPr>
                </a:tc>
              </a:tr>
              <a:tr h="442913">
                <a:tc>
                  <a:txBody>
                    <a:bodyPr lIns="104775" tIns="66675" rIns="95250" bIns="66675"/>
                    <a:lstStyle/>
                    <a:p>
                      <a:r>
                        <a:rPr sz="1500" b="0">
                          <a:solidFill>
                            <a:srgbClr val="26282D"/>
                          </a:solidFill>
                          <a:latin typeface="Apple SD Gothic Neo"/>
                          <a:ea typeface="Apple SD Gothic Neo"/>
                          <a:cs typeface="Apple SD Gothic Neo"/>
                        </a:rPr>
                        <a:t>사용 및 중복</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1인 1회 · 중복 할인 불가</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86091038-73E1-467C-8AA1-5CF057C298C6}"/>
              </a:ext>
            </a:extLst>
          </p:cNvPr>
          <p:cNvSpPr>
            <a:spLocks xmlns:a="http://schemas.openxmlformats.org/drawingml/2006/main" noGrp="1"/>
          </p:cNvSpPr>
          <p:nvPr/>
        </p:nvSpPr>
        <p:spPr>
          <a:xfrm xmlns:a="http://schemas.openxmlformats.org/drawingml/2006/main">
            <a:off x="7486650" y="4810125"/>
            <a:ext cx="4210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이용료의 실제 계약 요율은 별도 협의합니다.</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새 발급은 멈출 수 있고, 이미 발급한 혜택의</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약속은 유지하는 방식입니다.</a:t>
            </a:r>
          </a:p>
        </p:txBody>
      </p:sp>
      <p:sp>
        <p:nvSpPr>
          <p:cNvPr id="12" name="">
            <a:extLst xmlns:a="http://schemas.openxmlformats.org/drawingml/2006/main">
              <a:ext uri="{FF2B5EF4-FFF2-40B4-BE49-F238E27FC236}">
                <a16:creationId xmlns:a16="http://schemas.microsoft.com/office/drawing/2014/main" id="{6121A989-9592-47D4-A477-962C49362957}"/>
              </a:ext>
            </a:extLst>
          </p:cNvPr>
          <p:cNvSpPr>
            <a:spLocks xmlns:a="http://schemas.openxmlformats.org/drawingml/2006/main" noGrp="1"/>
          </p:cNvSpPr>
          <p:nvPr/>
        </p:nvSpPr>
        <p:spPr>
          <a:xfrm xmlns:a="http://schemas.openxmlformats.org/drawingml/2006/main">
            <a:off x="457200" y="5657850"/>
            <a:ext cx="20764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조건 확인</a:t>
            </a:r>
          </a:p>
        </p:txBody>
      </p:sp>
      <p:sp>
        <p:nvSpPr>
          <p:cNvPr id="13" name="">
            <a:extLst xmlns:a="http://schemas.openxmlformats.org/drawingml/2006/main">
              <a:ext uri="{FF2B5EF4-FFF2-40B4-BE49-F238E27FC236}">
                <a16:creationId xmlns:a16="http://schemas.microsoft.com/office/drawing/2014/main" id="{B6524E54-8025-4FA2-896C-53F4A81753F1}"/>
              </a:ext>
            </a:extLst>
          </p:cNvPr>
          <p:cNvSpPr>
            <a:spLocks xmlns:a="http://schemas.openxmlformats.org/drawingml/2006/main" noGrp="1"/>
          </p:cNvSpPr>
          <p:nvPr/>
        </p:nvSpPr>
        <p:spPr>
          <a:xfrm xmlns:a="http://schemas.openxmlformats.org/drawingml/2006/main">
            <a:off x="457200" y="5962650"/>
            <a:ext cx="2076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예산과 적용 범위를 먼저 읽기</a:t>
            </a:r>
          </a:p>
        </p:txBody>
      </p:sp>
      <p:sp>
        <p:nvSpPr>
          <p:cNvPr id="14" name="">
            <a:extLst xmlns:a="http://schemas.openxmlformats.org/drawingml/2006/main">
              <a:ext uri="{FF2B5EF4-FFF2-40B4-BE49-F238E27FC236}">
                <a16:creationId xmlns:a16="http://schemas.microsoft.com/office/drawing/2014/main" id="{D83B517A-FD00-4182-BD91-37CE9BB0F951}"/>
              </a:ext>
            </a:extLst>
          </p:cNvPr>
          <p:cNvSpPr>
            <a:spLocks xmlns:a="http://schemas.openxmlformats.org/drawingml/2006/main" noGrp="1"/>
          </p:cNvSpPr>
          <p:nvPr/>
        </p:nvSpPr>
        <p:spPr>
          <a:xfrm xmlns:a="http://schemas.openxmlformats.org/drawingml/2006/main">
            <a:off x="2724150" y="5657850"/>
            <a:ext cx="208597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동의 후 참여</a:t>
            </a:r>
          </a:p>
        </p:txBody>
      </p:sp>
      <p:sp>
        <p:nvSpPr>
          <p:cNvPr id="15" name="">
            <a:extLst xmlns:a="http://schemas.openxmlformats.org/drawingml/2006/main">
              <a:ext uri="{FF2B5EF4-FFF2-40B4-BE49-F238E27FC236}">
                <a16:creationId xmlns:a16="http://schemas.microsoft.com/office/drawing/2014/main" id="{B3C5B413-AF03-46E2-8B44-36F2DB583C74}"/>
              </a:ext>
            </a:extLst>
          </p:cNvPr>
          <p:cNvSpPr>
            <a:spLocks xmlns:a="http://schemas.openxmlformats.org/drawingml/2006/main" noGrp="1"/>
          </p:cNvSpPr>
          <p:nvPr/>
        </p:nvSpPr>
        <p:spPr>
          <a:xfrm xmlns:a="http://schemas.openxmlformats.org/drawingml/2006/main">
            <a:off x="2724150" y="5962650"/>
            <a:ext cx="20859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비용 확인에 체크하고 결정</a:t>
            </a:r>
          </a:p>
        </p:txBody>
      </p:sp>
      <p:sp>
        <p:nvSpPr>
          <p:cNvPr id="16" name="">
            <a:extLst xmlns:a="http://schemas.openxmlformats.org/drawingml/2006/main">
              <a:ext uri="{FF2B5EF4-FFF2-40B4-BE49-F238E27FC236}">
                <a16:creationId xmlns:a16="http://schemas.microsoft.com/office/drawing/2014/main" id="{9E1FB112-E2E4-40B8-A3BA-E999CD7AB2BB}"/>
              </a:ext>
            </a:extLst>
          </p:cNvPr>
          <p:cNvSpPr>
            <a:spLocks xmlns:a="http://schemas.openxmlformats.org/drawingml/2006/main" noGrp="1"/>
          </p:cNvSpPr>
          <p:nvPr/>
        </p:nvSpPr>
        <p:spPr>
          <a:xfrm xmlns:a="http://schemas.openxmlformats.org/drawingml/2006/main">
            <a:off x="4991100" y="5657850"/>
            <a:ext cx="223837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운영 시작</a:t>
            </a:r>
          </a:p>
        </p:txBody>
      </p:sp>
      <p:sp>
        <p:nvSpPr>
          <p:cNvPr id="17" name="">
            <a:extLst xmlns:a="http://schemas.openxmlformats.org/drawingml/2006/main">
              <a:ext uri="{FF2B5EF4-FFF2-40B4-BE49-F238E27FC236}">
                <a16:creationId xmlns:a16="http://schemas.microsoft.com/office/drawing/2014/main" id="{3463FF4A-D37E-402C-98A8-6DC5C5B06A9A}"/>
              </a:ext>
            </a:extLst>
          </p:cNvPr>
          <p:cNvSpPr>
            <a:spLocks xmlns:a="http://schemas.openxmlformats.org/drawingml/2006/main" noGrp="1"/>
          </p:cNvSpPr>
          <p:nvPr/>
        </p:nvSpPr>
        <p:spPr>
          <a:xfrm xmlns:a="http://schemas.openxmlformats.org/drawingml/2006/main">
            <a:off x="4991100" y="5962650"/>
            <a:ext cx="223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활성 혜택이 소비자에게 연결</a:t>
            </a:r>
          </a:p>
        </p:txBody>
      </p:sp>
    </p:spTree>
    <p:extLst>
      <p:ext uri="{BB962C8B-B14F-4D97-AF65-F5344CB8AC3E}">
        <p14:creationId xmlns:p14="http://schemas.microsoft.com/office/powerpoint/2010/main" val="831844602"/>
      </p:ext>
    </p:extLst>
  </p:cSld>
</p:sld>
</file>

<file path=ppt/slides/slide10.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D00E474-66E7-421B-BD37-51F753D75798}"/>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할인율과 추가 매출 비중에 따라, 사장님의 손익은 달라집니다.</a:t>
            </a:r>
          </a:p>
        </p:txBody>
      </p:sp>
      <p:sp>
        <p:nvSpPr>
          <p:cNvPr id="2" name="">
            <a:extLst xmlns:a="http://schemas.openxmlformats.org/drawingml/2006/main">
              <a:ext uri="{FF2B5EF4-FFF2-40B4-BE49-F238E27FC236}">
                <a16:creationId xmlns:a16="http://schemas.microsoft.com/office/drawing/2014/main" id="{3F7E0A77-C826-4C01-8D0B-F3A6D85FB15A}"/>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가정 분석 · 기존에 올 손님에게 준 할인까지 전체 비용에 포함합니다.</a:t>
            </a:r>
          </a:p>
        </p:txBody>
      </p:sp>
      <p:sp>
        <p:nvSpPr>
          <p:cNvPr id="3" name="">
            <a:extLst xmlns:a="http://schemas.openxmlformats.org/drawingml/2006/main">
              <a:ext uri="{FF2B5EF4-FFF2-40B4-BE49-F238E27FC236}">
                <a16:creationId xmlns:a16="http://schemas.microsoft.com/office/drawing/2014/main" id="{0D57C9CB-CEA9-492F-BC32-9AFB188BA215}"/>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8C6416-6022-49DD-8656-7E429940D181}"/>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F0356691-F3E4-40F0-A51A-8ED588F9C42E}"/>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8fc20a3f2e34727"/>
          <a:stretch xmlns:a="http://schemas.openxmlformats.org/drawingml/2006/main"/>
        </p:blipFill>
        <p:spPr>
          <a:xfrm xmlns:a="http://schemas.openxmlformats.org/drawingml/2006/main">
            <a:off x="361333" y="1288971"/>
            <a:ext cx="2130072" cy="4270534"/>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6645898f197490b"/>
          <a:stretch xmlns:a="http://schemas.openxmlformats.org/drawingml/2006/main"/>
        </p:blipFill>
        <p:spPr>
          <a:xfrm xmlns:a="http://schemas.openxmlformats.org/drawingml/2006/main">
            <a:off x="2618758" y="1288971"/>
            <a:ext cx="2130072" cy="427053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C4C5E42-D4CA-4DAC-ACC1-94DDEB78CD1C}"/>
              </a:ext>
            </a:extLst>
          </p:cNvPr>
          <p:cNvSpPr>
            <a:spLocks xmlns:a="http://schemas.openxmlformats.org/drawingml/2006/main" noGrp="1"/>
          </p:cNvSpPr>
          <p:nvPr/>
        </p:nvSpPr>
        <p:spPr>
          <a:xfrm xmlns:a="http://schemas.openxmlformats.org/drawingml/2006/main">
            <a:off x="5010150" y="1381125"/>
            <a:ext cx="668655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282D"/>
                </a:solidFill>
                <a:latin typeface="Apple SD Gothic Neo"/>
                <a:ea typeface="Apple SD Gothic Neo"/>
                <a:cs typeface="Apple SD Gothic Neo"/>
              </a:defRPr>
            </a:pPr>
            <a:r>
              <a:rPr sz="1875" b="1">
                <a:solidFill>
                  <a:srgbClr val="26282D"/>
                </a:solidFill>
                <a:latin typeface="Apple SD Gothic Neo"/>
                <a:ea typeface="Apple SD Gothic Neo"/>
                <a:cs typeface="Apple SD Gothic Neo"/>
              </a:rPr>
              <a:t>월 60건 × 32,000원, 공헌이익률 40% 가정</a:t>
            </a:r>
          </a:p>
        </p:txBody>
      </p:sp>
      <p:graphicFrame>
        <p:nvGraphicFramePr>
          <p:cNvPr id="26" name=""/>
          <p:cNvGraphicFramePr/>
          <p:nvPr/>
        </p:nvGraphicFramePr>
        <p:xfrm>
          <a:off xmlns:a="http://schemas.openxmlformats.org/drawingml/2006/main" x="5019675" y="1866900"/>
          <a:ext xmlns:a="http://schemas.openxmlformats.org/drawingml/2006/main" cx="6724650" cy="2247900"/>
        </p:xfrm>
        <a:graphic xmlns:a="http://schemas.openxmlformats.org/drawingml/2006/main">
          <a:graphicData uri="http://schemas.openxmlformats.org/drawingml/2006/table">
            <a:tbl>
              <a:tblPr/>
              <a:tblGrid>
                <a:gridCol w="914400"/>
                <a:gridCol w="1381125"/>
                <a:gridCol w="1476375"/>
                <a:gridCol w="1476375"/>
                <a:gridCol w="1476375"/>
              </a:tblGrid>
              <a:tr h="561975">
                <a:tc>
                  <a:txBody>
                    <a:bodyPr lIns="104775" tIns="66675" rIns="95250" bIns="66675"/>
                    <a:lstStyle/>
                    <a:p>
                      <a:r>
                        <a:rPr sz="1425" b="1">
                          <a:solidFill>
                            <a:srgbClr val="FFFFFF"/>
                          </a:solidFill>
                          <a:latin typeface="Apple SD Gothic Neo"/>
                          <a:ea typeface="Apple SD Gothic Neo"/>
                          <a:cs typeface="Apple SD Gothic Neo"/>
                        </a:rPr>
                        <a:t>할인율</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할인비용</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추가 10%</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추가 20%</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손익분기</a:t>
                      </a:r>
                    </a:p>
                  </a:txBody>
                  <a:tcPr marL="91440" marR="91440" marT="45720" marB="45720" anchor="ctr">
                    <a:solidFill>
                      <a:srgbClr val="26282D"/>
                    </a:solidFill>
                  </a:tcPr>
                </a:tc>
              </a:tr>
              <a:tr h="561975">
                <a:tc>
                  <a:txBody>
                    <a:bodyPr lIns="104775" tIns="66675" rIns="95250" bIns="66675"/>
                    <a:lstStyle/>
                    <a:p>
                      <a:r>
                        <a:rPr sz="1425" b="0">
                          <a:solidFill>
                            <a:srgbClr val="26282D"/>
                          </a:solidFill>
                          <a:latin typeface="Apple SD Gothic Neo"/>
                          <a:ea typeface="Apple SD Gothic Neo"/>
                          <a:cs typeface="Apple SD Gothic Neo"/>
                        </a:rPr>
                        <a:t>3%</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57,600원</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+1,200원</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+78,000원</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9.84%</a:t>
                      </a:r>
                    </a:p>
                  </a:txBody>
                  <a:tcPr marL="91440" marR="91440" marT="45720" marB="45720" anchor="ctr">
                    <a:solidFill>
                      <a:srgbClr val="FFFFFF"/>
                    </a:solidFill>
                  </a:tcPr>
                </a:tc>
              </a:tr>
              <a:tr h="561975">
                <a:tc>
                  <a:txBody>
                    <a:bodyPr lIns="104775" tIns="66675" rIns="95250" bIns="66675"/>
                    <a:lstStyle/>
                    <a:p>
                      <a:r>
                        <a:rPr sz="1425" b="0">
                          <a:solidFill>
                            <a:srgbClr val="26282D"/>
                          </a:solidFill>
                          <a:latin typeface="Apple SD Gothic Neo"/>
                          <a:ea typeface="Apple SD Gothic Neo"/>
                          <a:cs typeface="Apple SD Gothic Neo"/>
                        </a:rPr>
                        <a:t>5%</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96,000원</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−37,200원</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+39,600원</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14.84%</a:t>
                      </a:r>
                    </a:p>
                  </a:txBody>
                  <a:tcPr marL="91440" marR="91440" marT="45720" marB="45720" anchor="ctr">
                    <a:solidFill>
                      <a:srgbClr val="EEF1EA"/>
                    </a:solidFill>
                  </a:tcPr>
                </a:tc>
              </a:tr>
              <a:tr h="561975">
                <a:tc>
                  <a:txBody>
                    <a:bodyPr lIns="104775" tIns="66675" rIns="95250" bIns="66675"/>
                    <a:lstStyle/>
                    <a:p>
                      <a:r>
                        <a:rPr sz="1425" b="0">
                          <a:solidFill>
                            <a:srgbClr val="26282D"/>
                          </a:solidFill>
                          <a:latin typeface="Apple SD Gothic Neo"/>
                          <a:ea typeface="Apple SD Gothic Neo"/>
                          <a:cs typeface="Apple SD Gothic Neo"/>
                        </a:rPr>
                        <a:t>10%*</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120,000원</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−61,200원</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+15,600원</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17.97%</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343BFC3-1D12-4093-8421-3822F78B96F9}"/>
              </a:ext>
            </a:extLst>
          </p:cNvPr>
          <p:cNvSpPr>
            <a:spLocks xmlns:a="http://schemas.openxmlformats.org/drawingml/2006/main" noGrp="1"/>
          </p:cNvSpPr>
          <p:nvPr/>
        </p:nvSpPr>
        <p:spPr>
          <a:xfrm xmlns:a="http://schemas.openxmlformats.org/drawingml/2006/main">
            <a:off x="5048250" y="4371975"/>
            <a:ext cx="661035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증분이익을 판단하는 식</a:t>
            </a:r>
          </a:p>
        </p:txBody>
      </p:sp>
      <p:sp>
        <p:nvSpPr>
          <p:cNvPr id="11" name="">
            <a:extLst xmlns:a="http://schemas.openxmlformats.org/drawingml/2006/main">
              <a:ext uri="{FF2B5EF4-FFF2-40B4-BE49-F238E27FC236}">
                <a16:creationId xmlns:a16="http://schemas.microsoft.com/office/drawing/2014/main" id="{8168A264-561A-4FD4-A67E-8CEC155F96C7}"/>
              </a:ext>
            </a:extLst>
          </p:cNvPr>
          <p:cNvSpPr>
            <a:spLocks xmlns:a="http://schemas.openxmlformats.org/drawingml/2006/main" noGrp="1"/>
          </p:cNvSpPr>
          <p:nvPr/>
        </p:nvSpPr>
        <p:spPr>
          <a:xfrm xmlns:a="http://schemas.openxmlformats.org/drawingml/2006/main">
            <a:off x="5048250" y="4743450"/>
            <a:ext cx="6629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6282D"/>
                </a:solidFill>
                <a:latin typeface="Apple SD Gothic Neo"/>
                <a:ea typeface="Apple SD Gothic Neo"/>
                <a:cs typeface="Apple SD Gothic Neo"/>
              </a:defRPr>
            </a:pPr>
            <a:r>
              <a:rPr sz="1725" b="0">
                <a:solidFill>
                  <a:srgbClr val="26282D"/>
                </a:solidFill>
                <a:latin typeface="Apple SD Gothic Neo"/>
                <a:ea typeface="Apple SD Gothic Neo"/>
                <a:cs typeface="Apple SD Gothic Neo"/>
              </a:rPr>
              <a:t>추가 매출 × 공헌이익률 − 모든 할인비용</a:t>
            </a:r>
          </a:p>
          <a:p xmlns:a="http://schemas.openxmlformats.org/drawingml/2006/main">
            <a:pPr algn="l">
              <a:defRPr sz="1725" b="0">
                <a:solidFill>
                  <a:srgbClr val="26282D"/>
                </a:solidFill>
                <a:latin typeface="Apple SD Gothic Neo"/>
                <a:ea typeface="Apple SD Gothic Neo"/>
                <a:cs typeface="Apple SD Gothic Neo"/>
              </a:defRPr>
            </a:pPr>
            <a:r>
              <a:rPr sz="1725" b="0">
                <a:solidFill>
                  <a:srgbClr val="26282D"/>
                </a:solidFill>
                <a:latin typeface="Apple SD Gothic Neo"/>
                <a:ea typeface="Apple SD Gothic Neo"/>
                <a:cs typeface="Apple SD Gothic Neo"/>
              </a:rPr>
              <a:t>− 서비스 이용료 − 추가 운영비</a:t>
            </a:r>
          </a:p>
        </p:txBody>
      </p:sp>
      <p:sp>
        <p:nvSpPr>
          <p:cNvPr id="12" name="">
            <a:extLst xmlns:a="http://schemas.openxmlformats.org/drawingml/2006/main">
              <a:ext uri="{FF2B5EF4-FFF2-40B4-BE49-F238E27FC236}">
                <a16:creationId xmlns:a16="http://schemas.microsoft.com/office/drawing/2014/main" id="{AC2329DB-0B66-41C9-8B73-EDFB46054F91}"/>
              </a:ext>
            </a:extLst>
          </p:cNvPr>
          <p:cNvSpPr>
            <a:spLocks xmlns:a="http://schemas.openxmlformats.org/drawingml/2006/main" noGrp="1"/>
          </p:cNvSpPr>
          <p:nvPr/>
        </p:nvSpPr>
        <p:spPr>
          <a:xfrm xmlns:a="http://schemas.openxmlformats.org/drawingml/2006/main">
            <a:off x="5048250" y="5543550"/>
            <a:ext cx="6562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이용료 300원/건, 추가 운영비 0원 가정. 공헌이익률 40%에는 일반 카드비용을 포함합니다. 추가 매출 비중은 비교군 실험으로 추정해야 합니다.</a:t>
            </a:r>
          </a:p>
        </p:txBody>
      </p:sp>
      <p:sp>
        <p:nvSpPr>
          <p:cNvPr id="13" name="">
            <a:extLst xmlns:a="http://schemas.openxmlformats.org/drawingml/2006/main">
              <a:ext uri="{FF2B5EF4-FFF2-40B4-BE49-F238E27FC236}">
                <a16:creationId xmlns:a16="http://schemas.microsoft.com/office/drawing/2014/main" id="{45782896-8287-42D5-AC4C-B88C5B7AFC65}"/>
              </a:ext>
            </a:extLst>
          </p:cNvPr>
          <p:cNvSpPr>
            <a:spLocks xmlns:a="http://schemas.openxmlformats.org/drawingml/2006/main" noGrp="1"/>
          </p:cNvSpPr>
          <p:nvPr/>
        </p:nvSpPr>
        <p:spPr>
          <a:xfrm xmlns:a="http://schemas.openxmlformats.org/drawingml/2006/main">
            <a:off x="457200" y="5619750"/>
            <a:ext cx="20764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추가 비중 20%</a:t>
            </a:r>
          </a:p>
        </p:txBody>
      </p:sp>
      <p:sp>
        <p:nvSpPr>
          <p:cNvPr id="14" name="">
            <a:extLst xmlns:a="http://schemas.openxmlformats.org/drawingml/2006/main">
              <a:ext uri="{FF2B5EF4-FFF2-40B4-BE49-F238E27FC236}">
                <a16:creationId xmlns:a16="http://schemas.microsoft.com/office/drawing/2014/main" id="{E23E1AD4-7216-48A7-80DC-4B5FCE56E221}"/>
              </a:ext>
            </a:extLst>
          </p:cNvPr>
          <p:cNvSpPr>
            <a:spLocks xmlns:a="http://schemas.openxmlformats.org/drawingml/2006/main" noGrp="1"/>
          </p:cNvSpPr>
          <p:nvPr/>
        </p:nvSpPr>
        <p:spPr>
          <a:xfrm xmlns:a="http://schemas.openxmlformats.org/drawingml/2006/main">
            <a:off x="457200" y="5924550"/>
            <a:ext cx="2076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5% 할인 시 +39,600원</a:t>
            </a:r>
          </a:p>
        </p:txBody>
      </p:sp>
      <p:sp>
        <p:nvSpPr>
          <p:cNvPr id="15" name="">
            <a:extLst xmlns:a="http://schemas.openxmlformats.org/drawingml/2006/main">
              <a:ext uri="{FF2B5EF4-FFF2-40B4-BE49-F238E27FC236}">
                <a16:creationId xmlns:a16="http://schemas.microsoft.com/office/drawing/2014/main" id="{B71D9BFF-92D7-4777-B982-B2D9E561FA8D}"/>
              </a:ext>
            </a:extLst>
          </p:cNvPr>
          <p:cNvSpPr>
            <a:spLocks xmlns:a="http://schemas.openxmlformats.org/drawingml/2006/main" noGrp="1"/>
          </p:cNvSpPr>
          <p:nvPr/>
        </p:nvSpPr>
        <p:spPr>
          <a:xfrm xmlns:a="http://schemas.openxmlformats.org/drawingml/2006/main">
            <a:off x="2705100" y="5619750"/>
            <a:ext cx="214312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추가 비중 10%</a:t>
            </a:r>
          </a:p>
        </p:txBody>
      </p:sp>
      <p:sp>
        <p:nvSpPr>
          <p:cNvPr id="16" name="">
            <a:extLst xmlns:a="http://schemas.openxmlformats.org/drawingml/2006/main">
              <a:ext uri="{FF2B5EF4-FFF2-40B4-BE49-F238E27FC236}">
                <a16:creationId xmlns:a16="http://schemas.microsoft.com/office/drawing/2014/main" id="{4BD85F07-6E9C-4D8A-93A2-6F4945A68DD0}"/>
              </a:ext>
            </a:extLst>
          </p:cNvPr>
          <p:cNvSpPr>
            <a:spLocks xmlns:a="http://schemas.openxmlformats.org/drawingml/2006/main" noGrp="1"/>
          </p:cNvSpPr>
          <p:nvPr/>
        </p:nvSpPr>
        <p:spPr>
          <a:xfrm xmlns:a="http://schemas.openxmlformats.org/drawingml/2006/main">
            <a:off x="2705100" y="5924550"/>
            <a:ext cx="214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5% 할인 시 −37,200원</a:t>
            </a:r>
          </a:p>
        </p:txBody>
      </p:sp>
      <p:sp>
        <p:nvSpPr>
          <p:cNvPr id="17" name="">
            <a:extLst xmlns:a="http://schemas.openxmlformats.org/drawingml/2006/main">
              <a:ext uri="{FF2B5EF4-FFF2-40B4-BE49-F238E27FC236}">
                <a16:creationId xmlns:a16="http://schemas.microsoft.com/office/drawing/2014/main" id="{62499BD7-33A1-4844-B0DC-A9826F024C6C}"/>
              </a:ext>
            </a:extLst>
          </p:cNvPr>
          <p:cNvSpPr>
            <a:spLocks xmlns:a="http://schemas.openxmlformats.org/drawingml/2006/main" noGrp="1"/>
          </p:cNvSpPr>
          <p:nvPr/>
        </p:nvSpPr>
        <p:spPr>
          <a:xfrm xmlns:a="http://schemas.openxmlformats.org/drawingml/2006/main">
            <a:off x="5048250" y="4162425"/>
            <a:ext cx="6648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F7B73"/>
                </a:solidFill>
                <a:latin typeface="Apple SD Gothic Neo"/>
                <a:ea typeface="Apple SD Gothic Neo"/>
                <a:cs typeface="Apple SD Gothic Neo"/>
              </a:defRPr>
            </a:pPr>
            <a:r>
              <a:rPr sz="1125" b="0">
                <a:solidFill>
                  <a:srgbClr val="6F7B73"/>
                </a:solidFill>
                <a:latin typeface="Apple SD Gothic Neo"/>
                <a:ea typeface="Apple SD Gothic Neo"/>
                <a:cs typeface="Apple SD Gothic Neo"/>
              </a:rPr>
              <a:t>*10%는 건당 2천 원 상한 적용. 비용 12만 원은 예산 10만 원을 넘는 가정입니다.</a:t>
            </a:r>
          </a:p>
        </p:txBody>
      </p:sp>
    </p:spTree>
    <p:extLst>
      <p:ext uri="{BB962C8B-B14F-4D97-AF65-F5344CB8AC3E}">
        <p14:creationId xmlns:p14="http://schemas.microsoft.com/office/powerpoint/2010/main" val="720810653"/>
      </p:ext>
    </p:extLst>
  </p:cSld>
</p:sld>
</file>

<file path=ppt/slides/slide1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0E8548-1C2F-489D-80D7-99396F1E5407}"/>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민지는 목록과 지도를 오가며, 오늘 먹을 곳을 고릅니다.</a:t>
            </a:r>
          </a:p>
        </p:txBody>
      </p:sp>
      <p:sp>
        <p:nvSpPr>
          <p:cNvPr id="2" name="">
            <a:extLst xmlns:a="http://schemas.openxmlformats.org/drawingml/2006/main">
              <a:ext uri="{FF2B5EF4-FFF2-40B4-BE49-F238E27FC236}">
                <a16:creationId xmlns:a16="http://schemas.microsoft.com/office/drawing/2014/main" id="{0EB62BF2-784B-457C-9F00-182E4DA7C5B4}"/>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소비자 앱 · 사장님이 참여한 가게를 메뉴·위치·혜택과 함께 보여줍니다.</a:t>
            </a:r>
          </a:p>
        </p:txBody>
      </p:sp>
      <p:sp>
        <p:nvSpPr>
          <p:cNvPr id="3" name="">
            <a:extLst xmlns:a="http://schemas.openxmlformats.org/drawingml/2006/main">
              <a:ext uri="{FF2B5EF4-FFF2-40B4-BE49-F238E27FC236}">
                <a16:creationId xmlns:a16="http://schemas.microsoft.com/office/drawing/2014/main" id="{18D38A7D-AFFA-403C-B669-5725EAE97467}"/>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8FC547-E1B4-4CF2-AE3A-0BC817CA5B4C}"/>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A853876C-5573-437D-B763-3F14E7FC1166}"/>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d0e16184c854175"/>
          <a:stretch xmlns:a="http://schemas.openxmlformats.org/drawingml/2006/main"/>
        </p:blipFill>
        <p:spPr>
          <a:xfrm xmlns:a="http://schemas.openxmlformats.org/drawingml/2006/main">
            <a:off x="379479" y="1277541"/>
            <a:ext cx="2169979" cy="4350544"/>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f253577774b4be9"/>
          <a:stretch xmlns:a="http://schemas.openxmlformats.org/drawingml/2006/main"/>
        </p:blipFill>
        <p:spPr>
          <a:xfrm xmlns:a="http://schemas.openxmlformats.org/drawingml/2006/main">
            <a:off x="2655954" y="1277541"/>
            <a:ext cx="2169979" cy="4350544"/>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397ba492f6e4b0c"/>
          <a:stretch xmlns:a="http://schemas.openxmlformats.org/drawingml/2006/main"/>
        </p:blipFill>
        <p:spPr>
          <a:xfrm xmlns:a="http://schemas.openxmlformats.org/drawingml/2006/main">
            <a:off x="4941954" y="1277541"/>
            <a:ext cx="2169979" cy="4350544"/>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9FE6074-9B05-486C-9398-DF7B0C53DACF}"/>
              </a:ext>
            </a:extLst>
          </p:cNvPr>
          <p:cNvSpPr>
            <a:spLocks xmlns:a="http://schemas.openxmlformats.org/drawingml/2006/main" noGrp="1"/>
          </p:cNvSpPr>
          <p:nvPr/>
        </p:nvSpPr>
        <p:spPr>
          <a:xfrm xmlns:a="http://schemas.openxmlformats.org/drawingml/2006/main">
            <a:off x="7505700" y="1466850"/>
            <a:ext cx="4181475" cy="591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오늘은 조금 다른 골목에서,</a:t>
            </a:r>
          </a:p>
          <a:p xmlns:a="http://schemas.openxmlformats.org/drawingml/2006/main">
            <a:pPr algn="l">
              <a:defRPr sz="1725" b="1">
                <a:solidFill>
                  <a:srgbClr val="26282D"/>
                </a:solidFill>
                <a:latin typeface="Apple SD Gothic Neo"/>
                <a:ea typeface="Apple SD Gothic Neo"/>
                <a:cs typeface="Apple SD Gothic Neo"/>
              </a:defRPr>
            </a:pPr>
            <a:r>
              <a:rPr sz="1725" b="1">
                <a:solidFill>
                  <a:srgbClr val="26282D"/>
                </a:solidFill>
                <a:latin typeface="Apple SD Gothic Neo"/>
                <a:ea typeface="Apple SD Gothic Neo"/>
                <a:cs typeface="Apple SD Gothic Neo"/>
              </a:rPr>
              <a:t>맛있는 한 끼</a:t>
            </a:r>
          </a:p>
        </p:txBody>
      </p:sp>
      <p:sp>
        <p:nvSpPr>
          <p:cNvPr id="10" name="">
            <a:extLst xmlns:a="http://schemas.openxmlformats.org/drawingml/2006/main">
              <a:ext uri="{FF2B5EF4-FFF2-40B4-BE49-F238E27FC236}">
                <a16:creationId xmlns:a16="http://schemas.microsoft.com/office/drawing/2014/main" id="{5FD51A02-C4C8-420D-98E1-CE1B05BC1F1C}"/>
              </a:ext>
            </a:extLst>
          </p:cNvPr>
          <p:cNvSpPr>
            <a:spLocks xmlns:a="http://schemas.openxmlformats.org/drawingml/2006/main" noGrp="1"/>
          </p:cNvSpPr>
          <p:nvPr/>
        </p:nvSpPr>
        <p:spPr>
          <a:xfrm xmlns:a="http://schemas.openxmlformats.org/drawingml/2006/main">
            <a:off x="7505700" y="2095500"/>
            <a:ext cx="41814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F7B73"/>
                </a:solidFill>
                <a:latin typeface="Apple SD Gothic Neo"/>
                <a:ea typeface="Apple SD Gothic Neo"/>
                <a:cs typeface="Apple SD Gothic Neo"/>
              </a:defRPr>
            </a:pPr>
            <a:r>
              <a:rPr sz="1650" b="0">
                <a:solidFill>
                  <a:srgbClr val="6F7B73"/>
                </a:solidFill>
                <a:latin typeface="Apple SD Gothic Neo"/>
                <a:ea typeface="Apple SD Gothic Neo"/>
                <a:cs typeface="Apple SD Gothic Neo"/>
              </a:rPr>
              <a:t>민지는 원주에서 식사할 곳을 찾습니다.</a:t>
            </a:r>
          </a:p>
          <a:p xmlns:a="http://schemas.openxmlformats.org/drawingml/2006/main">
            <a:pPr algn="l">
              <a:defRPr sz="1650" b="0">
                <a:solidFill>
                  <a:srgbClr val="6F7B73"/>
                </a:solidFill>
                <a:latin typeface="Apple SD Gothic Neo"/>
                <a:ea typeface="Apple SD Gothic Neo"/>
                <a:cs typeface="Apple SD Gothic Neo"/>
              </a:defRPr>
            </a:pPr>
            <a:r>
              <a:rPr sz="1650" b="0">
                <a:solidFill>
                  <a:srgbClr val="6F7B73"/>
                </a:solidFill>
                <a:latin typeface="Apple SD Gothic Neo"/>
                <a:ea typeface="Apple SD Gothic Neo"/>
                <a:cs typeface="Apple SD Gothic Neo"/>
              </a:rPr>
              <a:t>검색, 한식·카페 필터, 저장 기능으로</a:t>
            </a:r>
          </a:p>
          <a:p xmlns:a="http://schemas.openxmlformats.org/drawingml/2006/main">
            <a:pPr algn="l">
              <a:defRPr sz="1650" b="0">
                <a:solidFill>
                  <a:srgbClr val="6F7B73"/>
                </a:solidFill>
                <a:latin typeface="Apple SD Gothic Neo"/>
                <a:ea typeface="Apple SD Gothic Neo"/>
                <a:cs typeface="Apple SD Gothic Neo"/>
              </a:defRPr>
            </a:pPr>
            <a:r>
              <a:rPr sz="1650" b="0">
                <a:solidFill>
                  <a:srgbClr val="6F7B73"/>
                </a:solidFill>
                <a:latin typeface="Apple SD Gothic Neo"/>
                <a:ea typeface="Apple SD Gothic Neo"/>
                <a:cs typeface="Apple SD Gothic Neo"/>
              </a:rPr>
              <a:t>선택지를 좁힙니다.</a:t>
            </a:r>
          </a:p>
        </p:txBody>
      </p:sp>
      <p:sp>
        <p:nvSpPr>
          <p:cNvPr id="11" name="">
            <a:extLst xmlns:a="http://schemas.openxmlformats.org/drawingml/2006/main">
              <a:ext uri="{FF2B5EF4-FFF2-40B4-BE49-F238E27FC236}">
                <a16:creationId xmlns:a16="http://schemas.microsoft.com/office/drawing/2014/main" id="{FEE112D3-F471-4151-886A-0D2CF23B252C}"/>
              </a:ext>
            </a:extLst>
          </p:cNvPr>
          <p:cNvSpPr>
            <a:spLocks xmlns:a="http://schemas.openxmlformats.org/drawingml/2006/main" noGrp="1"/>
          </p:cNvSpPr>
          <p:nvPr/>
        </p:nvSpPr>
        <p:spPr>
          <a:xfrm xmlns:a="http://schemas.openxmlformats.org/drawingml/2006/main">
            <a:off x="7515225" y="3562350"/>
            <a:ext cx="41243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282D"/>
                </a:solidFill>
                <a:latin typeface="Apple SD Gothic Neo"/>
                <a:ea typeface="Apple SD Gothic Neo"/>
                <a:cs typeface="Apple SD Gothic Neo"/>
              </a:defRPr>
            </a:pPr>
            <a:r>
              <a:rPr sz="1875" b="1">
                <a:solidFill>
                  <a:srgbClr val="26282D"/>
                </a:solidFill>
                <a:latin typeface="Apple SD Gothic Neo"/>
                <a:ea typeface="Apple SD Gothic Neo"/>
                <a:cs typeface="Apple SD Gothic Neo"/>
              </a:rPr>
              <a:t>방문 결정에 필요한 정보</a:t>
            </a:r>
          </a:p>
        </p:txBody>
      </p:sp>
      <p:sp>
        <p:nvSpPr>
          <p:cNvPr id="12" name="">
            <a:extLst xmlns:a="http://schemas.openxmlformats.org/drawingml/2006/main">
              <a:ext uri="{FF2B5EF4-FFF2-40B4-BE49-F238E27FC236}">
                <a16:creationId xmlns:a16="http://schemas.microsoft.com/office/drawing/2014/main" id="{DDF7D585-0C45-46C0-8753-6669D9D3D1B1}"/>
              </a:ext>
            </a:extLst>
          </p:cNvPr>
          <p:cNvSpPr>
            <a:spLocks xmlns:a="http://schemas.openxmlformats.org/drawingml/2006/main" noGrp="1"/>
          </p:cNvSpPr>
          <p:nvPr/>
        </p:nvSpPr>
        <p:spPr>
          <a:xfrm xmlns:a="http://schemas.openxmlformats.org/drawingml/2006/main">
            <a:off x="7524750" y="4029075"/>
            <a:ext cx="41624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메뉴 이미지·업종·가게 이야기와 혜택을</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함께 보여줍니다. 지도는 시연용 가상</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배치이며 실제 길찾기와 연결하지 않았습니다.</a:t>
            </a:r>
          </a:p>
          <a:p xmlns:a="http://schemas.openxmlformats.org/drawingml/2006/main">
            <a:r>
              <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운영 시 검증된 주소·지도 서비스를 연결하고,</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휴무·마감 정보를 점주가 갱신합니다.</a:t>
            </a:r>
          </a:p>
        </p:txBody>
      </p:sp>
      <p:sp>
        <p:nvSpPr>
          <p:cNvPr id="13" name="">
            <a:extLst xmlns:a="http://schemas.openxmlformats.org/drawingml/2006/main">
              <a:ext uri="{FF2B5EF4-FFF2-40B4-BE49-F238E27FC236}">
                <a16:creationId xmlns:a16="http://schemas.microsoft.com/office/drawing/2014/main" id="{D49D4B61-96BD-4E78-891D-3385BDC319A5}"/>
              </a:ext>
            </a:extLst>
          </p:cNvPr>
          <p:cNvSpPr>
            <a:spLocks xmlns:a="http://schemas.openxmlformats.org/drawingml/2006/main" noGrp="1"/>
          </p:cNvSpPr>
          <p:nvPr/>
        </p:nvSpPr>
        <p:spPr>
          <a:xfrm xmlns:a="http://schemas.openxmlformats.org/drawingml/2006/main">
            <a:off x="466725" y="5695950"/>
            <a:ext cx="21145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발견 홈</a:t>
            </a:r>
          </a:p>
        </p:txBody>
      </p:sp>
      <p:sp>
        <p:nvSpPr>
          <p:cNvPr id="14" name="">
            <a:extLst xmlns:a="http://schemas.openxmlformats.org/drawingml/2006/main">
              <a:ext uri="{FF2B5EF4-FFF2-40B4-BE49-F238E27FC236}">
                <a16:creationId xmlns:a16="http://schemas.microsoft.com/office/drawing/2014/main" id="{1C2556BD-80BD-4DB3-A6F2-E2BC7CB15C35}"/>
              </a:ext>
            </a:extLst>
          </p:cNvPr>
          <p:cNvSpPr>
            <a:spLocks xmlns:a="http://schemas.openxmlformats.org/drawingml/2006/main" noGrp="1"/>
          </p:cNvSpPr>
          <p:nvPr/>
        </p:nvSpPr>
        <p:spPr>
          <a:xfrm xmlns:a="http://schemas.openxmlformats.org/drawingml/2006/main">
            <a:off x="466725" y="6000750"/>
            <a:ext cx="2114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참여 가게와 혜택 확인</a:t>
            </a:r>
          </a:p>
        </p:txBody>
      </p:sp>
      <p:sp>
        <p:nvSpPr>
          <p:cNvPr id="15" name="">
            <a:extLst xmlns:a="http://schemas.openxmlformats.org/drawingml/2006/main">
              <a:ext uri="{FF2B5EF4-FFF2-40B4-BE49-F238E27FC236}">
                <a16:creationId xmlns:a16="http://schemas.microsoft.com/office/drawing/2014/main" id="{92C64A7A-9776-46FE-BA0A-147B17F499DC}"/>
              </a:ext>
            </a:extLst>
          </p:cNvPr>
          <p:cNvSpPr>
            <a:spLocks xmlns:a="http://schemas.openxmlformats.org/drawingml/2006/main" noGrp="1"/>
          </p:cNvSpPr>
          <p:nvPr/>
        </p:nvSpPr>
        <p:spPr>
          <a:xfrm xmlns:a="http://schemas.openxmlformats.org/drawingml/2006/main">
            <a:off x="2743200" y="5695950"/>
            <a:ext cx="21145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목록과 필터</a:t>
            </a:r>
          </a:p>
        </p:txBody>
      </p:sp>
      <p:sp>
        <p:nvSpPr>
          <p:cNvPr id="16" name="">
            <a:extLst xmlns:a="http://schemas.openxmlformats.org/drawingml/2006/main">
              <a:ext uri="{FF2B5EF4-FFF2-40B4-BE49-F238E27FC236}">
                <a16:creationId xmlns:a16="http://schemas.microsoft.com/office/drawing/2014/main" id="{2A332BED-C2D0-4AF2-8E14-1529ACA04C6A}"/>
              </a:ext>
            </a:extLst>
          </p:cNvPr>
          <p:cNvSpPr>
            <a:spLocks xmlns:a="http://schemas.openxmlformats.org/drawingml/2006/main" noGrp="1"/>
          </p:cNvSpPr>
          <p:nvPr/>
        </p:nvSpPr>
        <p:spPr>
          <a:xfrm xmlns:a="http://schemas.openxmlformats.org/drawingml/2006/main">
            <a:off x="2743200" y="6000750"/>
            <a:ext cx="2114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검색·업종·저장으로 탐색</a:t>
            </a:r>
          </a:p>
        </p:txBody>
      </p:sp>
      <p:sp>
        <p:nvSpPr>
          <p:cNvPr id="17" name="">
            <a:extLst xmlns:a="http://schemas.openxmlformats.org/drawingml/2006/main">
              <a:ext uri="{FF2B5EF4-FFF2-40B4-BE49-F238E27FC236}">
                <a16:creationId xmlns:a16="http://schemas.microsoft.com/office/drawing/2014/main" id="{A1677932-7921-4E18-AA44-FBE82688CE65}"/>
              </a:ext>
            </a:extLst>
          </p:cNvPr>
          <p:cNvSpPr>
            <a:spLocks xmlns:a="http://schemas.openxmlformats.org/drawingml/2006/main" noGrp="1"/>
          </p:cNvSpPr>
          <p:nvPr/>
        </p:nvSpPr>
        <p:spPr>
          <a:xfrm xmlns:a="http://schemas.openxmlformats.org/drawingml/2006/main">
            <a:off x="5029200" y="5695950"/>
            <a:ext cx="218122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지도 보기</a:t>
            </a:r>
          </a:p>
        </p:txBody>
      </p:sp>
      <p:sp>
        <p:nvSpPr>
          <p:cNvPr id="18" name="">
            <a:extLst xmlns:a="http://schemas.openxmlformats.org/drawingml/2006/main">
              <a:ext uri="{FF2B5EF4-FFF2-40B4-BE49-F238E27FC236}">
                <a16:creationId xmlns:a16="http://schemas.microsoft.com/office/drawing/2014/main" id="{72E76EF8-4800-4A11-8AAD-50AC8F082FB4}"/>
              </a:ext>
            </a:extLst>
          </p:cNvPr>
          <p:cNvSpPr>
            <a:spLocks xmlns:a="http://schemas.openxmlformats.org/drawingml/2006/main" noGrp="1"/>
          </p:cNvSpPr>
          <p:nvPr/>
        </p:nvSpPr>
        <p:spPr>
          <a:xfrm xmlns:a="http://schemas.openxmlformats.org/drawingml/2006/main">
            <a:off x="5029200" y="6000750"/>
            <a:ext cx="2181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위치 중심의 선택 흐름</a:t>
            </a:r>
          </a:p>
        </p:txBody>
      </p:sp>
    </p:spTree>
    <p:extLst>
      <p:ext uri="{BB962C8B-B14F-4D97-AF65-F5344CB8AC3E}">
        <p14:creationId xmlns:p14="http://schemas.microsoft.com/office/powerpoint/2010/main" val="1457394586"/>
      </p:ext>
    </p:extLst>
  </p:cSld>
</p:sld>
</file>

<file path=ppt/slides/slide1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3FB0B9-D0CD-491C-955E-B54D7587EBCF}"/>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가게의 이야기를 읽고, 추천한 이유까지 확인합니다.</a:t>
            </a:r>
          </a:p>
        </p:txBody>
      </p:sp>
      <p:sp>
        <p:nvSpPr>
          <p:cNvPr id="2" name="">
            <a:extLst xmlns:a="http://schemas.openxmlformats.org/drawingml/2006/main">
              <a:ext uri="{FF2B5EF4-FFF2-40B4-BE49-F238E27FC236}">
                <a16:creationId xmlns:a16="http://schemas.microsoft.com/office/drawing/2014/main" id="{5AF9981C-0A16-436E-A5C5-518A175B6F52}"/>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소비자 앱 · 메뉴와 분위기를 이해한 다음 선정 근거를 열어봅니다.</a:t>
            </a:r>
          </a:p>
        </p:txBody>
      </p:sp>
      <p:sp>
        <p:nvSpPr>
          <p:cNvPr id="3" name="">
            <a:extLst xmlns:a="http://schemas.openxmlformats.org/drawingml/2006/main">
              <a:ext uri="{FF2B5EF4-FFF2-40B4-BE49-F238E27FC236}">
                <a16:creationId xmlns:a16="http://schemas.microsoft.com/office/drawing/2014/main" id="{5D7E6551-FD6E-4F90-A39E-ED3FA98BE92A}"/>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40A88A-111F-4300-895B-2F49E0FB7319}"/>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797353F8-3331-4CD1-8D3C-E40CF2D93150}"/>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3cb6569e6704805"/>
          <a:stretch xmlns:a="http://schemas.openxmlformats.org/drawingml/2006/main"/>
        </p:blipFill>
        <p:spPr>
          <a:xfrm xmlns:a="http://schemas.openxmlformats.org/drawingml/2006/main">
            <a:off x="379479" y="1277541"/>
            <a:ext cx="2169979" cy="4350544"/>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b7b71b7ad1a4618"/>
          <a:stretch xmlns:a="http://schemas.openxmlformats.org/drawingml/2006/main"/>
        </p:blipFill>
        <p:spPr>
          <a:xfrm xmlns:a="http://schemas.openxmlformats.org/drawingml/2006/main">
            <a:off x="2655954" y="1277541"/>
            <a:ext cx="2169979" cy="4350544"/>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2f0a03f65464d24"/>
          <a:stretch xmlns:a="http://schemas.openxmlformats.org/drawingml/2006/main"/>
        </p:blipFill>
        <p:spPr>
          <a:xfrm xmlns:a="http://schemas.openxmlformats.org/drawingml/2006/main">
            <a:off x="4941954" y="1277541"/>
            <a:ext cx="2169979" cy="4350544"/>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A8A5A92-64CE-40A2-AB33-3E62884B524F}"/>
              </a:ext>
            </a:extLst>
          </p:cNvPr>
          <p:cNvSpPr>
            <a:spLocks xmlns:a="http://schemas.openxmlformats.org/drawingml/2006/main" noGrp="1"/>
          </p:cNvSpPr>
          <p:nvPr/>
        </p:nvSpPr>
        <p:spPr>
          <a:xfrm xmlns:a="http://schemas.openxmlformats.org/drawingml/2006/main">
            <a:off x="7515225" y="1485900"/>
            <a:ext cx="4171950" cy="745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282D"/>
                </a:solidFill>
                <a:latin typeface="Apple SD Gothic Neo"/>
                <a:ea typeface="Apple SD Gothic Neo"/>
                <a:cs typeface="Apple SD Gothic Neo"/>
              </a:defRPr>
            </a:pPr>
            <a:r>
              <a:rPr sz="2175" b="1">
                <a:solidFill>
                  <a:srgbClr val="26282D"/>
                </a:solidFill>
                <a:latin typeface="Apple SD Gothic Neo"/>
                <a:ea typeface="Apple SD Gothic Neo"/>
                <a:cs typeface="Apple SD Gothic Neo"/>
              </a:rPr>
              <a:t>“매일 바뀌는 반찬,</a:t>
            </a:r>
          </a:p>
          <a:p xmlns:a="http://schemas.openxmlformats.org/drawingml/2006/main">
            <a:pPr algn="l">
              <a:defRPr sz="2175" b="1">
                <a:solidFill>
                  <a:srgbClr val="26282D"/>
                </a:solidFill>
                <a:latin typeface="Apple SD Gothic Neo"/>
                <a:ea typeface="Apple SD Gothic Neo"/>
                <a:cs typeface="Apple SD Gothic Neo"/>
              </a:defRPr>
            </a:pPr>
            <a:r>
              <a:rPr sz="2175" b="1">
                <a:solidFill>
                  <a:srgbClr val="26282D"/>
                </a:solidFill>
                <a:latin typeface="Apple SD Gothic Neo"/>
                <a:ea typeface="Apple SD Gothic Neo"/>
                <a:cs typeface="Apple SD Gothic Neo"/>
              </a:rPr>
              <a:t>변함없는 마음.”</a:t>
            </a:r>
          </a:p>
        </p:txBody>
      </p:sp>
      <p:sp>
        <p:nvSpPr>
          <p:cNvPr id="10" name="">
            <a:extLst xmlns:a="http://schemas.openxmlformats.org/drawingml/2006/main">
              <a:ext uri="{FF2B5EF4-FFF2-40B4-BE49-F238E27FC236}">
                <a16:creationId xmlns:a16="http://schemas.microsoft.com/office/drawing/2014/main" id="{46310080-72D8-4012-AC45-0314909F0473}"/>
              </a:ext>
            </a:extLst>
          </p:cNvPr>
          <p:cNvSpPr>
            <a:spLocks xmlns:a="http://schemas.openxmlformats.org/drawingml/2006/main" noGrp="1"/>
          </p:cNvSpPr>
          <p:nvPr/>
        </p:nvSpPr>
        <p:spPr>
          <a:xfrm xmlns:a="http://schemas.openxmlformats.org/drawingml/2006/main">
            <a:off x="7524750" y="2400300"/>
            <a:ext cx="41719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가게 소개를 책장처럼 넘겨 읽습니다.</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화살표·키보드 탐색과 움직임을 줄이는</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환경을 고려하고, 핵심 조건은 책 바깥에서도</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다시 확인하도록 구성했습니다.</a:t>
            </a:r>
          </a:p>
        </p:txBody>
      </p:sp>
      <p:sp>
        <p:nvSpPr>
          <p:cNvPr id="11" name="">
            <a:extLst xmlns:a="http://schemas.openxmlformats.org/drawingml/2006/main">
              <a:ext uri="{FF2B5EF4-FFF2-40B4-BE49-F238E27FC236}">
                <a16:creationId xmlns:a16="http://schemas.microsoft.com/office/drawing/2014/main" id="{F78A12A7-6559-4941-82E5-E23121F09BC3}"/>
              </a:ext>
            </a:extLst>
          </p:cNvPr>
          <p:cNvSpPr>
            <a:spLocks xmlns:a="http://schemas.openxmlformats.org/drawingml/2006/main" noGrp="1"/>
          </p:cNvSpPr>
          <p:nvPr/>
        </p:nvSpPr>
        <p:spPr>
          <a:xfrm xmlns:a="http://schemas.openxmlformats.org/drawingml/2006/main">
            <a:off x="7515225" y="4000500"/>
            <a:ext cx="417195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282D"/>
                </a:solidFill>
                <a:latin typeface="Apple SD Gothic Neo"/>
                <a:ea typeface="Apple SD Gothic Neo"/>
                <a:cs typeface="Apple SD Gothic Neo"/>
              </a:defRPr>
            </a:pPr>
            <a:r>
              <a:rPr sz="1875" b="1">
                <a:solidFill>
                  <a:srgbClr val="26282D"/>
                </a:solidFill>
                <a:latin typeface="Apple SD Gothic Neo"/>
                <a:ea typeface="Apple SD Gothic Neo"/>
                <a:cs typeface="Apple SD Gothic Neo"/>
              </a:rPr>
              <a:t>선정 근거와 혜택은 구분</a:t>
            </a:r>
          </a:p>
        </p:txBody>
      </p:sp>
      <p:sp>
        <p:nvSpPr>
          <p:cNvPr id="12" name="">
            <a:extLst xmlns:a="http://schemas.openxmlformats.org/drawingml/2006/main">
              <a:ext uri="{FF2B5EF4-FFF2-40B4-BE49-F238E27FC236}">
                <a16:creationId xmlns:a16="http://schemas.microsoft.com/office/drawing/2014/main" id="{E7CB5C4C-A962-4A16-BCE9-028538B1DC3F}"/>
              </a:ext>
            </a:extLst>
          </p:cNvPr>
          <p:cNvSpPr>
            <a:spLocks xmlns:a="http://schemas.openxmlformats.org/drawingml/2006/main" noGrp="1"/>
          </p:cNvSpPr>
          <p:nvPr/>
        </p:nvSpPr>
        <p:spPr>
          <a:xfrm xmlns:a="http://schemas.openxmlformats.org/drawingml/2006/main">
            <a:off x="7524750" y="4438650"/>
            <a:ext cx="41719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결제 활동과 AI 추천 기록은 검토 근거이며,</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그 자체가 맛을 보증하지는 않습니다.</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상위 18%·0/15회는 가상 진단입니다.</a:t>
            </a:r>
          </a:p>
          <a:p xmlns:a="http://schemas.openxmlformats.org/drawingml/2006/main">
            <a:r>
              <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실제 도입 시 소개글·메뉴·사진은 점주가</a:t>
            </a:r>
          </a:p>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확인합니다. 현재 가게·음식은 가상입니다.</a:t>
            </a:r>
          </a:p>
        </p:txBody>
      </p:sp>
      <p:sp>
        <p:nvSpPr>
          <p:cNvPr id="13" name="">
            <a:extLst xmlns:a="http://schemas.openxmlformats.org/drawingml/2006/main">
              <a:ext uri="{FF2B5EF4-FFF2-40B4-BE49-F238E27FC236}">
                <a16:creationId xmlns:a16="http://schemas.microsoft.com/office/drawing/2014/main" id="{0CD2CA68-7426-4551-8A1A-4494823F598B}"/>
              </a:ext>
            </a:extLst>
          </p:cNvPr>
          <p:cNvSpPr>
            <a:spLocks xmlns:a="http://schemas.openxmlformats.org/drawingml/2006/main" noGrp="1"/>
          </p:cNvSpPr>
          <p:nvPr/>
        </p:nvSpPr>
        <p:spPr>
          <a:xfrm xmlns:a="http://schemas.openxmlformats.org/drawingml/2006/main">
            <a:off x="466725" y="5695950"/>
            <a:ext cx="21145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메뉴부터 보기</a:t>
            </a:r>
          </a:p>
        </p:txBody>
      </p:sp>
      <p:sp>
        <p:nvSpPr>
          <p:cNvPr id="14" name="">
            <a:extLst xmlns:a="http://schemas.openxmlformats.org/drawingml/2006/main">
              <a:ext uri="{FF2B5EF4-FFF2-40B4-BE49-F238E27FC236}">
                <a16:creationId xmlns:a16="http://schemas.microsoft.com/office/drawing/2014/main" id="{2BAEF048-531F-4134-9EA6-3109CF7CA2B9}"/>
              </a:ext>
            </a:extLst>
          </p:cNvPr>
          <p:cNvSpPr>
            <a:spLocks xmlns:a="http://schemas.openxmlformats.org/drawingml/2006/main" noGrp="1"/>
          </p:cNvSpPr>
          <p:nvPr/>
        </p:nvSpPr>
        <p:spPr>
          <a:xfrm xmlns:a="http://schemas.openxmlformats.org/drawingml/2006/main">
            <a:off x="466725" y="6000750"/>
            <a:ext cx="2114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처음 보는 가게의 분위기</a:t>
            </a:r>
          </a:p>
        </p:txBody>
      </p:sp>
      <p:sp>
        <p:nvSpPr>
          <p:cNvPr id="15" name="">
            <a:extLst xmlns:a="http://schemas.openxmlformats.org/drawingml/2006/main">
              <a:ext uri="{FF2B5EF4-FFF2-40B4-BE49-F238E27FC236}">
                <a16:creationId xmlns:a16="http://schemas.microsoft.com/office/drawing/2014/main" id="{0E78B430-B21C-4746-B695-65FEC6C43325}"/>
              </a:ext>
            </a:extLst>
          </p:cNvPr>
          <p:cNvSpPr>
            <a:spLocks xmlns:a="http://schemas.openxmlformats.org/drawingml/2006/main" noGrp="1"/>
          </p:cNvSpPr>
          <p:nvPr/>
        </p:nvSpPr>
        <p:spPr>
          <a:xfrm xmlns:a="http://schemas.openxmlformats.org/drawingml/2006/main">
            <a:off x="2743200" y="5695950"/>
            <a:ext cx="21145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책장 넘기기</a:t>
            </a:r>
          </a:p>
        </p:txBody>
      </p:sp>
      <p:sp>
        <p:nvSpPr>
          <p:cNvPr id="16" name="">
            <a:extLst xmlns:a="http://schemas.openxmlformats.org/drawingml/2006/main">
              <a:ext uri="{FF2B5EF4-FFF2-40B4-BE49-F238E27FC236}">
                <a16:creationId xmlns:a16="http://schemas.microsoft.com/office/drawing/2014/main" id="{254261AB-A211-4BD9-A838-0AF320551B43}"/>
              </a:ext>
            </a:extLst>
          </p:cNvPr>
          <p:cNvSpPr>
            <a:spLocks xmlns:a="http://schemas.openxmlformats.org/drawingml/2006/main" noGrp="1"/>
          </p:cNvSpPr>
          <p:nvPr/>
        </p:nvSpPr>
        <p:spPr>
          <a:xfrm xmlns:a="http://schemas.openxmlformats.org/drawingml/2006/main">
            <a:off x="2743200" y="6000750"/>
            <a:ext cx="2114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한 장씩 읽는 가게 이야기</a:t>
            </a:r>
          </a:p>
        </p:txBody>
      </p:sp>
      <p:sp>
        <p:nvSpPr>
          <p:cNvPr id="17" name="">
            <a:extLst xmlns:a="http://schemas.openxmlformats.org/drawingml/2006/main">
              <a:ext uri="{FF2B5EF4-FFF2-40B4-BE49-F238E27FC236}">
                <a16:creationId xmlns:a16="http://schemas.microsoft.com/office/drawing/2014/main" id="{6148FF28-9ED8-4F65-A354-294B45726330}"/>
              </a:ext>
            </a:extLst>
          </p:cNvPr>
          <p:cNvSpPr>
            <a:spLocks xmlns:a="http://schemas.openxmlformats.org/drawingml/2006/main" noGrp="1"/>
          </p:cNvSpPr>
          <p:nvPr/>
        </p:nvSpPr>
        <p:spPr>
          <a:xfrm xmlns:a="http://schemas.openxmlformats.org/drawingml/2006/main">
            <a:off x="5029200" y="5695950"/>
            <a:ext cx="218122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근거 열기</a:t>
            </a:r>
          </a:p>
        </p:txBody>
      </p:sp>
      <p:sp>
        <p:nvSpPr>
          <p:cNvPr id="18" name="">
            <a:extLst xmlns:a="http://schemas.openxmlformats.org/drawingml/2006/main">
              <a:ext uri="{FF2B5EF4-FFF2-40B4-BE49-F238E27FC236}">
                <a16:creationId xmlns:a16="http://schemas.microsoft.com/office/drawing/2014/main" id="{AEFEF33E-1E64-4F7F-BA70-F568F399D34B}"/>
              </a:ext>
            </a:extLst>
          </p:cNvPr>
          <p:cNvSpPr>
            <a:spLocks xmlns:a="http://schemas.openxmlformats.org/drawingml/2006/main" noGrp="1"/>
          </p:cNvSpPr>
          <p:nvPr/>
        </p:nvSpPr>
        <p:spPr>
          <a:xfrm xmlns:a="http://schemas.openxmlformats.org/drawingml/2006/main">
            <a:off x="5029200" y="6000750"/>
            <a:ext cx="2181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결제와 AI 노출을 구분</a:t>
            </a:r>
          </a:p>
        </p:txBody>
      </p:sp>
    </p:spTree>
    <p:extLst>
      <p:ext uri="{BB962C8B-B14F-4D97-AF65-F5344CB8AC3E}">
        <p14:creationId xmlns:p14="http://schemas.microsoft.com/office/powerpoint/2010/main" val="825033113"/>
      </p:ext>
    </p:extLst>
  </p:cSld>
</p:sld>
</file>

<file path=ppt/slides/slide13.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3D7C07A-880C-40F9-9A2D-7F6BA72A0BAB}"/>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16,000원의 한 끼에, 약속한 800원 혜택을 적용합니다.</a:t>
            </a:r>
          </a:p>
        </p:txBody>
      </p:sp>
      <p:sp>
        <p:nvSpPr>
          <p:cNvPr id="2" name="">
            <a:extLst xmlns:a="http://schemas.openxmlformats.org/drawingml/2006/main">
              <a:ext uri="{FF2B5EF4-FFF2-40B4-BE49-F238E27FC236}">
                <a16:creationId xmlns:a16="http://schemas.microsoft.com/office/drawing/2014/main" id="{28C757D5-A695-4F99-922A-9C23260933FF}"/>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소비자 앱 · 발급한 조건을 혜택함에 보관하고 한 번의 이용 내역으로 남깁니다.</a:t>
            </a:r>
          </a:p>
        </p:txBody>
      </p:sp>
      <p:sp>
        <p:nvSpPr>
          <p:cNvPr id="3" name="">
            <a:extLst xmlns:a="http://schemas.openxmlformats.org/drawingml/2006/main">
              <a:ext uri="{FF2B5EF4-FFF2-40B4-BE49-F238E27FC236}">
                <a16:creationId xmlns:a16="http://schemas.microsoft.com/office/drawing/2014/main" id="{09817AB6-79C1-4D66-AE88-16ED5661934E}"/>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8F4F5B-1A42-47F6-92FB-5CEA7C48EB8C}"/>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CDD56644-E7F9-4965-AF58-CEA475CE2384}"/>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1a6ac27dc97416a"/>
          <a:stretch xmlns:a="http://schemas.openxmlformats.org/drawingml/2006/main"/>
        </p:blipFill>
        <p:spPr>
          <a:xfrm xmlns:a="http://schemas.openxmlformats.org/drawingml/2006/main">
            <a:off x="379479" y="1277541"/>
            <a:ext cx="2169979" cy="4350544"/>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5f247c4b7404cbd"/>
          <a:stretch xmlns:a="http://schemas.openxmlformats.org/drawingml/2006/main"/>
        </p:blipFill>
        <p:spPr>
          <a:xfrm xmlns:a="http://schemas.openxmlformats.org/drawingml/2006/main">
            <a:off x="2655954" y="1277541"/>
            <a:ext cx="2169979" cy="4350544"/>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0a0d798a3184ab2"/>
          <a:stretch xmlns:a="http://schemas.openxmlformats.org/drawingml/2006/main"/>
        </p:blipFill>
        <p:spPr>
          <a:xfrm xmlns:a="http://schemas.openxmlformats.org/drawingml/2006/main">
            <a:off x="4941954" y="1277541"/>
            <a:ext cx="2169979" cy="4350544"/>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709120C-2DA4-48D7-980B-D231D512800B}"/>
              </a:ext>
            </a:extLst>
          </p:cNvPr>
          <p:cNvSpPr>
            <a:spLocks xmlns:a="http://schemas.openxmlformats.org/drawingml/2006/main" noGrp="1"/>
          </p:cNvSpPr>
          <p:nvPr/>
        </p:nvSpPr>
        <p:spPr>
          <a:xfrm xmlns:a="http://schemas.openxmlformats.org/drawingml/2006/main">
            <a:off x="7524750" y="1524000"/>
            <a:ext cx="4191000" cy="5272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6282D"/>
                </a:solidFill>
                <a:latin typeface="Apple SD Gothic Neo"/>
                <a:ea typeface="Apple SD Gothic Neo"/>
                <a:cs typeface="Apple SD Gothic Neo"/>
              </a:defRPr>
            </a:pPr>
            <a:r>
              <a:rPr sz="3075" b="1">
                <a:solidFill>
                  <a:srgbClr val="26282D"/>
                </a:solidFill>
                <a:latin typeface="Apple SD Gothic Neo"/>
                <a:ea typeface="Apple SD Gothic Neo"/>
                <a:cs typeface="Apple SD Gothic Neo"/>
              </a:rPr>
              <a:t>16,000원</a:t>
            </a:r>
          </a:p>
        </p:txBody>
      </p:sp>
      <p:sp>
        <p:nvSpPr>
          <p:cNvPr id="10" name="">
            <a:extLst xmlns:a="http://schemas.openxmlformats.org/drawingml/2006/main">
              <a:ext uri="{FF2B5EF4-FFF2-40B4-BE49-F238E27FC236}">
                <a16:creationId xmlns:a16="http://schemas.microsoft.com/office/drawing/2014/main" id="{39B2BFB9-5068-48A4-AD5B-475BBDB2D393}"/>
              </a:ext>
            </a:extLst>
          </p:cNvPr>
          <p:cNvSpPr>
            <a:spLocks xmlns:a="http://schemas.openxmlformats.org/drawingml/2006/main" noGrp="1"/>
          </p:cNvSpPr>
          <p:nvPr/>
        </p:nvSpPr>
        <p:spPr>
          <a:xfrm xmlns:a="http://schemas.openxmlformats.org/drawingml/2006/main">
            <a:off x="7543800" y="2076450"/>
            <a:ext cx="4162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주문 금액</a:t>
            </a:r>
          </a:p>
        </p:txBody>
      </p:sp>
      <p:sp>
        <p:nvSpPr>
          <p:cNvPr id="11" name="">
            <a:extLst xmlns:a="http://schemas.openxmlformats.org/drawingml/2006/main">
              <a:ext uri="{FF2B5EF4-FFF2-40B4-BE49-F238E27FC236}">
                <a16:creationId xmlns:a16="http://schemas.microsoft.com/office/drawing/2014/main" id="{B7DEEC13-A6CA-4143-A0BD-97EE88E5B5FF}"/>
              </a:ext>
            </a:extLst>
          </p:cNvPr>
          <p:cNvSpPr>
            <a:spLocks xmlns:a="http://schemas.openxmlformats.org/drawingml/2006/main" noGrp="1"/>
          </p:cNvSpPr>
          <p:nvPr/>
        </p:nvSpPr>
        <p:spPr>
          <a:xfrm xmlns:a="http://schemas.openxmlformats.org/drawingml/2006/main">
            <a:off x="7524750" y="2733675"/>
            <a:ext cx="4191000" cy="5272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ED334C"/>
                </a:solidFill>
                <a:latin typeface="Apple SD Gothic Neo"/>
                <a:ea typeface="Apple SD Gothic Neo"/>
                <a:cs typeface="Apple SD Gothic Neo"/>
              </a:defRPr>
            </a:pPr>
            <a:r>
              <a:rPr sz="3075" b="1">
                <a:solidFill>
                  <a:srgbClr val="ED334C"/>
                </a:solidFill>
                <a:latin typeface="Apple SD Gothic Neo"/>
                <a:ea typeface="Apple SD Gothic Neo"/>
                <a:cs typeface="Apple SD Gothic Neo"/>
              </a:rPr>
              <a:t>−800원</a:t>
            </a:r>
          </a:p>
        </p:txBody>
      </p:sp>
      <p:sp>
        <p:nvSpPr>
          <p:cNvPr id="12" name="">
            <a:extLst xmlns:a="http://schemas.openxmlformats.org/drawingml/2006/main">
              <a:ext uri="{FF2B5EF4-FFF2-40B4-BE49-F238E27FC236}">
                <a16:creationId xmlns:a16="http://schemas.microsoft.com/office/drawing/2014/main" id="{59959544-784F-47FC-B4F9-1D48D77E08C9}"/>
              </a:ext>
            </a:extLst>
          </p:cNvPr>
          <p:cNvSpPr>
            <a:spLocks xmlns:a="http://schemas.openxmlformats.org/drawingml/2006/main" noGrp="1"/>
          </p:cNvSpPr>
          <p:nvPr/>
        </p:nvSpPr>
        <p:spPr>
          <a:xfrm xmlns:a="http://schemas.openxmlformats.org/drawingml/2006/main">
            <a:off x="7543800" y="3286125"/>
            <a:ext cx="4162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5% 할인 · 1회 상한 2,000원 이내</a:t>
            </a:r>
          </a:p>
        </p:txBody>
      </p:sp>
      <p:sp>
        <p:nvSpPr>
          <p:cNvPr id="13" name="">
            <a:extLst xmlns:a="http://schemas.openxmlformats.org/drawingml/2006/main">
              <a:ext uri="{FF2B5EF4-FFF2-40B4-BE49-F238E27FC236}">
                <a16:creationId xmlns:a16="http://schemas.microsoft.com/office/drawing/2014/main" id="{4ADA873A-C091-4E50-A41B-7292FA8F84E6}"/>
              </a:ext>
            </a:extLst>
          </p:cNvPr>
          <p:cNvSpPr>
            <a:spLocks xmlns:a="http://schemas.openxmlformats.org/drawingml/2006/main" noGrp="1"/>
          </p:cNvSpPr>
          <p:nvPr/>
        </p:nvSpPr>
        <p:spPr>
          <a:xfrm xmlns:a="http://schemas.openxmlformats.org/drawingml/2006/main">
            <a:off x="7524750" y="3962400"/>
            <a:ext cx="4191000" cy="5272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6282D"/>
                </a:solidFill>
                <a:latin typeface="Apple SD Gothic Neo"/>
                <a:ea typeface="Apple SD Gothic Neo"/>
                <a:cs typeface="Apple SD Gothic Neo"/>
              </a:defRPr>
            </a:pPr>
            <a:r>
              <a:rPr sz="3075" b="1">
                <a:solidFill>
                  <a:srgbClr val="26282D"/>
                </a:solidFill>
                <a:latin typeface="Apple SD Gothic Neo"/>
                <a:ea typeface="Apple SD Gothic Neo"/>
                <a:cs typeface="Apple SD Gothic Neo"/>
              </a:rPr>
              <a:t>15,200원</a:t>
            </a:r>
          </a:p>
        </p:txBody>
      </p:sp>
      <p:sp>
        <p:nvSpPr>
          <p:cNvPr id="14" name="">
            <a:extLst xmlns:a="http://schemas.openxmlformats.org/drawingml/2006/main">
              <a:ext uri="{FF2B5EF4-FFF2-40B4-BE49-F238E27FC236}">
                <a16:creationId xmlns:a16="http://schemas.microsoft.com/office/drawing/2014/main" id="{78FAFBA8-A1B9-4B81-8AA7-8BCAF381481F}"/>
              </a:ext>
            </a:extLst>
          </p:cNvPr>
          <p:cNvSpPr>
            <a:spLocks xmlns:a="http://schemas.openxmlformats.org/drawingml/2006/main" noGrp="1"/>
          </p:cNvSpPr>
          <p:nvPr/>
        </p:nvSpPr>
        <p:spPr>
          <a:xfrm xmlns:a="http://schemas.openxmlformats.org/drawingml/2006/main">
            <a:off x="7543800" y="4514850"/>
            <a:ext cx="41624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소비자 실부담 예시</a:t>
            </a:r>
          </a:p>
        </p:txBody>
      </p:sp>
      <p:sp>
        <p:nvSpPr>
          <p:cNvPr id="15" name="">
            <a:extLst xmlns:a="http://schemas.openxmlformats.org/drawingml/2006/main">
              <a:ext uri="{FF2B5EF4-FFF2-40B4-BE49-F238E27FC236}">
                <a16:creationId xmlns:a16="http://schemas.microsoft.com/office/drawing/2014/main" id="{EFE8D043-3BDC-4926-9116-A4982B9525D5}"/>
              </a:ext>
            </a:extLst>
          </p:cNvPr>
          <p:cNvSpPr>
            <a:spLocks xmlns:a="http://schemas.openxmlformats.org/drawingml/2006/main" noGrp="1"/>
          </p:cNvSpPr>
          <p:nvPr/>
        </p:nvSpPr>
        <p:spPr>
          <a:xfrm xmlns:a="http://schemas.openxmlformats.org/drawingml/2006/main">
            <a:off x="7524750" y="5295900"/>
            <a:ext cx="4171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중복 발급을 막고 발급 당시 약속을 유지합니다.</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실제 카드 승인이나 돈의 이동은 없는</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로컬 결제 체험입니다.</a:t>
            </a:r>
          </a:p>
        </p:txBody>
      </p:sp>
      <p:sp>
        <p:nvSpPr>
          <p:cNvPr id="16" name="">
            <a:extLst xmlns:a="http://schemas.openxmlformats.org/drawingml/2006/main">
              <a:ext uri="{FF2B5EF4-FFF2-40B4-BE49-F238E27FC236}">
                <a16:creationId xmlns:a16="http://schemas.microsoft.com/office/drawing/2014/main" id="{B31692B9-4DBF-4EEA-9862-071BAA6126ED}"/>
              </a:ext>
            </a:extLst>
          </p:cNvPr>
          <p:cNvSpPr>
            <a:spLocks xmlns:a="http://schemas.openxmlformats.org/drawingml/2006/main" noGrp="1"/>
          </p:cNvSpPr>
          <p:nvPr/>
        </p:nvSpPr>
        <p:spPr>
          <a:xfrm xmlns:a="http://schemas.openxmlformats.org/drawingml/2006/main">
            <a:off x="466725" y="5695950"/>
            <a:ext cx="21145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혜택 담기</a:t>
            </a:r>
          </a:p>
        </p:txBody>
      </p:sp>
      <p:sp>
        <p:nvSpPr>
          <p:cNvPr id="17" name="">
            <a:extLst xmlns:a="http://schemas.openxmlformats.org/drawingml/2006/main">
              <a:ext uri="{FF2B5EF4-FFF2-40B4-BE49-F238E27FC236}">
                <a16:creationId xmlns:a16="http://schemas.microsoft.com/office/drawing/2014/main" id="{00D5C913-8476-44D7-965E-28868ECF8574}"/>
              </a:ext>
            </a:extLst>
          </p:cNvPr>
          <p:cNvSpPr>
            <a:spLocks xmlns:a="http://schemas.openxmlformats.org/drawingml/2006/main" noGrp="1"/>
          </p:cNvSpPr>
          <p:nvPr/>
        </p:nvSpPr>
        <p:spPr>
          <a:xfrm xmlns:a="http://schemas.openxmlformats.org/drawingml/2006/main">
            <a:off x="466725" y="6000750"/>
            <a:ext cx="2114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할인율과 적용 조건 보관</a:t>
            </a:r>
          </a:p>
        </p:txBody>
      </p:sp>
      <p:sp>
        <p:nvSpPr>
          <p:cNvPr id="18" name="">
            <a:extLst xmlns:a="http://schemas.openxmlformats.org/drawingml/2006/main">
              <a:ext uri="{FF2B5EF4-FFF2-40B4-BE49-F238E27FC236}">
                <a16:creationId xmlns:a16="http://schemas.microsoft.com/office/drawing/2014/main" id="{511A2A22-7327-483A-85DA-40B3D373700D}"/>
              </a:ext>
            </a:extLst>
          </p:cNvPr>
          <p:cNvSpPr>
            <a:spLocks xmlns:a="http://schemas.openxmlformats.org/drawingml/2006/main" noGrp="1"/>
          </p:cNvSpPr>
          <p:nvPr/>
        </p:nvSpPr>
        <p:spPr>
          <a:xfrm xmlns:a="http://schemas.openxmlformats.org/drawingml/2006/main">
            <a:off x="2743200" y="5695950"/>
            <a:ext cx="21145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금액 확인</a:t>
            </a:r>
          </a:p>
        </p:txBody>
      </p:sp>
      <p:sp>
        <p:nvSpPr>
          <p:cNvPr id="19" name="">
            <a:extLst xmlns:a="http://schemas.openxmlformats.org/drawingml/2006/main">
              <a:ext uri="{FF2B5EF4-FFF2-40B4-BE49-F238E27FC236}">
                <a16:creationId xmlns:a16="http://schemas.microsoft.com/office/drawing/2014/main" id="{9F691CDE-551D-4399-9296-F2B9A3A32C23}"/>
              </a:ext>
            </a:extLst>
          </p:cNvPr>
          <p:cNvSpPr>
            <a:spLocks xmlns:a="http://schemas.openxmlformats.org/drawingml/2006/main" noGrp="1"/>
          </p:cNvSpPr>
          <p:nvPr/>
        </p:nvSpPr>
        <p:spPr>
          <a:xfrm xmlns:a="http://schemas.openxmlformats.org/drawingml/2006/main">
            <a:off x="2743200" y="6000750"/>
            <a:ext cx="2114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결제금액을 입력해 체험</a:t>
            </a:r>
          </a:p>
        </p:txBody>
      </p:sp>
      <p:sp>
        <p:nvSpPr>
          <p:cNvPr id="20" name="">
            <a:extLst xmlns:a="http://schemas.openxmlformats.org/drawingml/2006/main">
              <a:ext uri="{FF2B5EF4-FFF2-40B4-BE49-F238E27FC236}">
                <a16:creationId xmlns:a16="http://schemas.microsoft.com/office/drawing/2014/main" id="{3A1EFB2D-8EDC-48CB-93D5-5F6BB988AE3E}"/>
              </a:ext>
            </a:extLst>
          </p:cNvPr>
          <p:cNvSpPr>
            <a:spLocks xmlns:a="http://schemas.openxmlformats.org/drawingml/2006/main" noGrp="1"/>
          </p:cNvSpPr>
          <p:nvPr/>
        </p:nvSpPr>
        <p:spPr>
          <a:xfrm xmlns:a="http://schemas.openxmlformats.org/drawingml/2006/main">
            <a:off x="5029200" y="5695950"/>
            <a:ext cx="218122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이용 내역</a:t>
            </a:r>
          </a:p>
        </p:txBody>
      </p:sp>
      <p:sp>
        <p:nvSpPr>
          <p:cNvPr id="21" name="">
            <a:extLst xmlns:a="http://schemas.openxmlformats.org/drawingml/2006/main">
              <a:ext uri="{FF2B5EF4-FFF2-40B4-BE49-F238E27FC236}">
                <a16:creationId xmlns:a16="http://schemas.microsoft.com/office/drawing/2014/main" id="{22C86D49-FA65-4B18-BF10-4190B5BC2576}"/>
              </a:ext>
            </a:extLst>
          </p:cNvPr>
          <p:cNvSpPr>
            <a:spLocks xmlns:a="http://schemas.openxmlformats.org/drawingml/2006/main" noGrp="1"/>
          </p:cNvSpPr>
          <p:nvPr/>
        </p:nvSpPr>
        <p:spPr>
          <a:xfrm xmlns:a="http://schemas.openxmlformats.org/drawingml/2006/main">
            <a:off x="5029200" y="6000750"/>
            <a:ext cx="2181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동일 혜택 1회 사용 기록</a:t>
            </a:r>
          </a:p>
        </p:txBody>
      </p:sp>
    </p:spTree>
    <p:extLst>
      <p:ext uri="{BB962C8B-B14F-4D97-AF65-F5344CB8AC3E}">
        <p14:creationId xmlns:p14="http://schemas.microsoft.com/office/powerpoint/2010/main" val="2090589749"/>
      </p:ext>
    </p:extLst>
  </p:cSld>
</p:sld>
</file>

<file path=ppt/slides/slide1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46013E4-71B8-41B7-B7C3-3F53D26E3075}"/>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한 번의 이용 기록이 사장님 정산과 담당자 화면으로 돌아옵니다.</a:t>
            </a:r>
          </a:p>
        </p:txBody>
      </p:sp>
      <p:sp>
        <p:nvSpPr>
          <p:cNvPr id="2" name="">
            <a:extLst xmlns:a="http://schemas.openxmlformats.org/drawingml/2006/main">
              <a:ext uri="{FF2B5EF4-FFF2-40B4-BE49-F238E27FC236}">
                <a16:creationId xmlns:a16="http://schemas.microsoft.com/office/drawing/2014/main" id="{9860D577-F13E-4660-995C-A25E11390461}"/>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사장님 앱과 BC 담당자 웹 · 같은 시연 거래의 비용과 제휴 진행을 연결합니다.</a:t>
            </a:r>
          </a:p>
        </p:txBody>
      </p:sp>
      <p:sp>
        <p:nvSpPr>
          <p:cNvPr id="3" name="">
            <a:extLst xmlns:a="http://schemas.openxmlformats.org/drawingml/2006/main">
              <a:ext uri="{FF2B5EF4-FFF2-40B4-BE49-F238E27FC236}">
                <a16:creationId xmlns:a16="http://schemas.microsoft.com/office/drawing/2014/main" id="{FEEDE9EC-CB38-4FCF-ADF4-470CE1093D2D}"/>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092841-810F-4912-9BAA-B8339EF3CDD3}"/>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3AB3E6A9-9512-4E24-89A4-3F1CFED254D4}"/>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b1b4ee4b3ff48e2"/>
          <a:stretch xmlns:a="http://schemas.openxmlformats.org/drawingml/2006/main"/>
        </p:blipFill>
        <p:spPr>
          <a:xfrm xmlns:a="http://schemas.openxmlformats.org/drawingml/2006/main">
            <a:off x="370858" y="1279446"/>
            <a:ext cx="2130072" cy="4270534"/>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94fc63ef4c64311"/>
          <a:stretch xmlns:a="http://schemas.openxmlformats.org/drawingml/2006/main"/>
        </p:blipFill>
        <p:spPr>
          <a:xfrm xmlns:a="http://schemas.openxmlformats.org/drawingml/2006/main">
            <a:off x="3182938" y="1257300"/>
            <a:ext cx="5207000" cy="3905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7015E08-265B-4E9B-8F08-EF342034EF40}"/>
              </a:ext>
            </a:extLst>
          </p:cNvPr>
          <p:cNvSpPr>
            <a:spLocks xmlns:a="http://schemas.openxmlformats.org/drawingml/2006/main" noGrp="1"/>
          </p:cNvSpPr>
          <p:nvPr/>
        </p:nvSpPr>
        <p:spPr>
          <a:xfrm xmlns:a="http://schemas.openxmlformats.org/drawingml/2006/main">
            <a:off x="9124950" y="1514475"/>
            <a:ext cx="2628900"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6282D"/>
                </a:solidFill>
                <a:latin typeface="Apple SD Gothic Neo"/>
                <a:ea typeface="Apple SD Gothic Neo"/>
                <a:cs typeface="Apple SD Gothic Neo"/>
              </a:defRPr>
            </a:pPr>
            <a:r>
              <a:rPr sz="2700" b="1">
                <a:solidFill>
                  <a:srgbClr val="26282D"/>
                </a:solidFill>
                <a:latin typeface="Apple SD Gothic Neo"/>
                <a:ea typeface="Apple SD Gothic Neo"/>
                <a:cs typeface="Apple SD Gothic Neo"/>
              </a:rPr>
              <a:t>14,900원</a:t>
            </a:r>
          </a:p>
        </p:txBody>
      </p:sp>
      <p:sp>
        <p:nvSpPr>
          <p:cNvPr id="9" name="">
            <a:extLst xmlns:a="http://schemas.openxmlformats.org/drawingml/2006/main">
              <a:ext uri="{FF2B5EF4-FFF2-40B4-BE49-F238E27FC236}">
                <a16:creationId xmlns:a16="http://schemas.microsoft.com/office/drawing/2014/main" id="{2F2DF875-82B2-4424-A746-6FF873666306}"/>
              </a:ext>
            </a:extLst>
          </p:cNvPr>
          <p:cNvSpPr>
            <a:spLocks xmlns:a="http://schemas.openxmlformats.org/drawingml/2006/main" noGrp="1"/>
          </p:cNvSpPr>
          <p:nvPr/>
        </p:nvSpPr>
        <p:spPr>
          <a:xfrm xmlns:a="http://schemas.openxmlformats.org/drawingml/2006/main">
            <a:off x="9144000" y="200977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F7B73"/>
                </a:solidFill>
                <a:latin typeface="Apple SD Gothic Neo"/>
                <a:ea typeface="Apple SD Gothic Neo"/>
                <a:cs typeface="Apple SD Gothic Neo"/>
              </a:defRPr>
            </a:pPr>
            <a:r>
              <a:rPr sz="1500" b="0">
                <a:solidFill>
                  <a:srgbClr val="6F7B73"/>
                </a:solidFill>
                <a:latin typeface="Apple SD Gothic Neo"/>
                <a:ea typeface="Apple SD Gothic Neo"/>
                <a:cs typeface="Apple SD Gothic Neo"/>
              </a:rPr>
              <a:t>사장님 수령예시</a:t>
            </a:r>
          </a:p>
        </p:txBody>
      </p:sp>
      <p:sp>
        <p:nvSpPr>
          <p:cNvPr id="10" name="">
            <a:extLst xmlns:a="http://schemas.openxmlformats.org/drawingml/2006/main">
              <a:ext uri="{FF2B5EF4-FFF2-40B4-BE49-F238E27FC236}">
                <a16:creationId xmlns:a16="http://schemas.microsoft.com/office/drawing/2014/main" id="{BD87D54B-5157-4E5B-AB67-F0B5F18D860A}"/>
              </a:ext>
            </a:extLst>
          </p:cNvPr>
          <p:cNvSpPr>
            <a:spLocks xmlns:a="http://schemas.openxmlformats.org/drawingml/2006/main" noGrp="1"/>
          </p:cNvSpPr>
          <p:nvPr/>
        </p:nvSpPr>
        <p:spPr>
          <a:xfrm xmlns:a="http://schemas.openxmlformats.org/drawingml/2006/main">
            <a:off x="9144000" y="2619375"/>
            <a:ext cx="25622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6282D"/>
                </a:solidFill>
                <a:latin typeface="Apple SD Gothic Neo"/>
                <a:ea typeface="Apple SD Gothic Neo"/>
                <a:cs typeface="Apple SD Gothic Neo"/>
              </a:defRPr>
            </a:pPr>
            <a:r>
              <a:rPr sz="1800" b="0">
                <a:solidFill>
                  <a:srgbClr val="26282D"/>
                </a:solidFill>
                <a:latin typeface="Apple SD Gothic Neo"/>
                <a:ea typeface="Apple SD Gothic Neo"/>
                <a:cs typeface="Apple SD Gothic Neo"/>
              </a:rPr>
              <a:t>16,000원 주문금액</a:t>
            </a:r>
          </a:p>
          <a:p xmlns:a="http://schemas.openxmlformats.org/drawingml/2006/main">
            <a:pPr algn="l">
              <a:defRPr sz="1800" b="0">
                <a:solidFill>
                  <a:srgbClr val="26282D"/>
                </a:solidFill>
                <a:latin typeface="Apple SD Gothic Neo"/>
                <a:ea typeface="Apple SD Gothic Neo"/>
                <a:cs typeface="Apple SD Gothic Neo"/>
              </a:defRPr>
            </a:pPr>
            <a:r>
              <a:rPr sz="1800" b="0">
                <a:solidFill>
                  <a:srgbClr val="26282D"/>
                </a:solidFill>
                <a:latin typeface="Apple SD Gothic Neo"/>
                <a:ea typeface="Apple SD Gothic Neo"/>
                <a:cs typeface="Apple SD Gothic Neo"/>
              </a:rPr>
              <a:t>− 800원 할인</a:t>
            </a:r>
          </a:p>
          <a:p xmlns:a="http://schemas.openxmlformats.org/drawingml/2006/main">
            <a:pPr algn="l">
              <a:defRPr sz="1800" b="0">
                <a:solidFill>
                  <a:srgbClr val="26282D"/>
                </a:solidFill>
                <a:latin typeface="Apple SD Gothic Neo"/>
                <a:ea typeface="Apple SD Gothic Neo"/>
                <a:cs typeface="Apple SD Gothic Neo"/>
              </a:defRPr>
            </a:pPr>
            <a:r>
              <a:rPr sz="1800" b="0">
                <a:solidFill>
                  <a:srgbClr val="26282D"/>
                </a:solidFill>
                <a:latin typeface="Apple SD Gothic Neo"/>
                <a:ea typeface="Apple SD Gothic Neo"/>
                <a:cs typeface="Apple SD Gothic Neo"/>
              </a:rPr>
              <a:t>− 300원 이용료</a:t>
            </a:r>
          </a:p>
        </p:txBody>
      </p:sp>
      <p:sp>
        <p:nvSpPr>
          <p:cNvPr id="11" name="">
            <a:extLst xmlns:a="http://schemas.openxmlformats.org/drawingml/2006/main">
              <a:ext uri="{FF2B5EF4-FFF2-40B4-BE49-F238E27FC236}">
                <a16:creationId xmlns:a16="http://schemas.microsoft.com/office/drawing/2014/main" id="{D9B7DF2A-0218-4247-AF10-3E6857FE6F63}"/>
              </a:ext>
            </a:extLst>
          </p:cNvPr>
          <p:cNvSpPr>
            <a:spLocks xmlns:a="http://schemas.openxmlformats.org/drawingml/2006/main" noGrp="1"/>
          </p:cNvSpPr>
          <p:nvPr/>
        </p:nvSpPr>
        <p:spPr>
          <a:xfrm xmlns:a="http://schemas.openxmlformats.org/drawingml/2006/main">
            <a:off x="9144000" y="4248150"/>
            <a:ext cx="2581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원재료·인건비·고정비와</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일반 카드비용 차감 전입니다.</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수령액은 순이익이 아닙니다.</a:t>
            </a:r>
          </a:p>
        </p:txBody>
      </p:sp>
      <p:sp>
        <p:nvSpPr>
          <p:cNvPr id="12" name="">
            <a:extLst xmlns:a="http://schemas.openxmlformats.org/drawingml/2006/main">
              <a:ext uri="{FF2B5EF4-FFF2-40B4-BE49-F238E27FC236}">
                <a16:creationId xmlns:a16="http://schemas.microsoft.com/office/drawing/2014/main" id="{CC46D9B8-FCF7-4B9A-A06B-3D1BB902710D}"/>
              </a:ext>
            </a:extLst>
          </p:cNvPr>
          <p:cNvSpPr>
            <a:spLocks xmlns:a="http://schemas.openxmlformats.org/drawingml/2006/main" noGrp="1"/>
          </p:cNvSpPr>
          <p:nvPr/>
        </p:nvSpPr>
        <p:spPr>
          <a:xfrm xmlns:a="http://schemas.openxmlformats.org/drawingml/2006/main">
            <a:off x="466725" y="5629275"/>
            <a:ext cx="221932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비용까지 함께 확인</a:t>
            </a:r>
          </a:p>
        </p:txBody>
      </p:sp>
      <p:sp>
        <p:nvSpPr>
          <p:cNvPr id="13" name="">
            <a:extLst xmlns:a="http://schemas.openxmlformats.org/drawingml/2006/main">
              <a:ext uri="{FF2B5EF4-FFF2-40B4-BE49-F238E27FC236}">
                <a16:creationId xmlns:a16="http://schemas.microsoft.com/office/drawing/2014/main" id="{5D888614-C433-42A3-925E-B897BFF01AFA}"/>
              </a:ext>
            </a:extLst>
          </p:cNvPr>
          <p:cNvSpPr>
            <a:spLocks xmlns:a="http://schemas.openxmlformats.org/drawingml/2006/main" noGrp="1"/>
          </p:cNvSpPr>
          <p:nvPr/>
        </p:nvSpPr>
        <p:spPr>
          <a:xfrm xmlns:a="http://schemas.openxmlformats.org/drawingml/2006/main">
            <a:off x="466725" y="5934075"/>
            <a:ext cx="2219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할인·이용료·수령액 표시</a:t>
            </a:r>
          </a:p>
        </p:txBody>
      </p:sp>
      <p:sp>
        <p:nvSpPr>
          <p:cNvPr id="14" name="">
            <a:extLst xmlns:a="http://schemas.openxmlformats.org/drawingml/2006/main">
              <a:ext uri="{FF2B5EF4-FFF2-40B4-BE49-F238E27FC236}">
                <a16:creationId xmlns:a16="http://schemas.microsoft.com/office/drawing/2014/main" id="{791E5F08-434C-4612-A111-617793B955E8}"/>
              </a:ext>
            </a:extLst>
          </p:cNvPr>
          <p:cNvSpPr>
            <a:spLocks xmlns:a="http://schemas.openxmlformats.org/drawingml/2006/main" noGrp="1"/>
          </p:cNvSpPr>
          <p:nvPr/>
        </p:nvSpPr>
        <p:spPr>
          <a:xfrm xmlns:a="http://schemas.openxmlformats.org/drawingml/2006/main">
            <a:off x="2952750" y="5314950"/>
            <a:ext cx="878205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제안부터 정산까지 이어지는 운영 기록</a:t>
            </a:r>
          </a:p>
        </p:txBody>
      </p:sp>
      <p:sp>
        <p:nvSpPr>
          <p:cNvPr id="15" name="">
            <a:extLst xmlns:a="http://schemas.openxmlformats.org/drawingml/2006/main">
              <a:ext uri="{FF2B5EF4-FFF2-40B4-BE49-F238E27FC236}">
                <a16:creationId xmlns:a16="http://schemas.microsoft.com/office/drawing/2014/main" id="{9E8FC17B-FE5B-441C-8DB7-8FB9B149711B}"/>
              </a:ext>
            </a:extLst>
          </p:cNvPr>
          <p:cNvSpPr>
            <a:spLocks xmlns:a="http://schemas.openxmlformats.org/drawingml/2006/main" noGrp="1"/>
          </p:cNvSpPr>
          <p:nvPr/>
        </p:nvSpPr>
        <p:spPr>
          <a:xfrm xmlns:a="http://schemas.openxmlformats.org/drawingml/2006/main">
            <a:off x="2952750" y="5619750"/>
            <a:ext cx="8782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제안 등록, 점주 참여, 혜택 발급과 결제 체험이 한 흐름으로 남습니다. 화면의 1건과 16,000원은</a:t>
            </a:r>
          </a:p>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실매출이 아닌 시연 결과입니다. 실제 운영에서는 검증된 승인·취소·정산 기록을 연결합니다.</a:t>
            </a:r>
          </a:p>
        </p:txBody>
      </p:sp>
    </p:spTree>
    <p:extLst>
      <p:ext uri="{BB962C8B-B14F-4D97-AF65-F5344CB8AC3E}">
        <p14:creationId xmlns:p14="http://schemas.microsoft.com/office/powerpoint/2010/main" val="620640722"/>
      </p:ext>
    </p:extLst>
  </p:cSld>
</p:sld>
</file>

<file path=ppt/slides/slide1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FF6C3A4-54FE-4F19-BDB1-56CFB7DFAF23}"/>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발급을 멈추거나 환불할 때도, 이미 한 약속을 지킵니다.</a:t>
            </a:r>
          </a:p>
        </p:txBody>
      </p:sp>
      <p:sp>
        <p:nvSpPr>
          <p:cNvPr id="2" name="">
            <a:extLst xmlns:a="http://schemas.openxmlformats.org/drawingml/2006/main">
              <a:ext uri="{FF2B5EF4-FFF2-40B4-BE49-F238E27FC236}">
                <a16:creationId xmlns:a16="http://schemas.microsoft.com/office/drawing/2014/main" id="{324AD4BB-A5C5-4363-862A-4415028C6645}"/>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사장님의 비용 통제와 소비자의 기존 혜택을 함께 고려한 예외 흐름입니다.</a:t>
            </a:r>
          </a:p>
        </p:txBody>
      </p:sp>
      <p:sp>
        <p:nvSpPr>
          <p:cNvPr id="3" name="">
            <a:extLst xmlns:a="http://schemas.openxmlformats.org/drawingml/2006/main">
              <a:ext uri="{FF2B5EF4-FFF2-40B4-BE49-F238E27FC236}">
                <a16:creationId xmlns:a16="http://schemas.microsoft.com/office/drawing/2014/main" id="{4834A690-6ACE-4DAE-8752-ED296DC38E54}"/>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754A60-8728-468E-9227-07DBF5F9B4FA}"/>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2C37EF13-9F7B-4B6F-97AD-EF8563895E56}"/>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15</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3d4a7d8cff4e00"/>
          <a:stretch xmlns:a="http://schemas.openxmlformats.org/drawingml/2006/main"/>
        </p:blipFill>
        <p:spPr>
          <a:xfrm xmlns:a="http://schemas.openxmlformats.org/drawingml/2006/main">
            <a:off x="379592" y="1277779"/>
            <a:ext cx="2164991" cy="4340543"/>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edbb496cb824348"/>
          <a:stretch xmlns:a="http://schemas.openxmlformats.org/drawingml/2006/main"/>
        </p:blipFill>
        <p:spPr>
          <a:xfrm xmlns:a="http://schemas.openxmlformats.org/drawingml/2006/main">
            <a:off x="2684642" y="1277779"/>
            <a:ext cx="2164991" cy="434054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8175ADC-0343-4825-92A2-86726EDF2837}"/>
              </a:ext>
            </a:extLst>
          </p:cNvPr>
          <p:cNvSpPr>
            <a:spLocks xmlns:a="http://schemas.openxmlformats.org/drawingml/2006/main" noGrp="1"/>
          </p:cNvSpPr>
          <p:nvPr/>
        </p:nvSpPr>
        <p:spPr>
          <a:xfrm xmlns:a="http://schemas.openxmlformats.org/drawingml/2006/main">
            <a:off x="5257800" y="1381125"/>
            <a:ext cx="64484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282D"/>
                </a:solidFill>
                <a:latin typeface="Apple SD Gothic Neo"/>
                <a:ea typeface="Apple SD Gothic Neo"/>
                <a:cs typeface="Apple SD Gothic Neo"/>
              </a:defRPr>
            </a:pPr>
            <a:r>
              <a:rPr sz="1875" b="1">
                <a:solidFill>
                  <a:srgbClr val="26282D"/>
                </a:solidFill>
                <a:latin typeface="Apple SD Gothic Neo"/>
                <a:ea typeface="Apple SD Gothic Neo"/>
                <a:cs typeface="Apple SD Gothic Neo"/>
              </a:rPr>
              <a:t>현재 앱에서 이어지는 처리</a:t>
            </a:r>
          </a:p>
        </p:txBody>
      </p:sp>
      <p:graphicFrame>
        <p:nvGraphicFramePr>
          <p:cNvPr id="24" name=""/>
          <p:cNvGraphicFramePr/>
          <p:nvPr/>
        </p:nvGraphicFramePr>
        <p:xfrm>
          <a:off xmlns:a="http://schemas.openxmlformats.org/drawingml/2006/main" x="5248275" y="1819275"/>
          <a:ext xmlns:a="http://schemas.openxmlformats.org/drawingml/2006/main" cx="6477000" cy="2543175"/>
        </p:xfrm>
        <a:graphic xmlns:a="http://schemas.openxmlformats.org/drawingml/2006/main">
          <a:graphicData uri="http://schemas.openxmlformats.org/drawingml/2006/table">
            <a:tbl>
              <a:tblPr/>
              <a:tblGrid>
                <a:gridCol w="1885950"/>
                <a:gridCol w="4591050"/>
              </a:tblGrid>
              <a:tr h="508635">
                <a:tc>
                  <a:txBody>
                    <a:bodyPr lIns="104775" tIns="66675" rIns="95250" bIns="66675"/>
                    <a:lstStyle/>
                    <a:p>
                      <a:r>
                        <a:rPr sz="1500" b="1">
                          <a:solidFill>
                            <a:srgbClr val="FFFFFF"/>
                          </a:solidFill>
                          <a:latin typeface="Apple SD Gothic Neo"/>
                          <a:ea typeface="Apple SD Gothic Neo"/>
                          <a:cs typeface="Apple SD Gothic Neo"/>
                        </a:rPr>
                        <a:t>상황</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처리 원칙</a:t>
                      </a:r>
                    </a:p>
                  </a:txBody>
                  <a:tcPr marL="91440" marR="91440" marT="45720" marB="45720" anchor="ctr">
                    <a:solidFill>
                      <a:srgbClr val="26282D"/>
                    </a:solidFill>
                  </a:tcPr>
                </a:tc>
              </a:tr>
              <a:tr h="508635">
                <a:tc>
                  <a:txBody>
                    <a:bodyPr lIns="104775" tIns="66675" rIns="95250" bIns="66675"/>
                    <a:lstStyle/>
                    <a:p>
                      <a:r>
                        <a:rPr sz="1500" b="0">
                          <a:solidFill>
                            <a:srgbClr val="26282D"/>
                          </a:solidFill>
                          <a:latin typeface="Apple SD Gothic Neo"/>
                          <a:ea typeface="Apple SD Gothic Neo"/>
                          <a:cs typeface="Apple SD Gothic Neo"/>
                        </a:rPr>
                        <a:t>새 발급 중단</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새로운 발급을 멈추고 기존 혜택은 유지</a:t>
                      </a:r>
                    </a:p>
                  </a:txBody>
                  <a:tcPr marL="91440" marR="91440" marT="45720" marB="45720" anchor="ctr">
                    <a:solidFill>
                      <a:srgbClr val="FFFFFF"/>
                    </a:solidFill>
                  </a:tcPr>
                </a:tc>
              </a:tr>
              <a:tr h="508635">
                <a:tc>
                  <a:txBody>
                    <a:bodyPr lIns="104775" tIns="66675" rIns="95250" bIns="66675"/>
                    <a:lstStyle/>
                    <a:p>
                      <a:r>
                        <a:rPr sz="1500" b="0">
                          <a:solidFill>
                            <a:srgbClr val="26282D"/>
                          </a:solidFill>
                          <a:latin typeface="Apple SD Gothic Neo"/>
                          <a:ea typeface="Apple SD Gothic Neo"/>
                          <a:cs typeface="Apple SD Gothic Neo"/>
                        </a:rPr>
                        <a:t>기존 혜택 사용</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발급 당시 조건으로 결제 체험 가능</a:t>
                      </a:r>
                    </a:p>
                  </a:txBody>
                  <a:tcPr marL="91440" marR="91440" marT="45720" marB="45720" anchor="ctr">
                    <a:solidFill>
                      <a:srgbClr val="EEF1EA"/>
                    </a:solidFill>
                  </a:tcPr>
                </a:tc>
              </a:tr>
              <a:tr h="508635">
                <a:tc>
                  <a:txBody>
                    <a:bodyPr lIns="104775" tIns="66675" rIns="95250" bIns="66675"/>
                    <a:lstStyle/>
                    <a:p>
                      <a:r>
                        <a:rPr sz="1500" b="0">
                          <a:solidFill>
                            <a:srgbClr val="26282D"/>
                          </a:solidFill>
                          <a:latin typeface="Apple SD Gothic Neo"/>
                          <a:ea typeface="Apple SD Gothic Neo"/>
                          <a:cs typeface="Apple SD Gothic Neo"/>
                        </a:rPr>
                        <a:t>전액 환불</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할인과 이용료를 취소 반영</a:t>
                      </a:r>
                    </a:p>
                  </a:txBody>
                  <a:tcPr marL="91440" marR="91440" marT="45720" marB="45720" anchor="ctr">
                    <a:solidFill>
                      <a:srgbClr val="FFFFFF"/>
                    </a:solidFill>
                  </a:tcPr>
                </a:tc>
              </a:tr>
              <a:tr h="508635">
                <a:tc>
                  <a:txBody>
                    <a:bodyPr lIns="104775" tIns="66675" rIns="95250" bIns="66675"/>
                    <a:lstStyle/>
                    <a:p>
                      <a:r>
                        <a:rPr sz="1500" b="0">
                          <a:solidFill>
                            <a:srgbClr val="26282D"/>
                          </a:solidFill>
                          <a:latin typeface="Apple SD Gothic Neo"/>
                          <a:ea typeface="Apple SD Gothic Neo"/>
                          <a:cs typeface="Apple SD Gothic Neo"/>
                        </a:rPr>
                        <a:t>중복 사용</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같은 거래·혜택의 중복 처리를 방지</a:t>
                      </a:r>
                    </a:p>
                  </a:txBody>
                  <a:tcPr marL="91440" marR="91440" marT="45720" marB="45720" anchor="ctr">
                    <a:solidFill>
                      <a:srgbClr val="EEF1EA"/>
                    </a:solidFill>
                  </a:tcPr>
                </a:tc>
              </a:tr>
            </a:tbl>
          </a:graphicData>
        </a:graphic>
      </p:graphicFrame>
      <p:sp>
        <p:nvSpPr>
          <p:cNvPr id="10" name="">
            <a:extLst xmlns:a="http://schemas.openxmlformats.org/drawingml/2006/main">
              <a:ext uri="{FF2B5EF4-FFF2-40B4-BE49-F238E27FC236}">
                <a16:creationId xmlns:a16="http://schemas.microsoft.com/office/drawing/2014/main" id="{04FFF56D-97D7-44C4-BC32-FCA57BAF1DE9}"/>
              </a:ext>
            </a:extLst>
          </p:cNvPr>
          <p:cNvSpPr>
            <a:spLocks xmlns:a="http://schemas.openxmlformats.org/drawingml/2006/main" noGrp="1"/>
          </p:cNvSpPr>
          <p:nvPr/>
        </p:nvSpPr>
        <p:spPr>
          <a:xfrm xmlns:a="http://schemas.openxmlformats.org/drawingml/2006/main">
            <a:off x="5286375" y="4648200"/>
            <a:ext cx="638175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실서비스에서 추가할 예외</a:t>
            </a:r>
          </a:p>
        </p:txBody>
      </p:sp>
      <p:sp>
        <p:nvSpPr>
          <p:cNvPr id="11" name="">
            <a:extLst xmlns:a="http://schemas.openxmlformats.org/drawingml/2006/main">
              <a:ext uri="{FF2B5EF4-FFF2-40B4-BE49-F238E27FC236}">
                <a16:creationId xmlns:a16="http://schemas.microsoft.com/office/drawing/2014/main" id="{3D5BA3C6-9576-4E55-82A5-9FCD02822663}"/>
              </a:ext>
            </a:extLst>
          </p:cNvPr>
          <p:cNvSpPr>
            <a:spLocks xmlns:a="http://schemas.openxmlformats.org/drawingml/2006/main" noGrp="1"/>
          </p:cNvSpPr>
          <p:nvPr/>
        </p:nvSpPr>
        <p:spPr>
          <a:xfrm xmlns:a="http://schemas.openxmlformats.org/drawingml/2006/main">
            <a:off x="5286375" y="5086350"/>
            <a:ext cx="63531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F7B73"/>
                </a:solidFill>
                <a:latin typeface="Apple SD Gothic Neo"/>
                <a:ea typeface="Apple SD Gothic Neo"/>
                <a:cs typeface="Apple SD Gothic Neo"/>
              </a:defRPr>
            </a:pPr>
            <a:r>
              <a:rPr sz="1650" b="0">
                <a:solidFill>
                  <a:srgbClr val="6F7B73"/>
                </a:solidFill>
                <a:latin typeface="Apple SD Gothic Neo"/>
                <a:ea typeface="Apple SD Gothic Neo"/>
                <a:cs typeface="Apple SD Gothic Neo"/>
              </a:rPr>
              <a:t>부분 취소, 혜택 만료, 정산 마감 이후 취소의 세부 규칙을</a:t>
            </a:r>
          </a:p>
          <a:p xmlns:a="http://schemas.openxmlformats.org/drawingml/2006/main">
            <a:pPr algn="l">
              <a:defRPr sz="1650" b="0">
                <a:solidFill>
                  <a:srgbClr val="6F7B73"/>
                </a:solidFill>
                <a:latin typeface="Apple SD Gothic Neo"/>
                <a:ea typeface="Apple SD Gothic Neo"/>
                <a:cs typeface="Apple SD Gothic Neo"/>
              </a:defRPr>
            </a:pPr>
            <a:r>
              <a:rPr sz="1650" b="0">
                <a:solidFill>
                  <a:srgbClr val="6F7B73"/>
                </a:solidFill>
                <a:latin typeface="Apple SD Gothic Neo"/>
                <a:ea typeface="Apple SD Gothic Neo"/>
                <a:cs typeface="Apple SD Gothic Neo"/>
              </a:rPr>
              <a:t>확정해야 합니다. 쿠폰 원장과 실제 승인·취소 이벤트를</a:t>
            </a:r>
          </a:p>
          <a:p xmlns:a="http://schemas.openxmlformats.org/drawingml/2006/main">
            <a:pPr algn="l">
              <a:defRPr sz="1650" b="0">
                <a:solidFill>
                  <a:srgbClr val="6F7B73"/>
                </a:solidFill>
                <a:latin typeface="Apple SD Gothic Neo"/>
                <a:ea typeface="Apple SD Gothic Neo"/>
                <a:cs typeface="Apple SD Gothic Neo"/>
              </a:defRPr>
            </a:pPr>
            <a:r>
              <a:rPr sz="1650" b="0">
                <a:solidFill>
                  <a:srgbClr val="6F7B73"/>
                </a:solidFill>
                <a:latin typeface="Apple SD Gothic Neo"/>
                <a:ea typeface="Apple SD Gothic Neo"/>
                <a:cs typeface="Apple SD Gothic Neo"/>
              </a:rPr>
              <a:t>연결하고, 누락·중복 여부를 정산 대사로 확인합니다.</a:t>
            </a:r>
          </a:p>
        </p:txBody>
      </p:sp>
      <p:sp>
        <p:nvSpPr>
          <p:cNvPr id="12" name="">
            <a:extLst xmlns:a="http://schemas.openxmlformats.org/drawingml/2006/main">
              <a:ext uri="{FF2B5EF4-FFF2-40B4-BE49-F238E27FC236}">
                <a16:creationId xmlns:a16="http://schemas.microsoft.com/office/drawing/2014/main" id="{86047F61-F3DB-4C12-B34E-9BEC790F6ABA}"/>
              </a:ext>
            </a:extLst>
          </p:cNvPr>
          <p:cNvSpPr>
            <a:spLocks xmlns:a="http://schemas.openxmlformats.org/drawingml/2006/main" noGrp="1"/>
          </p:cNvSpPr>
          <p:nvPr/>
        </p:nvSpPr>
        <p:spPr>
          <a:xfrm xmlns:a="http://schemas.openxmlformats.org/drawingml/2006/main">
            <a:off x="466725" y="5686425"/>
            <a:ext cx="2133600"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사장님이 일시 중단</a:t>
            </a:r>
          </a:p>
        </p:txBody>
      </p:sp>
      <p:sp>
        <p:nvSpPr>
          <p:cNvPr id="13" name="">
            <a:extLst xmlns:a="http://schemas.openxmlformats.org/drawingml/2006/main">
              <a:ext uri="{FF2B5EF4-FFF2-40B4-BE49-F238E27FC236}">
                <a16:creationId xmlns:a16="http://schemas.microsoft.com/office/drawing/2014/main" id="{58111EA4-0434-4787-9C98-5319B4B80F8B}"/>
              </a:ext>
            </a:extLst>
          </p:cNvPr>
          <p:cNvSpPr>
            <a:spLocks xmlns:a="http://schemas.openxmlformats.org/drawingml/2006/main" noGrp="1"/>
          </p:cNvSpPr>
          <p:nvPr/>
        </p:nvSpPr>
        <p:spPr>
          <a:xfrm xmlns:a="http://schemas.openxmlformats.org/drawingml/2006/main">
            <a:off x="466725" y="5991225"/>
            <a:ext cx="2133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새 발급 중단과 기존 약속 구분</a:t>
            </a:r>
          </a:p>
        </p:txBody>
      </p:sp>
      <p:sp>
        <p:nvSpPr>
          <p:cNvPr id="14" name="">
            <a:extLst xmlns:a="http://schemas.openxmlformats.org/drawingml/2006/main">
              <a:ext uri="{FF2B5EF4-FFF2-40B4-BE49-F238E27FC236}">
                <a16:creationId xmlns:a16="http://schemas.microsoft.com/office/drawing/2014/main" id="{D8CA8FE3-3D2A-4BB9-92AC-7CF0B6DC2C8D}"/>
              </a:ext>
            </a:extLst>
          </p:cNvPr>
          <p:cNvSpPr>
            <a:spLocks xmlns:a="http://schemas.openxmlformats.org/drawingml/2006/main" noGrp="1"/>
          </p:cNvSpPr>
          <p:nvPr/>
        </p:nvSpPr>
        <p:spPr>
          <a:xfrm xmlns:a="http://schemas.openxmlformats.org/drawingml/2006/main">
            <a:off x="2771775" y="5686425"/>
            <a:ext cx="2143125" cy="270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소비자가 전액 환불</a:t>
            </a:r>
          </a:p>
        </p:txBody>
      </p:sp>
      <p:sp>
        <p:nvSpPr>
          <p:cNvPr id="15" name="">
            <a:extLst xmlns:a="http://schemas.openxmlformats.org/drawingml/2006/main">
              <a:ext uri="{FF2B5EF4-FFF2-40B4-BE49-F238E27FC236}">
                <a16:creationId xmlns:a16="http://schemas.microsoft.com/office/drawing/2014/main" id="{5EE88106-595A-4717-9A89-EAF65FBC897E}"/>
              </a:ext>
            </a:extLst>
          </p:cNvPr>
          <p:cNvSpPr>
            <a:spLocks xmlns:a="http://schemas.openxmlformats.org/drawingml/2006/main" noGrp="1"/>
          </p:cNvSpPr>
          <p:nvPr/>
        </p:nvSpPr>
        <p:spPr>
          <a:xfrm xmlns:a="http://schemas.openxmlformats.org/drawingml/2006/main">
            <a:off x="2771775" y="5991225"/>
            <a:ext cx="214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혜택·이용료 취소 반영</a:t>
            </a:r>
          </a:p>
        </p:txBody>
      </p:sp>
    </p:spTree>
    <p:extLst>
      <p:ext uri="{BB962C8B-B14F-4D97-AF65-F5344CB8AC3E}">
        <p14:creationId xmlns:p14="http://schemas.microsoft.com/office/powerpoint/2010/main" val="1710638202"/>
      </p:ext>
    </p:extLst>
  </p:cSld>
</p:sld>
</file>

<file path=ppt/slides/slide16.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50E238-A039-4A1F-A28E-DCA922ED400A}"/>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BC가 운영할 수 있는 서비스로 연결하는 방법</a:t>
            </a:r>
          </a:p>
        </p:txBody>
      </p:sp>
      <p:sp>
        <p:nvSpPr>
          <p:cNvPr id="2" name="">
            <a:extLst xmlns:a="http://schemas.openxmlformats.org/drawingml/2006/main">
              <a:ext uri="{FF2B5EF4-FFF2-40B4-BE49-F238E27FC236}">
                <a16:creationId xmlns:a16="http://schemas.microsoft.com/office/drawing/2014/main" id="{9D70294C-79A2-42F3-92EE-B3D02EF9D3C4}"/>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현재는 프론트엔드 체험 앱입니다. 사업화 단계에서는 BC의 기존 채널과 내부 시스템 연계를 검토합니다.</a:t>
            </a:r>
          </a:p>
        </p:txBody>
      </p:sp>
      <p:sp>
        <p:nvSpPr>
          <p:cNvPr id="3" name="">
            <a:extLst xmlns:a="http://schemas.openxmlformats.org/drawingml/2006/main">
              <a:ext uri="{FF2B5EF4-FFF2-40B4-BE49-F238E27FC236}">
                <a16:creationId xmlns:a16="http://schemas.microsoft.com/office/drawing/2014/main" id="{9A7AEE1F-1525-4C57-924B-34D1BB51630E}"/>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7B86C7-3824-4D2E-AB10-9FE5FFFBC8EE}"/>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456393E1-B585-40BF-8143-A73F017934FA}"/>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16</a:t>
            </a:r>
          </a:p>
        </p:txBody>
      </p:sp>
      <p:graphicFrame>
        <p:nvGraphicFramePr>
          <p:cNvPr id="16" name=""/>
          <p:cNvGraphicFramePr/>
          <p:nvPr/>
        </p:nvGraphicFramePr>
        <p:xfrm>
          <a:off xmlns:a="http://schemas.openxmlformats.org/drawingml/2006/main" x="428625" y="1362075"/>
          <a:ext xmlns:a="http://schemas.openxmlformats.org/drawingml/2006/main" cx="11315700" cy="1924050"/>
        </p:xfrm>
        <a:graphic xmlns:a="http://schemas.openxmlformats.org/drawingml/2006/main">
          <a:graphicData uri="http://schemas.openxmlformats.org/drawingml/2006/table">
            <a:tbl>
              <a:tblPr/>
              <a:tblGrid>
                <a:gridCol w="1581150"/>
                <a:gridCol w="4600575"/>
                <a:gridCol w="5133975"/>
              </a:tblGrid>
              <a:tr h="481013">
                <a:tc>
                  <a:txBody>
                    <a:bodyPr lIns="104775" tIns="66675" rIns="95250" bIns="66675"/>
                    <a:lstStyle/>
                    <a:p>
                      <a:r>
                        <a:rPr sz="1500" b="1">
                          <a:solidFill>
                            <a:srgbClr val="FFFFFF"/>
                          </a:solidFill>
                          <a:latin typeface="Apple SD Gothic Neo"/>
                          <a:ea typeface="Apple SD Gothic Neo"/>
                          <a:cs typeface="Apple SD Gothic Neo"/>
                        </a:rPr>
                        <a:t>대상</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제공할 가치</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확인할 지표</a:t>
                      </a:r>
                    </a:p>
                  </a:txBody>
                  <a:tcPr marL="91440" marR="91440" marT="45720" marB="45720" anchor="ctr">
                    <a:solidFill>
                      <a:srgbClr val="26282D"/>
                    </a:solidFill>
                  </a:tcPr>
                </a:tc>
              </a:tr>
              <a:tr h="481013">
                <a:tc>
                  <a:txBody>
                    <a:bodyPr lIns="104775" tIns="66675" rIns="95250" bIns="66675"/>
                    <a:lstStyle/>
                    <a:p>
                      <a:r>
                        <a:rPr sz="1500" b="0">
                          <a:solidFill>
                            <a:srgbClr val="26282D"/>
                          </a:solidFill>
                          <a:latin typeface="Apple SD Gothic Neo"/>
                          <a:ea typeface="Apple SD Gothic Neo"/>
                          <a:cs typeface="Apple SD Gothic Neo"/>
                        </a:rPr>
                        <a:t>소비자</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새 가게 발견과 명확한 혜택</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상세 확인·유효 이용·불만·재방문</a:t>
                      </a:r>
                    </a:p>
                  </a:txBody>
                  <a:tcPr marL="91440" marR="91440" marT="45720" marB="45720" anchor="ctr">
                    <a:solidFill>
                      <a:srgbClr val="FFFFFF"/>
                    </a:solidFill>
                  </a:tcPr>
                </a:tc>
              </a:tr>
              <a:tr h="481013">
                <a:tc>
                  <a:txBody>
                    <a:bodyPr lIns="104775" tIns="66675" rIns="95250" bIns="66675"/>
                    <a:lstStyle/>
                    <a:p>
                      <a:r>
                        <a:rPr sz="1500" b="0">
                          <a:solidFill>
                            <a:srgbClr val="26282D"/>
                          </a:solidFill>
                          <a:latin typeface="Apple SD Gothic Neo"/>
                          <a:ea typeface="Apple SD Gothic Neo"/>
                          <a:cs typeface="Apple SD Gothic Neo"/>
                        </a:rPr>
                        <a:t>가맹점</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조건 선택과 비용 통제</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추가 공헌이익·예산 소진·재참여</a:t>
                      </a:r>
                    </a:p>
                  </a:txBody>
                  <a:tcPr marL="91440" marR="91440" marT="45720" marB="45720" anchor="ctr">
                    <a:solidFill>
                      <a:srgbClr val="EEF1EA"/>
                    </a:solidFill>
                  </a:tcPr>
                </a:tc>
              </a:tr>
              <a:tr h="481013">
                <a:tc>
                  <a:txBody>
                    <a:bodyPr lIns="104775" tIns="66675" rIns="95250" bIns="66675"/>
                    <a:lstStyle/>
                    <a:p>
                      <a:r>
                        <a:rPr sz="1500" b="0">
                          <a:solidFill>
                            <a:srgbClr val="26282D"/>
                          </a:solidFill>
                          <a:latin typeface="Apple SD Gothic Neo"/>
                          <a:ea typeface="Apple SD Gothic Neo"/>
                          <a:cs typeface="Apple SD Gothic Neo"/>
                        </a:rPr>
                        <a:t>BC</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제휴 확대와 데이터 기반 운영</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원가 차감 후 수익·유지율·증분 결제</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218352A-FFFF-4BC4-A7BA-A7F1146A139C}"/>
              </a:ext>
            </a:extLst>
          </p:cNvPr>
          <p:cNvSpPr>
            <a:spLocks xmlns:a="http://schemas.openxmlformats.org/drawingml/2006/main" noGrp="1"/>
          </p:cNvSpPr>
          <p:nvPr/>
        </p:nvSpPr>
        <p:spPr>
          <a:xfrm xmlns:a="http://schemas.openxmlformats.org/drawingml/2006/main">
            <a:off x="428625" y="3476625"/>
            <a:ext cx="11315700" cy="523875"/>
          </a:xfrm>
          <a:prstGeom xmlns:a="http://schemas.openxmlformats.org/drawingml/2006/main" prst="rect">
            <a:avLst/>
          </a:prstGeom>
          <a:solidFill xmlns:a="http://schemas.openxmlformats.org/drawingml/2006/main">
            <a:srgbClr val="EEF1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F027A2-DD3F-49EE-B7AD-CEB5E6341055}"/>
              </a:ext>
            </a:extLst>
          </p:cNvPr>
          <p:cNvSpPr>
            <a:spLocks xmlns:a="http://schemas.openxmlformats.org/drawingml/2006/main" noGrp="1"/>
          </p:cNvSpPr>
          <p:nvPr/>
        </p:nvSpPr>
        <p:spPr>
          <a:xfrm xmlns:a="http://schemas.openxmlformats.org/drawingml/2006/main">
            <a:off x="571500" y="3600450"/>
            <a:ext cx="11029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6282D"/>
                </a:solidFill>
                <a:latin typeface="Apple SD Gothic Neo"/>
                <a:ea typeface="Apple SD Gothic Neo"/>
                <a:cs typeface="Apple SD Gothic Neo"/>
              </a:defRPr>
            </a:pPr>
            <a:r>
              <a:rPr sz="1575" b="1">
                <a:solidFill>
                  <a:srgbClr val="26282D"/>
                </a:solidFill>
                <a:latin typeface="Apple SD Gothic Neo"/>
                <a:ea typeface="Apple SD Gothic Neo"/>
                <a:cs typeface="Apple SD Gothic Neo"/>
              </a:rPr>
              <a:t>수익 가정: 300원 × 60건 = 월 18,000원/점포. 모집·지원·시스템·혜택 분담 비용 차감 전입니다.</a:t>
            </a:r>
          </a:p>
        </p:txBody>
      </p:sp>
      <p:graphicFrame>
        <p:nvGraphicFramePr>
          <p:cNvPr id="19" name=""/>
          <p:cNvGraphicFramePr/>
          <p:nvPr/>
        </p:nvGraphicFramePr>
        <p:xfrm>
          <a:off xmlns:a="http://schemas.openxmlformats.org/drawingml/2006/main" x="428625" y="4219575"/>
          <a:ext xmlns:a="http://schemas.openxmlformats.org/drawingml/2006/main" cx="11315700" cy="1638300"/>
        </p:xfrm>
        <a:graphic xmlns:a="http://schemas.openxmlformats.org/drawingml/2006/main">
          <a:graphicData uri="http://schemas.openxmlformats.org/drawingml/2006/table">
            <a:tbl>
              <a:tblPr/>
              <a:tblGrid>
                <a:gridCol w="4324350"/>
                <a:gridCol w="4429125"/>
                <a:gridCol w="2562225"/>
              </a:tblGrid>
              <a:tr h="409575">
                <a:tc>
                  <a:txBody>
                    <a:bodyPr lIns="104775" tIns="66675" rIns="95250" bIns="66675"/>
                    <a:lstStyle/>
                    <a:p>
                      <a:r>
                        <a:rPr sz="1350" b="1">
                          <a:solidFill>
                            <a:srgbClr val="FFFFFF"/>
                          </a:solidFill>
                          <a:latin typeface="Apple SD Gothic Neo"/>
                          <a:ea typeface="Apple SD Gothic Neo"/>
                          <a:cs typeface="Apple SD Gothic Neo"/>
                        </a:rPr>
                        <a:t>현재 작동하는 체험</a:t>
                      </a:r>
                    </a:p>
                  </a:txBody>
                  <a:tcPr marL="91440" marR="91440" marT="45720" marB="45720" anchor="ctr">
                    <a:solidFill>
                      <a:srgbClr val="26282D"/>
                    </a:solidFill>
                  </a:tcPr>
                </a:tc>
                <a:tc>
                  <a:txBody>
                    <a:bodyPr lIns="104775" tIns="66675" rIns="95250" bIns="66675"/>
                    <a:lstStyle/>
                    <a:p>
                      <a:r>
                        <a:rPr sz="1350" b="1">
                          <a:solidFill>
                            <a:srgbClr val="FFFFFF"/>
                          </a:solidFill>
                          <a:latin typeface="Apple SD Gothic Neo"/>
                          <a:ea typeface="Apple SD Gothic Neo"/>
                          <a:cs typeface="Apple SD Gothic Neo"/>
                        </a:rPr>
                        <a:t>실행 단계에서 연결할 것</a:t>
                      </a:r>
                    </a:p>
                  </a:txBody>
                  <a:tcPr marL="91440" marR="91440" marT="45720" marB="45720" anchor="ctr">
                    <a:solidFill>
                      <a:srgbClr val="26282D"/>
                    </a:solidFill>
                  </a:tcPr>
                </a:tc>
                <a:tc>
                  <a:txBody>
                    <a:bodyPr lIns="104775" tIns="66675" rIns="95250" bIns="66675"/>
                    <a:lstStyle/>
                    <a:p>
                      <a:r>
                        <a:rPr sz="1350" b="1">
                          <a:solidFill>
                            <a:srgbClr val="FFFFFF"/>
                          </a:solidFill>
                          <a:latin typeface="Apple SD Gothic Neo"/>
                          <a:ea typeface="Apple SD Gothic Neo"/>
                          <a:cs typeface="Apple SD Gothic Neo"/>
                        </a:rPr>
                        <a:t>책임 주체 제안</a:t>
                      </a:r>
                    </a:p>
                  </a:txBody>
                  <a:tcPr marL="91440" marR="91440" marT="45720" marB="45720" anchor="ctr">
                    <a:solidFill>
                      <a:srgbClr val="26282D"/>
                    </a:solidFill>
                  </a:tcPr>
                </a:tc>
              </a:tr>
              <a:tr h="409575">
                <a:tc>
                  <a:txBody>
                    <a:bodyPr lIns="104775" tIns="66675" rIns="95250" bIns="66675"/>
                    <a:lstStyle/>
                    <a:p>
                      <a:r>
                        <a:rPr sz="1350" b="0">
                          <a:solidFill>
                            <a:srgbClr val="26282D"/>
                          </a:solidFill>
                          <a:latin typeface="Apple SD Gothic Neo"/>
                          <a:ea typeface="Apple SD Gothic Neo"/>
                          <a:cs typeface="Apple SD Gothic Neo"/>
                        </a:rPr>
                        <a:t>세 역할·제안·수락·혜택·결제 체험</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인증·권한·사업자 확인·제휴 계약</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BC 서비스·가맹점 조직</a:t>
                      </a:r>
                    </a:p>
                  </a:txBody>
                  <a:tcPr marL="91440" marR="91440" marT="45720" marB="45720" anchor="ctr">
                    <a:solidFill>
                      <a:srgbClr val="FFFFFF"/>
                    </a:solidFill>
                  </a:tcPr>
                </a:tc>
              </a:tr>
              <a:tr h="409575">
                <a:tc>
                  <a:txBody>
                    <a:bodyPr lIns="104775" tIns="66675" rIns="95250" bIns="66675"/>
                    <a:lstStyle/>
                    <a:p>
                      <a:r>
                        <a:rPr sz="1350" b="0">
                          <a:solidFill>
                            <a:srgbClr val="26282D"/>
                          </a:solidFill>
                          <a:latin typeface="Apple SD Gothic Neo"/>
                          <a:ea typeface="Apple SD Gothic Neo"/>
                          <a:cs typeface="Apple SD Gothic Neo"/>
                        </a:rPr>
                        <a:t>할인·예산·환불 계산, 브라우저 상태 저장</a:t>
                      </a:r>
                    </a:p>
                  </a:txBody>
                  <a:tcPr marL="91440" marR="91440" marT="45720" marB="45720" anchor="ctr">
                    <a:solidFill>
                      <a:srgbClr val="EEF1EA"/>
                    </a:solidFill>
                  </a:tcPr>
                </a:tc>
                <a:tc>
                  <a:txBody>
                    <a:bodyPr lIns="104775" tIns="66675" rIns="95250" bIns="66675"/>
                    <a:lstStyle/>
                    <a:p>
                      <a:r>
                        <a:rPr sz="1350" b="0">
                          <a:solidFill>
                            <a:srgbClr val="26282D"/>
                          </a:solidFill>
                          <a:latin typeface="Apple SD Gothic Neo"/>
                          <a:ea typeface="Apple SD Gothic Neo"/>
                          <a:cs typeface="Apple SD Gothic Neo"/>
                        </a:rPr>
                        <a:t>쿠폰 원장·승인/취소·중복 방지·정산 대사</a:t>
                      </a:r>
                    </a:p>
                  </a:txBody>
                  <a:tcPr marL="91440" marR="91440" marT="45720" marB="45720" anchor="ctr">
                    <a:solidFill>
                      <a:srgbClr val="EEF1EA"/>
                    </a:solidFill>
                  </a:tcPr>
                </a:tc>
                <a:tc>
                  <a:txBody>
                    <a:bodyPr lIns="104775" tIns="66675" rIns="95250" bIns="66675"/>
                    <a:lstStyle/>
                    <a:p>
                      <a:r>
                        <a:rPr sz="1350" b="0">
                          <a:solidFill>
                            <a:srgbClr val="26282D"/>
                          </a:solidFill>
                          <a:latin typeface="Apple SD Gothic Neo"/>
                          <a:ea typeface="Apple SD Gothic Neo"/>
                          <a:cs typeface="Apple SD Gothic Neo"/>
                        </a:rPr>
                        <a:t>결제·개발·운영 조직</a:t>
                      </a:r>
                    </a:p>
                  </a:txBody>
                  <a:tcPr marL="91440" marR="91440" marT="45720" marB="45720" anchor="ctr">
                    <a:solidFill>
                      <a:srgbClr val="EEF1EA"/>
                    </a:solidFill>
                  </a:tcPr>
                </a:tc>
              </a:tr>
              <a:tr h="409575">
                <a:tc>
                  <a:txBody>
                    <a:bodyPr lIns="104775" tIns="66675" rIns="95250" bIns="66675"/>
                    <a:lstStyle/>
                    <a:p>
                      <a:r>
                        <a:rPr sz="1350" b="0">
                          <a:solidFill>
                            <a:srgbClr val="26282D"/>
                          </a:solidFill>
                          <a:latin typeface="Apple SD Gothic Neo"/>
                          <a:ea typeface="Apple SD Gothic Neo"/>
                          <a:cs typeface="Apple SD Gothic Neo"/>
                        </a:rPr>
                        <a:t>지역 분석·AI 예시·후보 근거 화면</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승인된 집계 분석·AI 수집·점포 매칭</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데이터·서비스 기획 조직</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AA65E10C-DF5A-4CBB-90B9-3D907C1BA820}"/>
              </a:ext>
            </a:extLst>
          </p:cNvPr>
          <p:cNvSpPr>
            <a:spLocks xmlns:a="http://schemas.openxmlformats.org/drawingml/2006/main" noGrp="1"/>
          </p:cNvSpPr>
          <p:nvPr/>
        </p:nvSpPr>
        <p:spPr>
          <a:xfrm xmlns:a="http://schemas.openxmlformats.org/drawingml/2006/main">
            <a:off x="457200" y="6029325"/>
            <a:ext cx="1123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소비자 기능은 기존 BC 앱 안에서 시작하는 방안을 우선 검토합니다. 채널 탑재와 대상 카드는 BC 검토가 필요합니다.</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현재 서버·실결제·AI API는 없으며 다른 기기와 상태를 동기화하지 않습니다. 300원은 확정 요율이나 순이익이 아닙니다.</a:t>
            </a:r>
          </a:p>
        </p:txBody>
      </p:sp>
    </p:spTree>
    <p:extLst>
      <p:ext uri="{BB962C8B-B14F-4D97-AF65-F5344CB8AC3E}">
        <p14:creationId xmlns:p14="http://schemas.microsoft.com/office/powerpoint/2010/main" val="29907232"/>
      </p:ext>
    </p:extLst>
  </p:cSld>
</p:sld>
</file>

<file path=ppt/slides/slide1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712217-86E2-4C1B-95F9-A0319C98AAA3}"/>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30개 점포·8주 파일럿으로 추가 방문과 손익을 확인합니다.</a:t>
            </a:r>
          </a:p>
        </p:txBody>
      </p:sp>
      <p:sp>
        <p:nvSpPr>
          <p:cNvPr id="2" name="">
            <a:extLst xmlns:a="http://schemas.openxmlformats.org/drawingml/2006/main">
              <a:ext uri="{FF2B5EF4-FFF2-40B4-BE49-F238E27FC236}">
                <a16:creationId xmlns:a16="http://schemas.microsoft.com/office/drawing/2014/main" id="{7A9B9F4E-2347-4E2A-80C7-DECBA5BC7662}"/>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원주 일반한식 대상 운영성 검토의 시작안입니다. 실험 결과나 효과 검출을 보장하는 표본 수가 아닙니다.</a:t>
            </a:r>
          </a:p>
        </p:txBody>
      </p:sp>
      <p:sp>
        <p:nvSpPr>
          <p:cNvPr id="3" name="">
            <a:extLst xmlns:a="http://schemas.openxmlformats.org/drawingml/2006/main">
              <a:ext uri="{FF2B5EF4-FFF2-40B4-BE49-F238E27FC236}">
                <a16:creationId xmlns:a16="http://schemas.microsoft.com/office/drawing/2014/main" id="{8715BEFC-1FEB-4A5E-86D9-791A4F48F0B0}"/>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B724CE-ADBB-4DA6-8459-4BD29EC4C4AA}"/>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B62C8B43-2254-45EF-A99C-6EC693D088B5}"/>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17</a:t>
            </a:r>
          </a:p>
        </p:txBody>
      </p:sp>
      <p:graphicFrame>
        <p:nvGraphicFramePr>
          <p:cNvPr id="15" name=""/>
          <p:cNvGraphicFramePr/>
          <p:nvPr/>
        </p:nvGraphicFramePr>
        <p:xfrm>
          <a:off xmlns:a="http://schemas.openxmlformats.org/drawingml/2006/main" x="428625" y="1362075"/>
          <a:ext xmlns:a="http://schemas.openxmlformats.org/drawingml/2006/main" cx="11315700" cy="2076450"/>
        </p:xfrm>
        <a:graphic xmlns:a="http://schemas.openxmlformats.org/drawingml/2006/main">
          <a:graphicData uri="http://schemas.openxmlformats.org/drawingml/2006/table">
            <a:tbl>
              <a:tblPr/>
              <a:tblGrid>
                <a:gridCol w="2381250"/>
                <a:gridCol w="2619375"/>
                <a:gridCol w="2476500"/>
                <a:gridCol w="3838575"/>
              </a:tblGrid>
              <a:tr h="415290">
                <a:tc>
                  <a:txBody>
                    <a:bodyPr lIns="104775" tIns="66675" rIns="95250" bIns="66675"/>
                    <a:lstStyle/>
                    <a:p>
                      <a:r>
                        <a:rPr sz="1500" b="1">
                          <a:solidFill>
                            <a:srgbClr val="FFFFFF"/>
                          </a:solidFill>
                          <a:latin typeface="Apple SD Gothic Neo"/>
                          <a:ea typeface="Apple SD Gothic Neo"/>
                          <a:cs typeface="Apple SD Gothic Neo"/>
                        </a:rPr>
                        <a:t>실험군</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추가 추천 노출</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히든픽 할인</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읽으려는 효과</a:t>
                      </a:r>
                    </a:p>
                  </a:txBody>
                  <a:tcPr marL="91440" marR="91440" marT="45720" marB="45720" anchor="ctr">
                    <a:solidFill>
                      <a:srgbClr val="26282D"/>
                    </a:solidFill>
                  </a:tcPr>
                </a:tc>
              </a:tr>
              <a:tr h="415290">
                <a:tc>
                  <a:txBody>
                    <a:bodyPr lIns="104775" tIns="66675" rIns="95250" bIns="66675"/>
                    <a:lstStyle/>
                    <a:p>
                      <a:r>
                        <a:rPr sz="1500" b="0">
                          <a:solidFill>
                            <a:srgbClr val="26282D"/>
                          </a:solidFill>
                          <a:latin typeface="Apple SD Gothic Neo"/>
                          <a:ea typeface="Apple SD Gothic Neo"/>
                          <a:cs typeface="Apple SD Gothic Neo"/>
                        </a:rPr>
                        <a:t>A · 비교군</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없음</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없음</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기준선</a:t>
                      </a:r>
                    </a:p>
                  </a:txBody>
                  <a:tcPr marL="91440" marR="91440" marT="45720" marB="45720" anchor="ctr">
                    <a:solidFill>
                      <a:srgbClr val="FFFFFF"/>
                    </a:solidFill>
                  </a:tcPr>
                </a:tc>
              </a:tr>
              <a:tr h="415290">
                <a:tc>
                  <a:txBody>
                    <a:bodyPr lIns="104775" tIns="66675" rIns="95250" bIns="66675"/>
                    <a:lstStyle/>
                    <a:p>
                      <a:r>
                        <a:rPr sz="1500" b="0">
                          <a:solidFill>
                            <a:srgbClr val="26282D"/>
                          </a:solidFill>
                          <a:latin typeface="Apple SD Gothic Neo"/>
                          <a:ea typeface="Apple SD Gothic Neo"/>
                          <a:cs typeface="Apple SD Gothic Neo"/>
                        </a:rPr>
                        <a:t>B · 발견만</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있음</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없음</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추가 발견 효과</a:t>
                      </a:r>
                    </a:p>
                  </a:txBody>
                  <a:tcPr marL="91440" marR="91440" marT="45720" marB="45720" anchor="ctr">
                    <a:solidFill>
                      <a:srgbClr val="EEF1EA"/>
                    </a:solidFill>
                  </a:tcPr>
                </a:tc>
              </a:tr>
              <a:tr h="415290">
                <a:tc>
                  <a:txBody>
                    <a:bodyPr lIns="104775" tIns="66675" rIns="95250" bIns="66675"/>
                    <a:lstStyle/>
                    <a:p>
                      <a:r>
                        <a:rPr sz="1500" b="0">
                          <a:solidFill>
                            <a:srgbClr val="26282D"/>
                          </a:solidFill>
                          <a:latin typeface="Apple SD Gothic Neo"/>
                          <a:ea typeface="Apple SD Gothic Neo"/>
                          <a:cs typeface="Apple SD Gothic Neo"/>
                        </a:rPr>
                        <a:t>C · 할인만</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없음*</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있음</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할인 자체 효과</a:t>
                      </a:r>
                    </a:p>
                  </a:txBody>
                  <a:tcPr marL="91440" marR="91440" marT="45720" marB="45720" anchor="ctr">
                    <a:solidFill>
                      <a:srgbClr val="FFFFFF"/>
                    </a:solidFill>
                  </a:tcPr>
                </a:tc>
              </a:tr>
              <a:tr h="415290">
                <a:tc>
                  <a:txBody>
                    <a:bodyPr lIns="104775" tIns="66675" rIns="95250" bIns="66675"/>
                    <a:lstStyle/>
                    <a:p>
                      <a:r>
                        <a:rPr sz="1500" b="0">
                          <a:solidFill>
                            <a:srgbClr val="26282D"/>
                          </a:solidFill>
                          <a:latin typeface="Apple SD Gothic Neo"/>
                          <a:ea typeface="Apple SD Gothic Neo"/>
                          <a:cs typeface="Apple SD Gothic Neo"/>
                        </a:rPr>
                        <a:t>D · 발견+할인</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있음</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있음</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결합 효과</a:t>
                      </a:r>
                    </a:p>
                  </a:txBody>
                  <a:tcPr marL="91440" marR="91440" marT="45720" marB="45720" anchor="ctr">
                    <a:solidFill>
                      <a:srgbClr val="EEF1EA"/>
                    </a:solidFill>
                  </a:tcPr>
                </a:tc>
              </a:tr>
            </a:tbl>
          </a:graphicData>
        </a:graphic>
      </p:graphicFrame>
      <p:sp>
        <p:nvSpPr>
          <p:cNvPr id="7" name="">
            <a:extLst xmlns:a="http://schemas.openxmlformats.org/drawingml/2006/main">
              <a:ext uri="{FF2B5EF4-FFF2-40B4-BE49-F238E27FC236}">
                <a16:creationId xmlns:a16="http://schemas.microsoft.com/office/drawing/2014/main" id="{730DCEA4-E07B-440C-8F97-79EA49224DB3}"/>
              </a:ext>
            </a:extLst>
          </p:cNvPr>
          <p:cNvSpPr>
            <a:spLocks xmlns:a="http://schemas.openxmlformats.org/drawingml/2006/main" noGrp="1"/>
          </p:cNvSpPr>
          <p:nvPr/>
        </p:nvSpPr>
        <p:spPr>
          <a:xfrm xmlns:a="http://schemas.openxmlformats.org/drawingml/2006/main">
            <a:off x="457200" y="3600450"/>
            <a:ext cx="1123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*C군은 일반 혜택함에서 안내하고 히든픽 발견영역의 추가 추천만 제외합니다. 유사 점포를 묶어 무작위 배정하고</a:t>
            </a:r>
          </a:p>
          <a:p xmlns:a="http://schemas.openxmlformats.org/drawingml/2006/main">
            <a:pPr algn="l">
              <a:defRPr sz="1425" b="0">
                <a:solidFill>
                  <a:srgbClr val="6F7B73"/>
                </a:solidFill>
                <a:latin typeface="Apple SD Gothic Neo"/>
                <a:ea typeface="Apple SD Gothic Neo"/>
                <a:cs typeface="Apple SD Gothic Neo"/>
              </a:defRPr>
            </a:pPr>
            <a:r>
              <a:rPr sz="1425" b="0">
                <a:solidFill>
                  <a:srgbClr val="6F7B73"/>
                </a:solidFill>
                <a:latin typeface="Apple SD Gothic Neo"/>
                <a:ea typeface="Apple SD Gothic Neo"/>
                <a:cs typeface="Apple SD Gothic Neo"/>
              </a:rPr>
              <a:t>사전·사후를 비교합니다. 4군의 표본이 작아 기초 전환율에 따라 표본과 기간을 다시 산정해야 합니다.</a:t>
            </a:r>
          </a:p>
        </p:txBody>
      </p:sp>
      <p:graphicFrame>
        <p:nvGraphicFramePr>
          <p:cNvPr id="17" name=""/>
          <p:cNvGraphicFramePr/>
          <p:nvPr/>
        </p:nvGraphicFramePr>
        <p:xfrm>
          <a:off xmlns:a="http://schemas.openxmlformats.org/drawingml/2006/main" x="428625" y="4352925"/>
          <a:ext xmlns:a="http://schemas.openxmlformats.org/drawingml/2006/main" cx="11315700" cy="1743075"/>
        </p:xfrm>
        <a:graphic xmlns:a="http://schemas.openxmlformats.org/drawingml/2006/main">
          <a:graphicData uri="http://schemas.openxmlformats.org/drawingml/2006/table">
            <a:tbl>
              <a:tblPr/>
              <a:tblGrid>
                <a:gridCol w="2266950"/>
                <a:gridCol w="5457825"/>
                <a:gridCol w="3590925"/>
              </a:tblGrid>
              <a:tr h="348615">
                <a:tc>
                  <a:txBody>
                    <a:bodyPr lIns="104775" tIns="66675" rIns="95250" bIns="66675"/>
                    <a:lstStyle/>
                    <a:p>
                      <a:r>
                        <a:rPr sz="1350" b="1">
                          <a:solidFill>
                            <a:srgbClr val="FFFFFF"/>
                          </a:solidFill>
                          <a:latin typeface="Apple SD Gothic Neo"/>
                          <a:ea typeface="Apple SD Gothic Neo"/>
                          <a:cs typeface="Apple SD Gothic Neo"/>
                        </a:rPr>
                        <a:t>질문</a:t>
                      </a:r>
                    </a:p>
                  </a:txBody>
                  <a:tcPr marL="91440" marR="91440" marT="45720" marB="45720" anchor="ctr">
                    <a:solidFill>
                      <a:srgbClr val="26282D"/>
                    </a:solidFill>
                  </a:tcPr>
                </a:tc>
                <a:tc>
                  <a:txBody>
                    <a:bodyPr lIns="104775" tIns="66675" rIns="95250" bIns="66675"/>
                    <a:lstStyle/>
                    <a:p>
                      <a:r>
                        <a:rPr sz="1350" b="1">
                          <a:solidFill>
                            <a:srgbClr val="FFFFFF"/>
                          </a:solidFill>
                          <a:latin typeface="Apple SD Gothic Neo"/>
                          <a:ea typeface="Apple SD Gothic Neo"/>
                          <a:cs typeface="Apple SD Gothic Neo"/>
                        </a:rPr>
                        <a:t>지표 정의</a:t>
                      </a:r>
                    </a:p>
                  </a:txBody>
                  <a:tcPr marL="91440" marR="91440" marT="45720" marB="45720" anchor="ctr">
                    <a:solidFill>
                      <a:srgbClr val="26282D"/>
                    </a:solidFill>
                  </a:tcPr>
                </a:tc>
                <a:tc>
                  <a:txBody>
                    <a:bodyPr lIns="104775" tIns="66675" rIns="95250" bIns="66675"/>
                    <a:lstStyle/>
                    <a:p>
                      <a:r>
                        <a:rPr sz="1350" b="1">
                          <a:solidFill>
                            <a:srgbClr val="FFFFFF"/>
                          </a:solidFill>
                          <a:latin typeface="Apple SD Gothic Neo"/>
                          <a:ea typeface="Apple SD Gothic Neo"/>
                          <a:cs typeface="Apple SD Gothic Neo"/>
                        </a:rPr>
                        <a:t>판단 방법</a:t>
                      </a:r>
                    </a:p>
                  </a:txBody>
                  <a:tcPr marL="91440" marR="91440" marT="45720" marB="45720" anchor="ctr">
                    <a:solidFill>
                      <a:srgbClr val="26282D"/>
                    </a:solidFill>
                  </a:tcPr>
                </a:tc>
              </a:tr>
              <a:tr h="348615">
                <a:tc>
                  <a:txBody>
                    <a:bodyPr lIns="104775" tIns="66675" rIns="95250" bIns="66675"/>
                    <a:lstStyle/>
                    <a:p>
                      <a:r>
                        <a:rPr sz="1350" b="0">
                          <a:solidFill>
                            <a:srgbClr val="26282D"/>
                          </a:solidFill>
                          <a:latin typeface="Apple SD Gothic Neo"/>
                          <a:ea typeface="Apple SD Gothic Neo"/>
                          <a:cs typeface="Apple SD Gothic Neo"/>
                        </a:rPr>
                        <a:t>실제로 방문했나</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배정 대상 중 유효 결제 고객 비율</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무작위 배정군 비교·취소 제외</a:t>
                      </a:r>
                    </a:p>
                  </a:txBody>
                  <a:tcPr marL="91440" marR="91440" marT="45720" marB="45720" anchor="ctr">
                    <a:solidFill>
                      <a:srgbClr val="FFFFFF"/>
                    </a:solidFill>
                  </a:tcPr>
                </a:tc>
              </a:tr>
              <a:tr h="348615">
                <a:tc>
                  <a:txBody>
                    <a:bodyPr lIns="104775" tIns="66675" rIns="95250" bIns="66675"/>
                    <a:lstStyle/>
                    <a:p>
                      <a:r>
                        <a:rPr sz="1350" b="0">
                          <a:solidFill>
                            <a:srgbClr val="26282D"/>
                          </a:solidFill>
                          <a:latin typeface="Apple SD Gothic Neo"/>
                          <a:ea typeface="Apple SD Gothic Neo"/>
                          <a:cs typeface="Apple SD Gothic Neo"/>
                        </a:rPr>
                        <a:t>점주에게 이익인가</a:t>
                      </a:r>
                    </a:p>
                  </a:txBody>
                  <a:tcPr marL="91440" marR="91440" marT="45720" marB="45720" anchor="ctr">
                    <a:solidFill>
                      <a:srgbClr val="EEF1EA"/>
                    </a:solidFill>
                  </a:tcPr>
                </a:tc>
                <a:tc>
                  <a:txBody>
                    <a:bodyPr lIns="104775" tIns="66675" rIns="95250" bIns="66675"/>
                    <a:lstStyle/>
                    <a:p>
                      <a:r>
                        <a:rPr sz="1350" b="0">
                          <a:solidFill>
                            <a:srgbClr val="26282D"/>
                          </a:solidFill>
                          <a:latin typeface="Apple SD Gothic Neo"/>
                          <a:ea typeface="Apple SD Gothic Neo"/>
                          <a:cs typeface="Apple SD Gothic Neo"/>
                        </a:rPr>
                        <a:t>추가 공헌이익 − 할인 − 이용료 − 운영비</a:t>
                      </a:r>
                    </a:p>
                  </a:txBody>
                  <a:tcPr marL="91440" marR="91440" marT="45720" marB="45720" anchor="ctr">
                    <a:solidFill>
                      <a:srgbClr val="EEF1EA"/>
                    </a:solidFill>
                  </a:tcPr>
                </a:tc>
                <a:tc>
                  <a:txBody>
                    <a:bodyPr lIns="104775" tIns="66675" rIns="95250" bIns="66675"/>
                    <a:lstStyle/>
                    <a:p>
                      <a:r>
                        <a:rPr sz="1350" b="0">
                          <a:solidFill>
                            <a:srgbClr val="26282D"/>
                          </a:solidFill>
                          <a:latin typeface="Apple SD Gothic Neo"/>
                          <a:ea typeface="Apple SD Gothic Neo"/>
                          <a:cs typeface="Apple SD Gothic Neo"/>
                        </a:rPr>
                        <a:t>비교군과 사전 기준으로 추정</a:t>
                      </a:r>
                    </a:p>
                  </a:txBody>
                  <a:tcPr marL="91440" marR="91440" marT="45720" marB="45720" anchor="ctr">
                    <a:solidFill>
                      <a:srgbClr val="EEF1EA"/>
                    </a:solidFill>
                  </a:tcPr>
                </a:tc>
              </a:tr>
              <a:tr h="348615">
                <a:tc>
                  <a:txBody>
                    <a:bodyPr lIns="104775" tIns="66675" rIns="95250" bIns="66675"/>
                    <a:lstStyle/>
                    <a:p>
                      <a:r>
                        <a:rPr sz="1350" b="0">
                          <a:solidFill>
                            <a:srgbClr val="26282D"/>
                          </a:solidFill>
                          <a:latin typeface="Apple SD Gothic Neo"/>
                          <a:ea typeface="Apple SD Gothic Neo"/>
                          <a:cs typeface="Apple SD Gothic Neo"/>
                        </a:rPr>
                        <a:t>경험을 해치지 않았나</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이용 거절·조건 혼동·민원·환불 비율</a:t>
                      </a:r>
                    </a:p>
                  </a:txBody>
                  <a:tcPr marL="91440" marR="91440" marT="45720" marB="45720" anchor="ctr">
                    <a:solidFill>
                      <a:srgbClr val="FFFFFF"/>
                    </a:solidFill>
                  </a:tcPr>
                </a:tc>
                <a:tc>
                  <a:txBody>
                    <a:bodyPr lIns="104775" tIns="66675" rIns="95250" bIns="66675"/>
                    <a:lstStyle/>
                    <a:p>
                      <a:r>
                        <a:rPr sz="1350" b="0">
                          <a:solidFill>
                            <a:srgbClr val="26282D"/>
                          </a:solidFill>
                          <a:latin typeface="Apple SD Gothic Neo"/>
                          <a:ea typeface="Apple SD Gothic Neo"/>
                          <a:cs typeface="Apple SD Gothic Neo"/>
                        </a:rPr>
                        <a:t>운영 기록·점주 및 이용자 의견</a:t>
                      </a:r>
                    </a:p>
                  </a:txBody>
                  <a:tcPr marL="91440" marR="91440" marT="45720" marB="45720" anchor="ctr">
                    <a:solidFill>
                      <a:srgbClr val="FFFFFF"/>
                    </a:solidFill>
                  </a:tcPr>
                </a:tc>
              </a:tr>
              <a:tr h="348615">
                <a:tc>
                  <a:txBody>
                    <a:bodyPr lIns="104775" tIns="66675" rIns="95250" bIns="66675"/>
                    <a:lstStyle/>
                    <a:p>
                      <a:r>
                        <a:rPr sz="1350" b="0">
                          <a:solidFill>
                            <a:srgbClr val="26282D"/>
                          </a:solidFill>
                          <a:latin typeface="Apple SD Gothic Neo"/>
                          <a:ea typeface="Apple SD Gothic Neo"/>
                          <a:cs typeface="Apple SD Gothic Neo"/>
                        </a:rPr>
                        <a:t>BC가 유지할 수 있나</a:t>
                      </a:r>
                    </a:p>
                  </a:txBody>
                  <a:tcPr marL="91440" marR="91440" marT="45720" marB="45720" anchor="ctr">
                    <a:solidFill>
                      <a:srgbClr val="EEF1EA"/>
                    </a:solidFill>
                  </a:tcPr>
                </a:tc>
                <a:tc>
                  <a:txBody>
                    <a:bodyPr lIns="104775" tIns="66675" rIns="95250" bIns="66675"/>
                    <a:lstStyle/>
                    <a:p>
                      <a:r>
                        <a:rPr sz="1350" b="0">
                          <a:solidFill>
                            <a:srgbClr val="26282D"/>
                          </a:solidFill>
                          <a:latin typeface="Apple SD Gothic Neo"/>
                          <a:ea typeface="Apple SD Gothic Neo"/>
                          <a:cs typeface="Apple SD Gothic Neo"/>
                        </a:rPr>
                        <a:t>이용료 − 운영·지원·시스템·분담 비용</a:t>
                      </a:r>
                    </a:p>
                  </a:txBody>
                  <a:tcPr marL="91440" marR="91440" marT="45720" marB="45720" anchor="ctr">
                    <a:solidFill>
                      <a:srgbClr val="EEF1EA"/>
                    </a:solidFill>
                  </a:tcPr>
                </a:tc>
                <a:tc>
                  <a:txBody>
                    <a:bodyPr lIns="104775" tIns="66675" rIns="95250" bIns="66675"/>
                    <a:lstStyle/>
                    <a:p>
                      <a:r>
                        <a:rPr sz="1350" b="0">
                          <a:solidFill>
                            <a:srgbClr val="26282D"/>
                          </a:solidFill>
                          <a:latin typeface="Apple SD Gothic Neo"/>
                          <a:ea typeface="Apple SD Gothic Neo"/>
                          <a:cs typeface="Apple SD Gothic Neo"/>
                        </a:rPr>
                        <a:t>실측 원가를 반영해 판단</a:t>
                      </a:r>
                    </a:p>
                  </a:txBody>
                  <a:tcPr marL="91440" marR="91440" marT="45720" marB="45720" anchor="ctr">
                    <a:solidFill>
                      <a:srgbClr val="EEF1EA"/>
                    </a:solidFill>
                  </a:tcPr>
                </a:tc>
              </a:tr>
            </a:tbl>
          </a:graphicData>
        </a:graphic>
      </p:graphicFrame>
      <p:sp>
        <p:nvSpPr>
          <p:cNvPr id="9" name="">
            <a:extLst xmlns:a="http://schemas.openxmlformats.org/drawingml/2006/main">
              <a:ext uri="{FF2B5EF4-FFF2-40B4-BE49-F238E27FC236}">
                <a16:creationId xmlns:a16="http://schemas.microsoft.com/office/drawing/2014/main" id="{1E6F7063-923C-410E-BF79-1B7E56742E09}"/>
              </a:ext>
            </a:extLst>
          </p:cNvPr>
          <p:cNvSpPr>
            <a:spLocks xmlns:a="http://schemas.openxmlformats.org/drawingml/2006/main" noGrp="1"/>
          </p:cNvSpPr>
          <p:nvPr/>
        </p:nvSpPr>
        <p:spPr>
          <a:xfrm xmlns:a="http://schemas.openxmlformats.org/drawingml/2006/main">
            <a:off x="457200" y="6219825"/>
            <a:ext cx="11229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6282D"/>
                </a:solidFill>
                <a:latin typeface="Apple SD Gothic Neo"/>
                <a:ea typeface="Apple SD Gothic Neo"/>
                <a:cs typeface="Apple SD Gothic Neo"/>
              </a:defRPr>
            </a:pPr>
            <a:r>
              <a:rPr sz="1425" b="0">
                <a:solidFill>
                  <a:srgbClr val="26282D"/>
                </a:solidFill>
                <a:latin typeface="Apple SD Gothic Neo"/>
                <a:ea typeface="Apple SD Gothic Neo"/>
                <a:cs typeface="Apple SD Gothic Neo"/>
              </a:rPr>
              <a:t>쿠폰 사용자 모두를 새로 생긴 손님으로 계산하지 않습니다. 관찰 거래액과 캠페인으로 추가된 효과를 구분합니다.</a:t>
            </a:r>
          </a:p>
        </p:txBody>
      </p:sp>
    </p:spTree>
    <p:extLst>
      <p:ext uri="{BB962C8B-B14F-4D97-AF65-F5344CB8AC3E}">
        <p14:creationId xmlns:p14="http://schemas.microsoft.com/office/powerpoint/2010/main" val="763501905"/>
      </p:ext>
    </p:extLst>
  </p:cSld>
</p:sld>
</file>

<file path=ppt/slides/slide18.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0F13B4-F3FE-4019-97E2-23EED5B24ABC}"/>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한 지역에서 근거와 운영 조건을 확인한 뒤 확장합니다.</a:t>
            </a:r>
          </a:p>
        </p:txBody>
      </p:sp>
      <p:sp>
        <p:nvSpPr>
          <p:cNvPr id="2" name="">
            <a:extLst xmlns:a="http://schemas.openxmlformats.org/drawingml/2006/main">
              <a:ext uri="{FF2B5EF4-FFF2-40B4-BE49-F238E27FC236}">
                <a16:creationId xmlns:a16="http://schemas.microsoft.com/office/drawing/2014/main" id="{A09AFD76-DFC7-4F59-A942-ED4C701FFDAE}"/>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지금 만든 화면을 출발점으로, 실제 데이터·점주·결제 시스템을 연결하는 순서입니다.</a:t>
            </a:r>
          </a:p>
        </p:txBody>
      </p:sp>
      <p:sp>
        <p:nvSpPr>
          <p:cNvPr id="3" name="">
            <a:extLst xmlns:a="http://schemas.openxmlformats.org/drawingml/2006/main">
              <a:ext uri="{FF2B5EF4-FFF2-40B4-BE49-F238E27FC236}">
                <a16:creationId xmlns:a16="http://schemas.microsoft.com/office/drawing/2014/main" id="{555B4D7B-414C-4FB7-A61A-4BD43CEA025A}"/>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391190-197A-486A-8C53-F469FBE7028F}"/>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402B1A59-F2DC-49C9-8CC3-75C5E1C2A0FA}"/>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18</a:t>
            </a:r>
          </a:p>
        </p:txBody>
      </p:sp>
      <p:graphicFrame>
        <p:nvGraphicFramePr>
          <p:cNvPr id="17" name=""/>
          <p:cNvGraphicFramePr/>
          <p:nvPr/>
        </p:nvGraphicFramePr>
        <p:xfrm>
          <a:off xmlns:a="http://schemas.openxmlformats.org/drawingml/2006/main" x="428625" y="1362075"/>
          <a:ext xmlns:a="http://schemas.openxmlformats.org/drawingml/2006/main" cx="11315700" cy="2714625"/>
        </p:xfrm>
        <a:graphic xmlns:a="http://schemas.openxmlformats.org/drawingml/2006/main">
          <a:graphicData uri="http://schemas.openxmlformats.org/drawingml/2006/table">
            <a:tbl>
              <a:tblPr/>
              <a:tblGrid>
                <a:gridCol w="2533650"/>
                <a:gridCol w="4238625"/>
                <a:gridCol w="4543425"/>
              </a:tblGrid>
              <a:tr h="452438">
                <a:tc>
                  <a:txBody>
                    <a:bodyPr lIns="104775" tIns="66675" rIns="95250" bIns="66675"/>
                    <a:lstStyle/>
                    <a:p>
                      <a:r>
                        <a:rPr sz="1425" b="1">
                          <a:solidFill>
                            <a:srgbClr val="FFFFFF"/>
                          </a:solidFill>
                          <a:latin typeface="Apple SD Gothic Neo"/>
                          <a:ea typeface="Apple SD Gothic Neo"/>
                          <a:cs typeface="Apple SD Gothic Neo"/>
                        </a:rPr>
                        <a:t>단계</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핵심 작업</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다음 단계의 조건</a:t>
                      </a:r>
                    </a:p>
                  </a:txBody>
                  <a:tcPr marL="91440" marR="91440" marT="45720" marB="45720" anchor="ctr">
                    <a:solidFill>
                      <a:srgbClr val="26282D"/>
                    </a:solidFill>
                  </a:tcPr>
                </a:tc>
              </a:tr>
              <a:tr h="452438">
                <a:tc>
                  <a:txBody>
                    <a:bodyPr lIns="104775" tIns="66675" rIns="95250" bIns="66675"/>
                    <a:lstStyle/>
                    <a:p>
                      <a:r>
                        <a:rPr sz="1425" b="0">
                          <a:solidFill>
                            <a:srgbClr val="26282D"/>
                          </a:solidFill>
                          <a:latin typeface="Apple SD Gothic Neo"/>
                          <a:ea typeface="Apple SD Gothic Neo"/>
                          <a:cs typeface="Apple SD Gothic Neo"/>
                        </a:rPr>
                        <a:t>현재 · 아이디어 체험</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원자료 분석·세 역할 앱·비용/혜택 흐름</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분석과 가정을 구분해 사용 흐름 설명</a:t>
                      </a:r>
                    </a:p>
                  </a:txBody>
                  <a:tcPr marL="91440" marR="91440" marT="45720" marB="45720" anchor="ctr">
                    <a:solidFill>
                      <a:srgbClr val="FFFFFF"/>
                    </a:solidFill>
                  </a:tcPr>
                </a:tc>
              </a:tr>
              <a:tr h="452438">
                <a:tc>
                  <a:txBody>
                    <a:bodyPr lIns="104775" tIns="66675" rIns="95250" bIns="66675"/>
                    <a:lstStyle/>
                    <a:p>
                      <a:r>
                        <a:rPr sz="1425" b="0">
                          <a:solidFill>
                            <a:srgbClr val="26282D"/>
                          </a:solidFill>
                          <a:latin typeface="Apple SD Gothic Neo"/>
                          <a:ea typeface="Apple SD Gothic Neo"/>
                          <a:cs typeface="Apple SD Gothic Neo"/>
                        </a:rPr>
                        <a:t>1–2주 · 근거 수집</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AI 60개 답변·매칭 검토·점포 확인</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원문·조건·제외 사유 재현 가능</a:t>
                      </a:r>
                    </a:p>
                  </a:txBody>
                  <a:tcPr marL="91440" marR="91440" marT="45720" marB="45720" anchor="ctr">
                    <a:solidFill>
                      <a:srgbClr val="EEF1EA"/>
                    </a:solidFill>
                  </a:tcPr>
                </a:tc>
              </a:tr>
              <a:tr h="452438">
                <a:tc>
                  <a:txBody>
                    <a:bodyPr lIns="104775" tIns="66675" rIns="95250" bIns="66675"/>
                    <a:lstStyle/>
                    <a:p>
                      <a:r>
                        <a:rPr sz="1425" b="0">
                          <a:solidFill>
                            <a:srgbClr val="26282D"/>
                          </a:solidFill>
                          <a:latin typeface="Apple SD Gothic Neo"/>
                          <a:ea typeface="Apple SD Gothic Neo"/>
                          <a:cs typeface="Apple SD Gothic Neo"/>
                        </a:rPr>
                        <a:t>3–4주 · 운영 준비</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점주 인터뷰·계약·계측/정산 준비</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참여 조건·대상 카드·취소 규칙 확정</a:t>
                      </a:r>
                    </a:p>
                  </a:txBody>
                  <a:tcPr marL="91440" marR="91440" marT="45720" marB="45720" anchor="ctr">
                    <a:solidFill>
                      <a:srgbClr val="FFFFFF"/>
                    </a:solidFill>
                  </a:tcPr>
                </a:tc>
              </a:tr>
              <a:tr h="452438">
                <a:tc>
                  <a:txBody>
                    <a:bodyPr lIns="104775" tIns="66675" rIns="95250" bIns="66675"/>
                    <a:lstStyle/>
                    <a:p>
                      <a:r>
                        <a:rPr sz="1425" b="0">
                          <a:solidFill>
                            <a:srgbClr val="26282D"/>
                          </a:solidFill>
                          <a:latin typeface="Apple SD Gothic Neo"/>
                          <a:ea typeface="Apple SD Gothic Neo"/>
                          <a:cs typeface="Apple SD Gothic Neo"/>
                        </a:rPr>
                        <a:t>5–12주 · 작은 실험</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사전 관찰·무작위 배정·성과/비용 비교</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효과 불확실성과 운영 문제 평가</a:t>
                      </a:r>
                    </a:p>
                  </a:txBody>
                  <a:tcPr marL="91440" marR="91440" marT="45720" marB="45720" anchor="ctr">
                    <a:solidFill>
                      <a:srgbClr val="EEF1EA"/>
                    </a:solidFill>
                  </a:tcPr>
                </a:tc>
              </a:tr>
              <a:tr h="452438">
                <a:tc>
                  <a:txBody>
                    <a:bodyPr lIns="104775" tIns="66675" rIns="95250" bIns="66675"/>
                    <a:lstStyle/>
                    <a:p>
                      <a:r>
                        <a:rPr sz="1425" b="0">
                          <a:solidFill>
                            <a:srgbClr val="26282D"/>
                          </a:solidFill>
                          <a:latin typeface="Apple SD Gothic Neo"/>
                          <a:ea typeface="Apple SD Gothic Neo"/>
                          <a:cs typeface="Apple SD Gothic Neo"/>
                        </a:rPr>
                        <a:t>이후 · 확장 판단</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고객군·업종·지역을 순차 검증</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점주 증분이익과 BC 운영성 확인</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8D761D2-8E84-4567-8BD4-C47E5208C600}"/>
              </a:ext>
            </a:extLst>
          </p:cNvPr>
          <p:cNvSpPr>
            <a:spLocks xmlns:a="http://schemas.openxmlformats.org/drawingml/2006/main" noGrp="1"/>
          </p:cNvSpPr>
          <p:nvPr/>
        </p:nvSpPr>
        <p:spPr>
          <a:xfrm xmlns:a="http://schemas.openxmlformats.org/drawingml/2006/main">
            <a:off x="457200" y="4324350"/>
            <a:ext cx="71342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외국인 확장 전에 확인할 것</a:t>
            </a:r>
          </a:p>
        </p:txBody>
      </p:sp>
      <p:sp>
        <p:nvSpPr>
          <p:cNvPr id="8" name="">
            <a:extLst xmlns:a="http://schemas.openxmlformats.org/drawingml/2006/main">
              <a:ext uri="{FF2B5EF4-FFF2-40B4-BE49-F238E27FC236}">
                <a16:creationId xmlns:a16="http://schemas.microsoft.com/office/drawing/2014/main" id="{BF676EB0-8D0D-41F9-BC9E-08A44F0D2584}"/>
              </a:ext>
            </a:extLst>
          </p:cNvPr>
          <p:cNvSpPr>
            <a:spLocks xmlns:a="http://schemas.openxmlformats.org/drawingml/2006/main" noGrp="1"/>
          </p:cNvSpPr>
          <p:nvPr/>
        </p:nvSpPr>
        <p:spPr>
          <a:xfrm xmlns:a="http://schemas.openxmlformats.org/drawingml/2006/main">
            <a:off x="466725" y="4705350"/>
            <a:ext cx="73628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외국인 코드만으로 관광객·체류 목적·대상 카드를 알 수 없습니다.</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한국어 결과를 다른 언어에 그대로 옮기지 않고 영어·중국어·일본어</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노출을 각각 측정합니다. 대상 카드·결제 수단·통화·고객지원이</a:t>
            </a:r>
          </a:p>
          <a:p xmlns:a="http://schemas.openxmlformats.org/drawingml/2006/main">
            <a:pPr algn="l">
              <a:defRPr sz="1575" b="0">
                <a:solidFill>
                  <a:srgbClr val="6F7B73"/>
                </a:solidFill>
                <a:latin typeface="Apple SD Gothic Neo"/>
                <a:ea typeface="Apple SD Gothic Neo"/>
                <a:cs typeface="Apple SD Gothic Neo"/>
              </a:defRPr>
            </a:pPr>
            <a:r>
              <a:rPr sz="1575" b="0">
                <a:solidFill>
                  <a:srgbClr val="6F7B73"/>
                </a:solidFill>
                <a:latin typeface="Apple SD Gothic Neo"/>
                <a:ea typeface="Apple SD Gothic Neo"/>
                <a:cs typeface="Apple SD Gothic Neo"/>
              </a:rPr>
              <a:t>확인된 뒤 확장합니다.</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4190c6439be40c4"/>
          <a:srcRect xmlns:a="http://schemas.openxmlformats.org/drawingml/2006/main" l="0" t="5214" r="0" b="5214"/>
          <a:stretch xmlns:a="http://schemas.openxmlformats.org/drawingml/2006/main">
            <a:fillRect l="0" t="0" r="0" b="0"/>
          </a:stretch>
        </p:blipFill>
        <p:spPr>
          <a:xfrm xmlns:a="http://schemas.openxmlformats.org/drawingml/2006/main">
            <a:off x="8248650" y="4248150"/>
            <a:ext cx="3476625" cy="17526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99E0D7B-428D-4FEF-9993-2853D595D58E}"/>
              </a:ext>
            </a:extLst>
          </p:cNvPr>
          <p:cNvSpPr>
            <a:spLocks xmlns:a="http://schemas.openxmlformats.org/drawingml/2006/main" noGrp="1"/>
          </p:cNvSpPr>
          <p:nvPr/>
        </p:nvSpPr>
        <p:spPr>
          <a:xfrm xmlns:a="http://schemas.openxmlformats.org/drawingml/2006/main">
            <a:off x="8391525" y="6048375"/>
            <a:ext cx="3305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26282D"/>
                </a:solidFill>
                <a:latin typeface="Apple SD Gothic Neo"/>
                <a:ea typeface="Apple SD Gothic Neo"/>
                <a:cs typeface="Apple SD Gothic Neo"/>
              </a:defRPr>
            </a:pPr>
            <a:r>
              <a:rPr sz="1350" b="0">
                <a:solidFill>
                  <a:srgbClr val="26282D"/>
                </a:solidFill>
                <a:latin typeface="Apple SD Gothic Neo"/>
                <a:ea typeface="Apple SD Gothic Neo"/>
                <a:cs typeface="Apple SD Gothic Neo"/>
              </a:rPr>
              <a:t>한 번의 추천이, 동네의 다음 손님이 되도록.</a:t>
            </a:r>
          </a:p>
        </p:txBody>
      </p:sp>
      <p:sp>
        <p:nvSpPr>
          <p:cNvPr id="11" name="">
            <a:extLst xmlns:a="http://schemas.openxmlformats.org/drawingml/2006/main">
              <a:ext uri="{FF2B5EF4-FFF2-40B4-BE49-F238E27FC236}">
                <a16:creationId xmlns:a16="http://schemas.microsoft.com/office/drawing/2014/main" id="{C1A49354-A800-4D94-AE9F-9B65D300AD52}"/>
              </a:ext>
            </a:extLst>
          </p:cNvPr>
          <p:cNvSpPr>
            <a:spLocks xmlns:a="http://schemas.openxmlformats.org/drawingml/2006/main" noGrp="1"/>
          </p:cNvSpPr>
          <p:nvPr/>
        </p:nvSpPr>
        <p:spPr>
          <a:xfrm xmlns:a="http://schemas.openxmlformats.org/drawingml/2006/main">
            <a:off x="466725" y="6172200"/>
            <a:ext cx="7581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일정은 내부 연계와 승인·계약·개발 범위에 따라 조정하는 제안입니다.</a:t>
            </a:r>
          </a:p>
        </p:txBody>
      </p:sp>
    </p:spTree>
    <p:extLst>
      <p:ext uri="{BB962C8B-B14F-4D97-AF65-F5344CB8AC3E}">
        <p14:creationId xmlns:p14="http://schemas.microsoft.com/office/powerpoint/2010/main" val="1725166996"/>
      </p:ext>
    </p:extLst>
  </p:cSld>
</p:sld>
</file>

<file path=ppt/slides/slide19.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952184-6740-4764-84EA-3EE72675EF5C}"/>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실측·시연·향후 계획의 경계를 분명히 합니다.</a:t>
            </a:r>
          </a:p>
        </p:txBody>
      </p:sp>
      <p:sp>
        <p:nvSpPr>
          <p:cNvPr id="2" name="">
            <a:extLst xmlns:a="http://schemas.openxmlformats.org/drawingml/2006/main">
              <a:ext uri="{FF2B5EF4-FFF2-40B4-BE49-F238E27FC236}">
                <a16:creationId xmlns:a16="http://schemas.microsoft.com/office/drawing/2014/main" id="{763C9482-3FE0-4946-A340-A2D1ADB2DDA5}"/>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앱의 구체성을 실행 가능성의 근거로 삼고, 확인하지 못한 효과는 검증 과제로 남깁니다.</a:t>
            </a:r>
          </a:p>
        </p:txBody>
      </p:sp>
      <p:sp>
        <p:nvSpPr>
          <p:cNvPr id="3" name="">
            <a:extLst xmlns:a="http://schemas.openxmlformats.org/drawingml/2006/main">
              <a:ext uri="{FF2B5EF4-FFF2-40B4-BE49-F238E27FC236}">
                <a16:creationId xmlns:a16="http://schemas.microsoft.com/office/drawing/2014/main" id="{E2B71408-A0F5-40D4-A7E2-32D1DD595B06}"/>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7E4418-0198-4512-9889-2B94BCB7E13E}"/>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히든픽 · 소비데이터 활용 서비스 제안</a:t>
            </a:r>
          </a:p>
        </p:txBody>
      </p:sp>
      <p:sp>
        <p:nvSpPr>
          <p:cNvPr id="5" name="">
            <a:extLst xmlns:a="http://schemas.openxmlformats.org/drawingml/2006/main">
              <a:ext uri="{FF2B5EF4-FFF2-40B4-BE49-F238E27FC236}">
                <a16:creationId xmlns:a16="http://schemas.microsoft.com/office/drawing/2014/main" id="{684BB907-465E-4A8A-B671-A142CEF1EE6F}"/>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19</a:t>
            </a:r>
          </a:p>
        </p:txBody>
      </p:sp>
      <p:graphicFrame>
        <p:nvGraphicFramePr>
          <p:cNvPr id="14" name=""/>
          <p:cNvGraphicFramePr/>
          <p:nvPr/>
        </p:nvGraphicFramePr>
        <p:xfrm>
          <a:off xmlns:a="http://schemas.openxmlformats.org/drawingml/2006/main" x="428625" y="1362075"/>
          <a:ext xmlns:a="http://schemas.openxmlformats.org/drawingml/2006/main" cx="11315700" cy="2076450"/>
        </p:xfrm>
        <a:graphic xmlns:a="http://schemas.openxmlformats.org/drawingml/2006/main">
          <a:graphicData uri="http://schemas.openxmlformats.org/drawingml/2006/table">
            <a:tbl>
              <a:tblPr/>
              <a:tblGrid>
                <a:gridCol w="2571750"/>
                <a:gridCol w="8743950"/>
              </a:tblGrid>
              <a:tr h="415290">
                <a:tc>
                  <a:txBody>
                    <a:bodyPr lIns="104775" tIns="66675" rIns="95250" bIns="66675"/>
                    <a:lstStyle/>
                    <a:p>
                      <a:r>
                        <a:rPr sz="1500" b="1">
                          <a:solidFill>
                            <a:srgbClr val="FFFFFF"/>
                          </a:solidFill>
                          <a:latin typeface="Apple SD Gothic Neo"/>
                          <a:ea typeface="Apple SD Gothic Neo"/>
                          <a:cs typeface="Apple SD Gothic Neo"/>
                        </a:rPr>
                        <a:t>현재 구분</a:t>
                      </a:r>
                    </a:p>
                  </a:txBody>
                  <a:tcPr marL="91440" marR="91440" marT="45720" marB="45720" anchor="ctr">
                    <a:solidFill>
                      <a:srgbClr val="26282D"/>
                    </a:solidFill>
                  </a:tcPr>
                </a:tc>
                <a:tc>
                  <a:txBody>
                    <a:bodyPr lIns="104775" tIns="66675" rIns="95250" bIns="66675"/>
                    <a:lstStyle/>
                    <a:p>
                      <a:r>
                        <a:rPr sz="1500" b="1">
                          <a:solidFill>
                            <a:srgbClr val="FFFFFF"/>
                          </a:solidFill>
                          <a:latin typeface="Apple SD Gothic Neo"/>
                          <a:ea typeface="Apple SD Gothic Neo"/>
                          <a:cs typeface="Apple SD Gothic Neo"/>
                        </a:rPr>
                        <a:t>포함된 내용</a:t>
                      </a:r>
                    </a:p>
                  </a:txBody>
                  <a:tcPr marL="91440" marR="91440" marT="45720" marB="45720" anchor="ctr">
                    <a:solidFill>
                      <a:srgbClr val="26282D"/>
                    </a:solidFill>
                  </a:tcPr>
                </a:tc>
              </a:tr>
              <a:tr h="415290">
                <a:tc>
                  <a:txBody>
                    <a:bodyPr lIns="104775" tIns="66675" rIns="95250" bIns="66675"/>
                    <a:lstStyle/>
                    <a:p>
                      <a:r>
                        <a:rPr sz="1500" b="0">
                          <a:solidFill>
                            <a:srgbClr val="26282D"/>
                          </a:solidFill>
                          <a:latin typeface="Apple SD Gothic Neo"/>
                          <a:ea typeface="Apple SD Gothic Neo"/>
                          <a:cs typeface="Apple SD Gothic Neo"/>
                        </a:rPr>
                        <a:t>원자료 재계산</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강원 월/일평균 변화, 고객군별 지역 점유율, 분기·건수 검토</a:t>
                      </a:r>
                    </a:p>
                  </a:txBody>
                  <a:tcPr marL="91440" marR="91440" marT="45720" marB="45720" anchor="ctr">
                    <a:solidFill>
                      <a:srgbClr val="FFFFFF"/>
                    </a:solidFill>
                  </a:tcPr>
                </a:tc>
              </a:tr>
              <a:tr h="415290">
                <a:tc>
                  <a:txBody>
                    <a:bodyPr lIns="104775" tIns="66675" rIns="95250" bIns="66675"/>
                    <a:lstStyle/>
                    <a:p>
                      <a:r>
                        <a:rPr sz="1500" b="0">
                          <a:solidFill>
                            <a:srgbClr val="26282D"/>
                          </a:solidFill>
                          <a:latin typeface="Apple SD Gothic Neo"/>
                          <a:ea typeface="Apple SD Gothic Neo"/>
                          <a:cs typeface="Apple SD Gothic Neo"/>
                        </a:rPr>
                        <a:t>실제 앱 조작 화면</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세 역할, 제안·동의·발급·결제 체험·정산·중단·환불</a:t>
                      </a:r>
                    </a:p>
                  </a:txBody>
                  <a:tcPr marL="91440" marR="91440" marT="45720" marB="45720" anchor="ctr">
                    <a:solidFill>
                      <a:srgbClr val="EEF1EA"/>
                    </a:solidFill>
                  </a:tcPr>
                </a:tc>
              </a:tr>
              <a:tr h="415290">
                <a:tc>
                  <a:txBody>
                    <a:bodyPr lIns="104775" tIns="66675" rIns="95250" bIns="66675"/>
                    <a:lstStyle/>
                    <a:p>
                      <a:r>
                        <a:rPr sz="1500" b="0">
                          <a:solidFill>
                            <a:srgbClr val="26282D"/>
                          </a:solidFill>
                          <a:latin typeface="Apple SD Gothic Neo"/>
                          <a:ea typeface="Apple SD Gothic Neo"/>
                          <a:cs typeface="Apple SD Gothic Neo"/>
                        </a:rPr>
                        <a:t>시연용 가정</a:t>
                      </a:r>
                    </a:p>
                  </a:txBody>
                  <a:tcPr marL="91440" marR="91440" marT="45720" marB="45720" anchor="ctr">
                    <a:solidFill>
                      <a:srgbClr val="FFFFFF"/>
                    </a:solidFill>
                  </a:tcPr>
                </a:tc>
                <a:tc>
                  <a:txBody>
                    <a:bodyPr lIns="104775" tIns="66675" rIns="95250" bIns="66675"/>
                    <a:lstStyle/>
                    <a:p>
                      <a:r>
                        <a:rPr sz="1500" b="0">
                          <a:solidFill>
                            <a:srgbClr val="26282D"/>
                          </a:solidFill>
                          <a:latin typeface="Apple SD Gothic Neo"/>
                          <a:ea typeface="Apple SD Gothic Neo"/>
                          <a:cs typeface="Apple SD Gothic Neo"/>
                        </a:rPr>
                        <a:t>골목식탁·민지·수진, 상위18%, AI5%·0/15, 가게·메뉴 이미지</a:t>
                      </a:r>
                    </a:p>
                  </a:txBody>
                  <a:tcPr marL="91440" marR="91440" marT="45720" marB="45720" anchor="ctr">
                    <a:solidFill>
                      <a:srgbClr val="FFFFFF"/>
                    </a:solidFill>
                  </a:tcPr>
                </a:tc>
              </a:tr>
              <a:tr h="415290">
                <a:tc>
                  <a:txBody>
                    <a:bodyPr lIns="104775" tIns="66675" rIns="95250" bIns="66675"/>
                    <a:lstStyle/>
                    <a:p>
                      <a:r>
                        <a:rPr sz="1500" b="0">
                          <a:solidFill>
                            <a:srgbClr val="26282D"/>
                          </a:solidFill>
                          <a:latin typeface="Apple SD Gothic Neo"/>
                          <a:ea typeface="Apple SD Gothic Neo"/>
                          <a:cs typeface="Apple SD Gothic Neo"/>
                        </a:rPr>
                        <a:t>사업 가정 / 향후 검증</a:t>
                      </a:r>
                    </a:p>
                  </a:txBody>
                  <a:tcPr marL="91440" marR="91440" marT="45720" marB="45720" anchor="ctr">
                    <a:solidFill>
                      <a:srgbClr val="EEF1EA"/>
                    </a:solidFill>
                  </a:tcPr>
                </a:tc>
                <a:tc>
                  <a:txBody>
                    <a:bodyPr lIns="104775" tIns="66675" rIns="95250" bIns="66675"/>
                    <a:lstStyle/>
                    <a:p>
                      <a:r>
                        <a:rPr sz="1500" b="0">
                          <a:solidFill>
                            <a:srgbClr val="26282D"/>
                          </a:solidFill>
                          <a:latin typeface="Apple SD Gothic Neo"/>
                          <a:ea typeface="Apple SD Gothic Neo"/>
                          <a:cs typeface="Apple SD Gothic Neo"/>
                        </a:rPr>
                        <a:t>5%·300원·60건×3.2만원·40% / AI60개·내부 연계·30점포·8주</a:t>
                      </a:r>
                    </a:p>
                  </a:txBody>
                  <a:tcPr marL="91440" marR="91440" marT="45720" marB="45720" anchor="ctr">
                    <a:solidFill>
                      <a:srgbClr val="EEF1EA"/>
                    </a:solidFill>
                  </a:tcPr>
                </a:tc>
              </a:tr>
            </a:tbl>
          </a:graphicData>
        </a:graphic>
      </p:graphicFrame>
      <p:graphicFrame>
        <p:nvGraphicFramePr>
          <p:cNvPr id="15" name=""/>
          <p:cNvGraphicFramePr/>
          <p:nvPr/>
        </p:nvGraphicFramePr>
        <p:xfrm>
          <a:off xmlns:a="http://schemas.openxmlformats.org/drawingml/2006/main" x="428625" y="3695700"/>
          <a:ext xmlns:a="http://schemas.openxmlformats.org/drawingml/2006/main" cx="11315700" cy="2333625"/>
        </p:xfrm>
        <a:graphic xmlns:a="http://schemas.openxmlformats.org/drawingml/2006/main">
          <a:graphicData uri="http://schemas.openxmlformats.org/drawingml/2006/table">
            <a:tbl>
              <a:tblPr/>
              <a:tblGrid>
                <a:gridCol w="5105400"/>
                <a:gridCol w="6210300"/>
              </a:tblGrid>
              <a:tr h="388938">
                <a:tc>
                  <a:txBody>
                    <a:bodyPr lIns="104775" tIns="66675" rIns="95250" bIns="66675"/>
                    <a:lstStyle/>
                    <a:p>
                      <a:r>
                        <a:rPr sz="1425" b="1">
                          <a:solidFill>
                            <a:srgbClr val="FFFFFF"/>
                          </a:solidFill>
                          <a:latin typeface="Apple SD Gothic Neo"/>
                          <a:ea typeface="Apple SD Gothic Neo"/>
                          <a:cs typeface="Apple SD Gothic Neo"/>
                        </a:rPr>
                        <a:t>남아 있는 한계</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실행 전 대응</a:t>
                      </a:r>
                    </a:p>
                  </a:txBody>
                  <a:tcPr marL="91440" marR="91440" marT="45720" marB="45720" anchor="ctr">
                    <a:solidFill>
                      <a:srgbClr val="26282D"/>
                    </a:solidFill>
                  </a:tcPr>
                </a:tc>
              </a:tr>
              <a:tr h="388938">
                <a:tc>
                  <a:txBody>
                    <a:bodyPr lIns="104775" tIns="66675" rIns="95250" bIns="66675"/>
                    <a:lstStyle/>
                    <a:p>
                      <a:r>
                        <a:rPr sz="1425" b="0">
                          <a:solidFill>
                            <a:srgbClr val="26282D"/>
                          </a:solidFill>
                          <a:latin typeface="Apple SD Gothic Neo"/>
                          <a:ea typeface="Apple SD Gothic Neo"/>
                          <a:cs typeface="Apple SD Gothic Neo"/>
                        </a:rPr>
                        <a:t>BC 표본은 전체 시장이 아님</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대표성의 한계를 유지하고 내부 표본 변화를 확인</a:t>
                      </a:r>
                    </a:p>
                  </a:txBody>
                  <a:tcPr marL="91440" marR="91440" marT="45720" marB="45720" anchor="ctr">
                    <a:solidFill>
                      <a:srgbClr val="FFFFFF"/>
                    </a:solidFill>
                  </a:tcPr>
                </a:tc>
              </a:tr>
              <a:tr h="388938">
                <a:tc>
                  <a:txBody>
                    <a:bodyPr lIns="104775" tIns="66675" rIns="95250" bIns="66675"/>
                    <a:lstStyle/>
                    <a:p>
                      <a:r>
                        <a:rPr sz="1425" b="0">
                          <a:solidFill>
                            <a:srgbClr val="26282D"/>
                          </a:solidFill>
                          <a:latin typeface="Apple SD Gothic Neo"/>
                          <a:ea typeface="Apple SD Gothic Neo"/>
                          <a:cs typeface="Apple SD Gothic Neo"/>
                        </a:rPr>
                        <a:t>점포 순위와 AI 노출은 현재 가상</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가맹점 식별 자료와 AI 원문을 확보한 뒤 선정</a:t>
                      </a:r>
                    </a:p>
                  </a:txBody>
                  <a:tcPr marL="91440" marR="91440" marT="45720" marB="45720" anchor="ctr">
                    <a:solidFill>
                      <a:srgbClr val="EEF1EA"/>
                    </a:solidFill>
                  </a:tcPr>
                </a:tc>
              </a:tr>
              <a:tr h="388938">
                <a:tc>
                  <a:txBody>
                    <a:bodyPr lIns="104775" tIns="66675" rIns="95250" bIns="66675"/>
                    <a:lstStyle/>
                    <a:p>
                      <a:r>
                        <a:rPr sz="1425" b="0">
                          <a:solidFill>
                            <a:srgbClr val="26282D"/>
                          </a:solidFill>
                          <a:latin typeface="Apple SD Gothic Neo"/>
                          <a:ea typeface="Apple SD Gothic Neo"/>
                          <a:cs typeface="Apple SD Gothic Neo"/>
                        </a:rPr>
                        <a:t>노출 공백이 추가 매출을 보장하지 않음</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점포 적합성·공헌이익·비교군 효과로 검증</a:t>
                      </a:r>
                    </a:p>
                  </a:txBody>
                  <a:tcPr marL="91440" marR="91440" marT="45720" marB="45720" anchor="ctr">
                    <a:solidFill>
                      <a:srgbClr val="FFFFFF"/>
                    </a:solidFill>
                  </a:tcPr>
                </a:tc>
              </a:tr>
              <a:tr h="388938">
                <a:tc>
                  <a:txBody>
                    <a:bodyPr lIns="104775" tIns="66675" rIns="95250" bIns="66675"/>
                    <a:lstStyle/>
                    <a:p>
                      <a:r>
                        <a:rPr sz="1425" b="0">
                          <a:solidFill>
                            <a:srgbClr val="26282D"/>
                          </a:solidFill>
                          <a:latin typeface="Apple SD Gothic Neo"/>
                          <a:ea typeface="Apple SD Gothic Neo"/>
                          <a:cs typeface="Apple SD Gothic Neo"/>
                        </a:rPr>
                        <a:t>실결제·부분 취소·만료 미연동</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결제 원장과 취소/정산 예외를 붙여 운영 검증</a:t>
                      </a:r>
                    </a:p>
                  </a:txBody>
                  <a:tcPr marL="91440" marR="91440" marT="45720" marB="45720" anchor="ctr">
                    <a:solidFill>
                      <a:srgbClr val="EEF1EA"/>
                    </a:solidFill>
                  </a:tcPr>
                </a:tc>
              </a:tr>
              <a:tr h="388938">
                <a:tc>
                  <a:txBody>
                    <a:bodyPr lIns="104775" tIns="66675" rIns="95250" bIns="66675"/>
                    <a:lstStyle/>
                    <a:p>
                      <a:r>
                        <a:rPr sz="1425" b="0">
                          <a:solidFill>
                            <a:srgbClr val="26282D"/>
                          </a:solidFill>
                          <a:latin typeface="Apple SD Gothic Neo"/>
                          <a:ea typeface="Apple SD Gothic Neo"/>
                          <a:cs typeface="Apple SD Gothic Neo"/>
                        </a:rPr>
                        <a:t>원자료의 이용 목적과 접근 범위 제한</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원본 재배포 없이 승인된 환경에서 집계 결과 활용</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ECA9FD3-BFB2-4FB6-8206-1BB1840C0913}"/>
              </a:ext>
            </a:extLst>
          </p:cNvPr>
          <p:cNvSpPr>
            <a:spLocks xmlns:a="http://schemas.openxmlformats.org/drawingml/2006/main" noGrp="1"/>
          </p:cNvSpPr>
          <p:nvPr/>
        </p:nvSpPr>
        <p:spPr>
          <a:xfrm xmlns:a="http://schemas.openxmlformats.org/drawingml/2006/main">
            <a:off x="466725" y="6200775"/>
            <a:ext cx="11239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26282D"/>
                </a:solidFill>
                <a:latin typeface="Apple SD Gothic Neo"/>
                <a:ea typeface="Apple SD Gothic Neo"/>
                <a:cs typeface="Apple SD Gothic Neo"/>
              </a:defRPr>
            </a:pPr>
            <a:r>
              <a:rPr sz="1500" b="0">
                <a:solidFill>
                  <a:srgbClr val="26282D"/>
                </a:solidFill>
                <a:latin typeface="Apple SD Gothic Neo"/>
                <a:ea typeface="Apple SD Gothic Neo"/>
                <a:cs typeface="Apple SD Gothic Neo"/>
              </a:rPr>
              <a:t>AI 원문은 아직 수집하지 않았습니다. 앱에서 실제 카드 결제·제휴 발송은 일어나지 않습니다.</a:t>
            </a:r>
          </a:p>
        </p:txBody>
      </p:sp>
    </p:spTree>
    <p:extLst>
      <p:ext uri="{BB962C8B-B14F-4D97-AF65-F5344CB8AC3E}">
        <p14:creationId xmlns:p14="http://schemas.microsoft.com/office/powerpoint/2010/main" val="1969999227"/>
      </p:ext>
    </p:extLst>
  </p:cSld>
</p:sld>
</file>

<file path=ppt/slides/slide20.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1A77F6-B486-4692-ACDD-E05BB0A7CEB8}"/>
              </a:ext>
            </a:extLst>
          </p:cNvPr>
          <p:cNvSpPr>
            <a:spLocks xmlns:a="http://schemas.openxmlformats.org/drawingml/2006/main" noGrp="1"/>
          </p:cNvSpPr>
          <p:nvPr/>
        </p:nvSpPr>
        <p:spPr>
          <a:xfrm xmlns:a="http://schemas.openxmlformats.org/drawingml/2006/main">
            <a:off x="400050" y="32385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282D"/>
                </a:solidFill>
                <a:latin typeface="Apple SD Gothic Neo"/>
                <a:ea typeface="Apple SD Gothic Neo"/>
                <a:cs typeface="Apple SD Gothic Neo"/>
              </a:defRPr>
            </a:pPr>
            <a:r>
              <a:rPr sz="2550" b="1">
                <a:solidFill>
                  <a:srgbClr val="26282D"/>
                </a:solidFill>
                <a:latin typeface="Apple SD Gothic Neo"/>
                <a:ea typeface="Apple SD Gothic Neo"/>
                <a:cs typeface="Apple SD Gothic Neo"/>
              </a:rPr>
              <a:t>분석 기준·참고자료·체험 안내</a:t>
            </a:r>
          </a:p>
        </p:txBody>
      </p:sp>
      <p:sp>
        <p:nvSpPr>
          <p:cNvPr id="2" name="">
            <a:extLst xmlns:a="http://schemas.openxmlformats.org/drawingml/2006/main">
              <a:ext uri="{FF2B5EF4-FFF2-40B4-BE49-F238E27FC236}">
                <a16:creationId xmlns:a16="http://schemas.microsoft.com/office/drawing/2014/main" id="{9C4CE976-2B0D-4E83-94AF-58579DB1ECAF}"/>
              </a:ext>
            </a:extLst>
          </p:cNvPr>
          <p:cNvSpPr>
            <a:spLocks xmlns:a="http://schemas.openxmlformats.org/drawingml/2006/main" noGrp="1"/>
          </p:cNvSpPr>
          <p:nvPr/>
        </p:nvSpPr>
        <p:spPr>
          <a:xfrm xmlns:a="http://schemas.openxmlformats.org/drawingml/2006/main">
            <a:off x="419100" y="838200"/>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F7B73"/>
                </a:solidFill>
                <a:latin typeface="Apple SD Gothic Neo"/>
                <a:ea typeface="Apple SD Gothic Neo"/>
                <a:cs typeface="Apple SD Gothic Neo"/>
              </a:defRPr>
            </a:pPr>
            <a:r>
              <a:rPr sz="1350" b="0">
                <a:solidFill>
                  <a:srgbClr val="6F7B73"/>
                </a:solidFill>
                <a:latin typeface="Apple SD Gothic Neo"/>
                <a:ea typeface="Apple SD Gothic Neo"/>
                <a:cs typeface="Apple SD Gothic Neo"/>
              </a:rPr>
              <a:t>부록 · 같은 조건으로 수치를 읽고, 동봉한 앱으로 사용 흐름을 이어볼 수 있습니다.</a:t>
            </a:r>
          </a:p>
        </p:txBody>
      </p:sp>
      <p:sp>
        <p:nvSpPr>
          <p:cNvPr id="3" name="">
            <a:extLst xmlns:a="http://schemas.openxmlformats.org/drawingml/2006/main">
              <a:ext uri="{FF2B5EF4-FFF2-40B4-BE49-F238E27FC236}">
                <a16:creationId xmlns:a16="http://schemas.microsoft.com/office/drawing/2014/main" id="{1DD7F0CF-C9B3-47A1-AEA8-A542FDACB276}"/>
              </a:ext>
            </a:extLst>
          </p:cNvPr>
          <p:cNvSpPr>
            <a:spLocks xmlns:a="http://schemas.openxmlformats.org/drawingml/2006/main" noGrp="1"/>
          </p:cNvSpPr>
          <p:nvPr/>
        </p:nvSpPr>
        <p:spPr>
          <a:xfrm xmlns:a="http://schemas.openxmlformats.org/drawingml/2006/main">
            <a:off x="400050" y="6486525"/>
            <a:ext cx="11391900" cy="9525"/>
          </a:xfrm>
          <a:prstGeom xmlns:a="http://schemas.openxmlformats.org/drawingml/2006/main" prst="rect">
            <a:avLst/>
          </a:prstGeom>
          <a:solidFill xmlns:a="http://schemas.openxmlformats.org/drawingml/2006/main">
            <a:srgbClr val="DDE2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7529ED-4C32-40FD-8C78-7AF4C8C5FE21}"/>
              </a:ext>
            </a:extLst>
          </p:cNvPr>
          <p:cNvSpPr>
            <a:spLocks xmlns:a="http://schemas.openxmlformats.org/drawingml/2006/main" noGrp="1"/>
          </p:cNvSpPr>
          <p:nvPr/>
        </p:nvSpPr>
        <p:spPr>
          <a:xfrm xmlns:a="http://schemas.openxmlformats.org/drawingml/2006/main">
            <a:off x="409575" y="658177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 b="0">
                <a:solidFill>
                  <a:srgbClr val="6F7B73"/>
                </a:solidFill>
                <a:latin typeface="Apple SD Gothic Neo"/>
                <a:ea typeface="Apple SD Gothic Neo"/>
                <a:cs typeface="Apple SD Gothic Neo"/>
              </a:defRPr>
            </a:pPr>
            <a:r>
              <a:rPr sz="750" b="0">
                <a:solidFill>
                  <a:srgbClr val="6F7B73"/>
                </a:solidFill>
                <a:latin typeface="Apple SD Gothic Neo"/>
                <a:ea typeface="Apple SD Gothic Neo"/>
                <a:cs typeface="Apple SD Gothic Neo"/>
              </a:rPr>
              <a:t>BC 원자료 재계산 · 집계 범위와 산식은 본문 및 부록 참조</a:t>
            </a:r>
          </a:p>
        </p:txBody>
      </p:sp>
      <p:sp>
        <p:nvSpPr>
          <p:cNvPr id="5" name="">
            <a:extLst xmlns:a="http://schemas.openxmlformats.org/drawingml/2006/main">
              <a:ext uri="{FF2B5EF4-FFF2-40B4-BE49-F238E27FC236}">
                <a16:creationId xmlns:a16="http://schemas.microsoft.com/office/drawing/2014/main" id="{B953C85D-6220-4909-89AB-E12BB42730DC}"/>
              </a:ext>
            </a:extLst>
          </p:cNvPr>
          <p:cNvSpPr>
            <a:spLocks xmlns:a="http://schemas.openxmlformats.org/drawingml/2006/main" noGrp="1"/>
          </p:cNvSpPr>
          <p:nvPr/>
        </p:nvSpPr>
        <p:spPr>
          <a:xfrm xmlns:a="http://schemas.openxmlformats.org/drawingml/2006/main">
            <a:off x="11325225" y="6553200"/>
            <a:ext cx="447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b="0">
                <a:solidFill>
                  <a:srgbClr val="6F7B73"/>
                </a:solidFill>
                <a:latin typeface="Apple SD Gothic Neo"/>
                <a:ea typeface="Apple SD Gothic Neo"/>
                <a:cs typeface="Apple SD Gothic Neo"/>
              </a:defRPr>
            </a:pPr>
            <a:r>
              <a:rPr sz="975" b="0">
                <a:solidFill>
                  <a:srgbClr val="6F7B73"/>
                </a:solidFill>
                <a:latin typeface="Apple SD Gothic Neo"/>
                <a:ea typeface="Apple SD Gothic Neo"/>
                <a:cs typeface="Apple SD Gothic Neo"/>
              </a:rPr>
              <a:t>20</a:t>
            </a:r>
          </a:p>
        </p:txBody>
      </p:sp>
      <p:graphicFrame>
        <p:nvGraphicFramePr>
          <p:cNvPr id="18" name=""/>
          <p:cNvGraphicFramePr/>
          <p:nvPr/>
        </p:nvGraphicFramePr>
        <p:xfrm>
          <a:off xmlns:a="http://schemas.openxmlformats.org/drawingml/2006/main" x="428625" y="1352550"/>
          <a:ext xmlns:a="http://schemas.openxmlformats.org/drawingml/2006/main" cx="11315700" cy="2505075"/>
        </p:xfrm>
        <a:graphic xmlns:a="http://schemas.openxmlformats.org/drawingml/2006/main">
          <a:graphicData uri="http://schemas.openxmlformats.org/drawingml/2006/table">
            <a:tbl>
              <a:tblPr/>
              <a:tblGrid>
                <a:gridCol w="2762250"/>
                <a:gridCol w="8553450"/>
              </a:tblGrid>
              <a:tr h="417513">
                <a:tc>
                  <a:txBody>
                    <a:bodyPr lIns="104775" tIns="66675" rIns="95250" bIns="66675"/>
                    <a:lstStyle/>
                    <a:p>
                      <a:r>
                        <a:rPr sz="1425" b="1">
                          <a:solidFill>
                            <a:srgbClr val="FFFFFF"/>
                          </a:solidFill>
                          <a:latin typeface="Apple SD Gothic Neo"/>
                          <a:ea typeface="Apple SD Gothic Neo"/>
                          <a:cs typeface="Apple SD Gothic Neo"/>
                        </a:rPr>
                        <a:t>항목</a:t>
                      </a:r>
                    </a:p>
                  </a:txBody>
                  <a:tcPr marL="91440" marR="91440" marT="45720" marB="45720" anchor="ctr">
                    <a:solidFill>
                      <a:srgbClr val="26282D"/>
                    </a:solidFill>
                  </a:tcPr>
                </a:tc>
                <a:tc>
                  <a:txBody>
                    <a:bodyPr lIns="104775" tIns="66675" rIns="95250" bIns="66675"/>
                    <a:lstStyle/>
                    <a:p>
                      <a:r>
                        <a:rPr sz="1425" b="1">
                          <a:solidFill>
                            <a:srgbClr val="FFFFFF"/>
                          </a:solidFill>
                          <a:latin typeface="Apple SD Gothic Neo"/>
                          <a:ea typeface="Apple SD Gothic Neo"/>
                          <a:cs typeface="Apple SD Gothic Neo"/>
                        </a:rPr>
                        <a:t>필터·산식·범위</a:t>
                      </a:r>
                    </a:p>
                  </a:txBody>
                  <a:tcPr marL="91440" marR="91440" marT="45720" marB="45720" anchor="ctr">
                    <a:solidFill>
                      <a:srgbClr val="26282D"/>
                    </a:solidFill>
                  </a:tcPr>
                </a:tc>
              </a:tr>
              <a:tr h="417513">
                <a:tc>
                  <a:txBody>
                    <a:bodyPr lIns="104775" tIns="66675" rIns="95250" bIns="66675"/>
                    <a:lstStyle/>
                    <a:p>
                      <a:r>
                        <a:rPr sz="1425" b="0">
                          <a:solidFill>
                            <a:srgbClr val="26282D"/>
                          </a:solidFill>
                          <a:latin typeface="Apple SD Gothic Neo"/>
                          <a:ea typeface="Apple SD Gothic Neo"/>
                          <a:cs typeface="Apple SD Gothic Neo"/>
                        </a:rPr>
                        <a:t>주 분석 표본</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GENDER_CD ∈ {1,2}, 3(외국인)·x(미상) 제외</a:t>
                      </a:r>
                    </a:p>
                  </a:txBody>
                  <a:tcPr marL="91440" marR="91440" marT="45720" marB="45720" anchor="ctr">
                    <a:solidFill>
                      <a:srgbClr val="FFFFFF"/>
                    </a:solidFill>
                  </a:tcPr>
                </a:tc>
              </a:tr>
              <a:tr h="417513">
                <a:tc>
                  <a:txBody>
                    <a:bodyPr lIns="104775" tIns="66675" rIns="95250" bIns="66675"/>
                    <a:lstStyle/>
                    <a:p>
                      <a:r>
                        <a:rPr sz="1425" b="0">
                          <a:solidFill>
                            <a:srgbClr val="26282D"/>
                          </a:solidFill>
                          <a:latin typeface="Apple SD Gothic Neo"/>
                          <a:ea typeface="Apple SD Gothic Neo"/>
                          <a:cs typeface="Apple SD Gothic Neo"/>
                        </a:rPr>
                        <a:t>20대 여성 일반한식</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GENDER_CD=2, AGE_CD=2, TP_BUZ_NO=8001</a:t>
                      </a:r>
                    </a:p>
                  </a:txBody>
                  <a:tcPr marL="91440" marR="91440" marT="45720" marB="45720" anchor="ctr">
                    <a:solidFill>
                      <a:srgbClr val="EEF1EA"/>
                    </a:solidFill>
                  </a:tcPr>
                </a:tc>
              </a:tr>
              <a:tr h="417513">
                <a:tc>
                  <a:txBody>
                    <a:bodyPr lIns="104775" tIns="66675" rIns="95250" bIns="66675"/>
                    <a:lstStyle/>
                    <a:p>
                      <a:r>
                        <a:rPr sz="1425" b="0">
                          <a:solidFill>
                            <a:srgbClr val="26282D"/>
                          </a:solidFill>
                          <a:latin typeface="Apple SD Gothic Neo"/>
                          <a:ea typeface="Apple SD Gothic Neo"/>
                          <a:cs typeface="Apple SD Gothic Neo"/>
                        </a:rPr>
                        <a:t>지역 금액점유율</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동일 기간·고객군·업종의 지역 amt 합 ÷ 강원 amt 합</a:t>
                      </a:r>
                    </a:p>
                  </a:txBody>
                  <a:tcPr marL="91440" marR="91440" marT="45720" marB="45720" anchor="ctr">
                    <a:solidFill>
                      <a:srgbClr val="FFFFFF"/>
                    </a:solidFill>
                  </a:tcPr>
                </a:tc>
              </a:tr>
              <a:tr h="417513">
                <a:tc>
                  <a:txBody>
                    <a:bodyPr lIns="104775" tIns="66675" rIns="95250" bIns="66675"/>
                    <a:lstStyle/>
                    <a:p>
                      <a:r>
                        <a:rPr sz="1425" b="0">
                          <a:solidFill>
                            <a:srgbClr val="26282D"/>
                          </a:solidFill>
                          <a:latin typeface="Apple SD Gothic Neo"/>
                          <a:ea typeface="Apple SD Gothic Neo"/>
                          <a:cs typeface="Apple SD Gothic Neo"/>
                        </a:rPr>
                        <a:t>월 / 일평균 증가율</a:t>
                      </a:r>
                    </a:p>
                  </a:txBody>
                  <a:tcPr marL="91440" marR="91440" marT="45720" marB="45720" anchor="ctr">
                    <a:solidFill>
                      <a:srgbClr val="EEF1EA"/>
                    </a:solidFill>
                  </a:tcPr>
                </a:tc>
                <a:tc>
                  <a:txBody>
                    <a:bodyPr lIns="104775" tIns="66675" rIns="95250" bIns="66675"/>
                    <a:lstStyle/>
                    <a:p>
                      <a:r>
                        <a:rPr sz="1425" b="0">
                          <a:solidFill>
                            <a:srgbClr val="26282D"/>
                          </a:solidFill>
                          <a:latin typeface="Apple SD Gothic Neo"/>
                          <a:ea typeface="Apple SD Gothic Neo"/>
                          <a:cs typeface="Apple SD Gothic Neo"/>
                        </a:rPr>
                        <a:t>(5월/4월−1)×100 / ((5월/31)/(4월/30)−1)×100</a:t>
                      </a:r>
                    </a:p>
                  </a:txBody>
                  <a:tcPr marL="91440" marR="91440" marT="45720" marB="45720" anchor="ctr">
                    <a:solidFill>
                      <a:srgbClr val="EEF1EA"/>
                    </a:solidFill>
                  </a:tcPr>
                </a:tc>
              </a:tr>
              <a:tr h="417513">
                <a:tc>
                  <a:txBody>
                    <a:bodyPr lIns="104775" tIns="66675" rIns="95250" bIns="66675"/>
                    <a:lstStyle/>
                    <a:p>
                      <a:r>
                        <a:rPr sz="1425" b="0">
                          <a:solidFill>
                            <a:srgbClr val="26282D"/>
                          </a:solidFill>
                          <a:latin typeface="Apple SD Gothic Neo"/>
                          <a:ea typeface="Apple SD Gothic Neo"/>
                          <a:cs typeface="Apple SD Gothic Neo"/>
                        </a:rPr>
                        <a:t>분기와 자료 점검</a:t>
                      </a:r>
                    </a:p>
                  </a:txBody>
                  <a:tcPr marL="91440" marR="91440" marT="45720" marB="45720" anchor="ctr">
                    <a:solidFill>
                      <a:srgbClr val="FFFFFF"/>
                    </a:solidFill>
                  </a:tcPr>
                </a:tc>
                <a:tc>
                  <a:txBody>
                    <a:bodyPr lIns="104775" tIns="66675" rIns="95250" bIns="66675"/>
                    <a:lstStyle/>
                    <a:p>
                      <a:r>
                        <a:rPr sz="1425" b="0">
                          <a:solidFill>
                            <a:srgbClr val="26282D"/>
                          </a:solidFill>
                          <a:latin typeface="Apple SD Gothic Neo"/>
                          <a:ea typeface="Apple SD Gothic Neo"/>
                          <a:cs typeface="Apple SD Gothic Neo"/>
                        </a:rPr>
                        <a:t>Q1=1–3월, Q2=4–6월 / 차원 중복·amt/cnt 0이하 0행</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BC53447-891F-4BB2-97BD-71ADD5047141}"/>
              </a:ext>
            </a:extLst>
          </p:cNvPr>
          <p:cNvSpPr>
            <a:spLocks xmlns:a="http://schemas.openxmlformats.org/drawingml/2006/main" noGrp="1"/>
          </p:cNvSpPr>
          <p:nvPr/>
        </p:nvSpPr>
        <p:spPr>
          <a:xfrm xmlns:a="http://schemas.openxmlformats.org/drawingml/2006/main">
            <a:off x="466725" y="3981450"/>
            <a:ext cx="1123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미상 x는 13,161행입니다. 255개 시도–시군구 조합은 파일의 관측 수이며 행정구역 총수나 실제 점포 수가 아닙니다.</a:t>
            </a:r>
          </a:p>
        </p:txBody>
      </p:sp>
      <p:sp>
        <p:nvSpPr>
          <p:cNvPr id="8" name="">
            <a:extLst xmlns:a="http://schemas.openxmlformats.org/drawingml/2006/main">
              <a:ext uri="{FF2B5EF4-FFF2-40B4-BE49-F238E27FC236}">
                <a16:creationId xmlns:a16="http://schemas.microsoft.com/office/drawing/2014/main" id="{C70EBABB-403F-4351-9DCF-D6C061F58E73}"/>
              </a:ext>
            </a:extLst>
          </p:cNvPr>
          <p:cNvSpPr>
            <a:spLocks xmlns:a="http://schemas.openxmlformats.org/drawingml/2006/main" noGrp="1"/>
          </p:cNvSpPr>
          <p:nvPr/>
        </p:nvSpPr>
        <p:spPr>
          <a:xfrm xmlns:a="http://schemas.openxmlformats.org/drawingml/2006/main">
            <a:off x="457200" y="4400550"/>
            <a:ext cx="683895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분석·연구 출처</a:t>
            </a:r>
          </a:p>
        </p:txBody>
      </p:sp>
      <p:sp>
        <p:nvSpPr>
          <p:cNvPr id="9" name="">
            <a:extLst xmlns:a="http://schemas.openxmlformats.org/drawingml/2006/main">
              <a:ext uri="{FF2B5EF4-FFF2-40B4-BE49-F238E27FC236}">
                <a16:creationId xmlns:a16="http://schemas.microsoft.com/office/drawing/2014/main" id="{355798BE-3FDF-489C-8AAF-087038FD51A3}"/>
              </a:ext>
            </a:extLst>
          </p:cNvPr>
          <p:cNvSpPr>
            <a:spLocks xmlns:a="http://schemas.openxmlformats.org/drawingml/2006/main" noGrp="1"/>
          </p:cNvSpPr>
          <p:nvPr/>
        </p:nvSpPr>
        <p:spPr>
          <a:xfrm xmlns:a="http://schemas.openxmlformats.org/drawingml/2006/main">
            <a:off x="476250" y="4791075"/>
            <a:ext cx="69723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① BC 공모전 안내·데이터 레이아웃 및 제공 CSV</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    abp.bccard.com/dataContest/dataContestDetailPage?contestNo=9000001</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② Chen·Weng·Moro (2026), arXiv:2607.06260v1</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    미국 도시 LLM 추천 연구, 동료심사 전 프리프린트</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③ BC카드 라이너 전략적 협약 보도자료 (2025.07.22)</a:t>
            </a:r>
          </a:p>
          <a:p xmlns:a="http://schemas.openxmlformats.org/drawingml/2006/main">
            <a:pPr algn="l">
              <a:defRPr sz="1275" b="0">
                <a:solidFill>
                  <a:srgbClr val="6F7B73"/>
                </a:solidFill>
                <a:latin typeface="Apple SD Gothic Neo"/>
                <a:ea typeface="Apple SD Gothic Neo"/>
                <a:cs typeface="Apple SD Gothic Neo"/>
              </a:defRPr>
            </a:pPr>
            <a:r>
              <a:rPr sz="1275" b="0">
                <a:solidFill>
                  <a:srgbClr val="6F7B73"/>
                </a:solidFill>
                <a:latin typeface="Apple SD Gothic Neo"/>
                <a:ea typeface="Apple SD Gothic Neo"/>
                <a:cs typeface="Apple SD Gothic Neo"/>
              </a:rPr>
              <a:t>    newswire.co.kr/newsRead.php?no=1015337</a:t>
            </a:r>
          </a:p>
        </p:txBody>
      </p:sp>
      <p:sp>
        <p:nvSpPr>
          <p:cNvPr id="10" name="">
            <a:extLst xmlns:a="http://schemas.openxmlformats.org/drawingml/2006/main">
              <a:ext uri="{FF2B5EF4-FFF2-40B4-BE49-F238E27FC236}">
                <a16:creationId xmlns:a16="http://schemas.microsoft.com/office/drawing/2014/main" id="{EA389276-95C0-4B91-B668-0F24221B3823}"/>
              </a:ext>
            </a:extLst>
          </p:cNvPr>
          <p:cNvSpPr>
            <a:spLocks xmlns:a="http://schemas.openxmlformats.org/drawingml/2006/main" noGrp="1"/>
          </p:cNvSpPr>
          <p:nvPr/>
        </p:nvSpPr>
        <p:spPr>
          <a:xfrm xmlns:a="http://schemas.openxmlformats.org/drawingml/2006/main">
            <a:off x="7829550" y="4400550"/>
            <a:ext cx="390525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282D"/>
                </a:solidFill>
                <a:latin typeface="Apple SD Gothic Neo"/>
                <a:ea typeface="Apple SD Gothic Neo"/>
                <a:cs typeface="Apple SD Gothic Neo"/>
              </a:defRPr>
            </a:pPr>
            <a:r>
              <a:rPr sz="1800" b="1">
                <a:solidFill>
                  <a:srgbClr val="26282D"/>
                </a:solidFill>
                <a:latin typeface="Apple SD Gothic Neo"/>
                <a:ea typeface="Apple SD Gothic Neo"/>
                <a:cs typeface="Apple SD Gothic Neo"/>
              </a:rPr>
              <a:t>동봉 앱으로 이어보기</a:t>
            </a:r>
          </a:p>
        </p:txBody>
      </p:sp>
      <p:sp>
        <p:nvSpPr>
          <p:cNvPr id="11" name="">
            <a:extLst xmlns:a="http://schemas.openxmlformats.org/drawingml/2006/main">
              <a:ext uri="{FF2B5EF4-FFF2-40B4-BE49-F238E27FC236}">
                <a16:creationId xmlns:a16="http://schemas.microsoft.com/office/drawing/2014/main" id="{BFABDDF8-939D-4D2F-8B8C-3E8E9BEFD2C3}"/>
              </a:ext>
            </a:extLst>
          </p:cNvPr>
          <p:cNvSpPr>
            <a:spLocks xmlns:a="http://schemas.openxmlformats.org/drawingml/2006/main" noGrp="1"/>
          </p:cNvSpPr>
          <p:nvPr/>
        </p:nvSpPr>
        <p:spPr>
          <a:xfrm xmlns:a="http://schemas.openxmlformats.org/drawingml/2006/main">
            <a:off x="7839075" y="4810125"/>
            <a:ext cx="38766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6282D"/>
                </a:solidFill>
                <a:latin typeface="Apple SD Gothic Neo"/>
                <a:ea typeface="Apple SD Gothic Neo"/>
                <a:cs typeface="Apple SD Gothic Neo"/>
              </a:defRPr>
            </a:pPr>
            <a:r>
              <a:rPr sz="1575" b="0">
                <a:solidFill>
                  <a:srgbClr val="26282D"/>
                </a:solidFill>
                <a:latin typeface="Apple SD Gothic Neo"/>
                <a:ea typeface="Apple SD Gothic Neo"/>
                <a:cs typeface="Apple SD Gothic Neo"/>
              </a:rPr>
              <a:t>히든픽 폴더에서 Windows는 .bat,</a:t>
            </a:r>
          </a:p>
          <a:p xmlns:a="http://schemas.openxmlformats.org/drawingml/2006/main">
            <a:pPr algn="l">
              <a:defRPr sz="1575" b="0">
                <a:solidFill>
                  <a:srgbClr val="26282D"/>
                </a:solidFill>
                <a:latin typeface="Apple SD Gothic Neo"/>
                <a:ea typeface="Apple SD Gothic Neo"/>
                <a:cs typeface="Apple SD Gothic Neo"/>
              </a:defRPr>
            </a:pPr>
            <a:r>
              <a:rPr sz="1575" b="0">
                <a:solidFill>
                  <a:srgbClr val="26282D"/>
                </a:solidFill>
                <a:latin typeface="Apple SD Gothic Neo"/>
                <a:ea typeface="Apple SD Gothic Neo"/>
                <a:cs typeface="Apple SD Gothic Neo"/>
              </a:rPr>
              <a:t>Mac은 .command를 엽니다. 또는</a:t>
            </a:r>
          </a:p>
          <a:p xmlns:a="http://schemas.openxmlformats.org/drawingml/2006/main">
            <a:pPr algn="l">
              <a:defRPr sz="1575" b="0">
                <a:solidFill>
                  <a:srgbClr val="26282D"/>
                </a:solidFill>
                <a:latin typeface="Apple SD Gothic Neo"/>
                <a:ea typeface="Apple SD Gothic Neo"/>
                <a:cs typeface="Apple SD Gothic Neo"/>
              </a:defRPr>
            </a:pPr>
            <a:r>
              <a:rPr sz="1575" b="0">
                <a:solidFill>
                  <a:srgbClr val="26282D"/>
                </a:solidFill>
                <a:latin typeface="Apple SD Gothic Neo"/>
                <a:ea typeface="Apple SD Gothic Neo"/>
                <a:cs typeface="Apple SD Gothic Neo"/>
              </a:rPr>
              <a:t>히든픽_체험앱.html을 브라우저로 열고</a:t>
            </a:r>
          </a:p>
          <a:p xmlns:a="http://schemas.openxmlformats.org/drawingml/2006/main">
            <a:pPr algn="l">
              <a:defRPr sz="1575" b="0">
                <a:solidFill>
                  <a:srgbClr val="26282D"/>
                </a:solidFill>
                <a:latin typeface="Apple SD Gothic Neo"/>
                <a:ea typeface="Apple SD Gothic Neo"/>
                <a:cs typeface="Apple SD Gothic Neo"/>
              </a:defRPr>
            </a:pPr>
            <a:r>
              <a:rPr sz="1575" b="0">
                <a:solidFill>
                  <a:srgbClr val="26282D"/>
                </a:solidFill>
                <a:latin typeface="Apple SD Gothic Neo"/>
                <a:ea typeface="Apple SD Gothic Neo"/>
                <a:cs typeface="Apple SD Gothic Neo"/>
              </a:rPr>
              <a:t>“3분, 이야기 따라가기”를 선택합니다.</a:t>
            </a:r>
          </a:p>
        </p:txBody>
      </p:sp>
      <p:sp>
        <p:nvSpPr>
          <p:cNvPr id="12" name="">
            <a:extLst xmlns:a="http://schemas.openxmlformats.org/drawingml/2006/main">
              <a:ext uri="{FF2B5EF4-FFF2-40B4-BE49-F238E27FC236}">
                <a16:creationId xmlns:a16="http://schemas.microsoft.com/office/drawing/2014/main" id="{BF050F0B-CF2F-4503-AFA9-52F433B27B9E}"/>
              </a:ext>
            </a:extLst>
          </p:cNvPr>
          <p:cNvSpPr>
            <a:spLocks xmlns:a="http://schemas.openxmlformats.org/drawingml/2006/main" noGrp="1"/>
          </p:cNvSpPr>
          <p:nvPr/>
        </p:nvSpPr>
        <p:spPr>
          <a:xfrm xmlns:a="http://schemas.openxmlformats.org/drawingml/2006/main">
            <a:off x="7848600" y="6124575"/>
            <a:ext cx="3867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F7B73"/>
                </a:solidFill>
                <a:latin typeface="Apple SD Gothic Neo"/>
                <a:ea typeface="Apple SD Gothic Neo"/>
                <a:cs typeface="Apple SD Gothic Neo"/>
              </a:defRPr>
            </a:pPr>
            <a:r>
              <a:rPr sz="1125" b="0">
                <a:solidFill>
                  <a:srgbClr val="6F7B73"/>
                </a:solidFill>
                <a:latin typeface="Apple SD Gothic Neo"/>
                <a:ea typeface="Apple SD Gothic Neo"/>
                <a:cs typeface="Apple SD Gothic Neo"/>
              </a:rPr>
              <a:t>수상작의 문제·근거·사용 상황·효과 구성 참고</a:t>
            </a:r>
          </a:p>
        </p:txBody>
      </p:sp>
    </p:spTree>
    <p:extLst>
      <p:ext uri="{BB962C8B-B14F-4D97-AF65-F5344CB8AC3E}">
        <p14:creationId xmlns:p14="http://schemas.microsoft.com/office/powerpoint/2010/main" val="825173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2026-09-14T16:24:08.9980000Z</dcterms:created>
  <dcterms:modified xsi:type="dcterms:W3CDTF">2026-09-14T16:24:08.9980000Z</dcterms:modified>
</coreProperties>
</file>